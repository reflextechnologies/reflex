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we're walking through what Reflex is, why the opportunity exists, and — honestly — what could kill it before we build it. This is an internal team alignment session, not a pitch deck. We're going to be brutally honest about the risks.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Picture this: you're standing next to an 800-degree catalytic cracker processing millions of dollars of crude oil per hour. Now picture the guy in the office upstairs who decides how to run that reactor — he's typing numbers into Excel. That's the disconnect. And it's not because these teams are unsophisticated. They have brilliant LP models they've spent decades fine-tuning. They just don't have a tool that connects those models to reality in real-time. The enterprise solutions exist, but they cost a million dollars a year. These mid-size plants are completely priced out.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it like having Google Maps on your phone, but you only update your GPS coordinates once a day by manually typing in your latitude and longitude. By the time it tells you to turn, you've already missed the exit. That's literally what's happening. The math solves in seconds — the math isn't the problem. The bottleneck is entirely human: pulling data from five different systems, typing it into a spreadsheet, running it, interpreting it, writing an email. And by the time that email goes out, market conditions have already changed. The crack spread — the margin between crude input costs and refined product prices — moves continuously. But because there's no automated trigger to rerun the math, nobody does.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gap. The top 20 global refiners can easily justify a million-dollar software budget. But there are 60-80 mid-size US plants — plus another 30-40 in Europe and Canada, plus specialty chemical plants and fuel blenders — who are entirely priced out. These aren't unsophisticated operators. They have complex LP models they've spent years perfecting. They just lack a software tool that's priced and scaled for their economic reality. They're forced to rely on Excel because it's literally the only viable container they have. That's a $180M opportunity just sitting there.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key insight: the math exists, the data exists, the models exist. Nobody has wired them together. Reflex is that wire. The historian collects every sensor reading. The Excel LP model already contains years of tuned optimization math. Claude translates the dense output into plain English. And Slack or Teams delivers it to the people who need to act. We're not reinventing the math — we're fixing the human friction and communication bottleneck around it. And critically, this is decision support only. We never touch a valve. We never override an operator. We show the data, show the math, show the dollar impact, and let the human decide.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business case is straightforward. At $75-125K per year, we're a no-brainer decision for a plant manager — especially compared to $300K-800K for enterprise RTO. If we capture even $500K in margin improvement per site — which is conservative given that Emerson estimates $12M/year in losses from outdated technology at a 250K bpd plant — that's a 4-7x ROI for the customer. The realistic exit isn't an IPO. It's a $100-250M acquisition by one of the industrial giants who'd rather buy this proven mid-market channel than try to build a lightweight version of their own heavy software. And the real moat isn't a patent — it's the site-specific data we accumulate. Every constraint logged, every coefficient reconciled, every integration customized makes us stickier.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timing is critical. Three years ago, you couldn't use an LLM to translate LP output into a sentence that says 'increase naphtha yield by 8% on units 3 and 4, estimated margin impact plus $44,000.' That capability simply didn't exist. Meanwhile, historian integration layers like Seeq have matured to the point where connecting to plant data is a known engineering problem, not a research project. And the incumbents are all distracted — Emerson is digesting AspenTech, Honeywell is splitting into three companies, AVEVA is integrating with Schneider. They can't build a lightweight mid-market product for at least 2-4 years. That's our window. Now let's talk about what could kill this.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Okay — now that we've seen the opportunity, let's be completely honest about what could go wrong. We ran a deep adversarial research process across technical, business, and adoption risks. We found 33 individual risks, deduplicated to 20 unique ones, and scored them on severity, likelihood, and timeline impact. Some of these findings fundamentally change how we need to build. I'd rather we hear this now than learn it the hard way at a customer site.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 to be blunt about these. Number one: Microsoft literally says 'do not do this' about server-side Excel automation. We're building our entire product on top of something the vendor explicitly doesn't support. Number two: Slack doesn't reach the people who need to act. Operators work in hazardous zones with DCS consoles, not chat apps. Number three: nobody in this industry will take a meeting with us without a domain expert on the team. Number four: we overstated the market by 15-40%. Number five: OSHA PSM law applies to us whether we like it or not. These are all solvable — but we need to solve them before we build, not after.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dig into the technical risks. The Excel COM problem is existential — we literally cannot build this product if we can't reliably automate Excel in an unattended environment, and Microsoft explicitly says we shouldn't. The LP solver landscape is equally critical — if most target customers use PIMS instead of Excel Solver, our whole architecture is wrong. We need to survey 10-15 refineries immediately to find out. The LLM hallucination risk is real but solvable — we just need to never let Claude touch raw numbers. Extract them programmatically, use the LLM only for natural language. And the shutdown flood problem requires an operating mode detection system from day one.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full technical risk table, severity-ranked. Five critical risks, five high risks. The architectural takeaway is that we need to build three things the transcript never mentions: a Reflex Edge Agent for Purdue-compliant deployment, a Data Quality Gateway between historian data and trigger logic, and an operating mode detection system. We also need to decouple all numbers from the LLM. These aren't optional improvements — they're prerequisites for the product to function in a real refinery.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business risks are sobering. The credibility gap is non-negotiable — we need a domain expert on the team before we talk to a single refinery. The sales cycle is real: 9-18 months minimum, with sign-off needed from operations, engineering, IT, OT security, safety, procurement, legal, and sometimes C-suite. And the market is smaller than we thought. EIA data shows 60 mid-size US refineries, not 80-120. Many already use commercial tools. Our realistic beachhead is 12-24 sites. That means every lost deal permanently shrinks our market by 4-8%. We need to be flawless.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full business risk table. Two critical, four high, and the rest medium or lower. The good news: most of these are addressable. The credibility gap requires a hire. The TAM requires resetting expectations. The sales cycle requires a design partner strategy and EPC partnerships. The energy transition means we need to plan for a 5-7 year window and target Gulf Coast refineries that will run through 2035+. And interestingly, we might be underpricing — comparable industrial software costs $200-500K/year, and if we deliver $500K+ in margin improvement, $125K captures only 25% of value.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adoption risks hit hardest because they challenge core product assumptions. We assumed operators would see Slack messages — they won't. They work on DCS consoles in hazardous zones. We assumed operators would type feedback — they can't. Chemical-resistant gloves make phone keyboards unusable. We assumed 'no training required' — it violates OSHA PSM law. And we assumed we could track operator overrides with dollar costs — the USW union is actively bargaining against exactly that. Each of these has a solution, but the solutions require redesigning how we think about the user. The primary user isn't the field operator — it's the shift supervisor and process engineer who works at a desk with IT network access.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critical adoption risks, four high, two medium. The shift handover one deserves emphasis — Piper Alpha in 1988, 167 people died because a single constraint wasn't communicated at shift change. Our constraint registry maps to an existing concept called 'Standing Orders' in tools like Hexagon j5, but it only works if it's actively surfaced during handover and requires acknowledgment. The dashboard blame culture risk is counterintuitive — research shows that loss-framing feedback actually makes performance worse a third of the time. We need to track overrides by equipment, not by person, and frame everything as 'value captured' not 'value lost.'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unified risk matrix — all risks scored and ranked. The top 4 are CONDITIONAL go/no-go, meaning we have specific validation steps that must pass before we commit to building. If we can't automate Excel reliably for 72+ hours on a real LP model, if most target customers use PIMS instead of Excel Solver, if we can't recruit a domain expert, or if we can't redesign the delivery channel — those are each individually project-killing. Risks 5-10 are GO with specific architectural requirements built in from day one. The key chain is R3 determines R1 determines R9 determines R14 — the LP solver question must be answered first because every downstream technical decision depends on it.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good news. Five changes that cost almost nothing but substantially reduce our risk profile. 'Bring your own data' is free and eliminates market data licensing entirely. Decoupling numbers from the LLM is a week of work and eliminates the safety-critical hallucination risk. Structured constraint input is two weeks and eliminates both the PPE problem and the NLP accuracy problem. Operating mode detection is one to two weeks and prevents the alert fatigue scenario that would permanently destroy operator trust. And shadow mode is a deployment strategy that costs nothing but matches the proven adoption pattern from Imubit and other industrial AI tools. These five things together cost about a month of engineering time and eliminate or reduce six of our top ten risks.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section walks through the major shifts between our original product concept and the engineering spec we built after two rounds of deep research. The theme here is simple: research made our plan better. Every change below was driven by a specific finding, not guesswork. We went in with a strong vision and came out with a stronger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was the single most important shift. Three independent research threads converged on the same conclusion: control rooms run DCS consoles, not chat apps. Process areas are ATEX hazardous zones where standard phones can't even be carried. Chemical-resistant gloves make phone keyboards physically unusable. Voice-to-text degrades to about 65% accuracy at industrial noise levels. WiFi is spotty across 3-4 square mile sites. We found zero published case studies showing Slack or Teams used by frontline refinery operators on shift. If the user can't receive or respond to recommendations, the feedback loop — our core differentiator — doesn't exist. Redefining the user was a prerequisite for a viable product.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original plan had operators typing constraints in natural language, with an NLP model extracting the structured data. Research showed this achieves only 46-85% accuracy — and critically, the operator never specified quantitative information. 'Heat exchanger is fouling' doesn't tell you whether that means 5% or 35% capacity reduction. The 5-tap wizard solves both problems: it's 100% accurate because the data is structured from the start, it works with PPE gloves because you're tapping large buttons not typing, and it forces quantitative severity selection. Free-text is retained as an optional note field, but NLP-extracted constraints are never auto-applied — they always require confirmation through structured options.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safety-critical change. Research shows LLMs repeat or fabricate numerical errors in up to 83% of cases when errors are present in source material. In a refinery, misreading '2.3 MBPD' as '23 MBPD' or inverting increase versus decrease is genuinely dangerous. A single hallucinated number resets months of trust-building with operators. Our new approach: deterministic code extracts all numbers from LP output into a structured JSON. Claude receives those pre-validated numbers with strict instructions to use only what's provided. Every number in Claude's output is cross-validated against the source. If anything mismatches, we fall back to a deterministic template that produces the same actionable information without any LLM involvement. This cost about one week of extra engineering to design but eliminates the highest-impact failure mode entirely.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original $2 per barrel threshold sounds reasonable, but it represents 8-20% of a normal spread and only about 5% of an elevated spread. This causes over-triggering in volatile markets and under-triggering in stable markets. More critically, during plant shutdowns and startups — when 50% of safety incidents occur — nearly all sensors change dramatically. The original design would flood operators with meaningless recommendations at the exact moment they're under maximum cognitive load. Our research found that alert fatigue from false recommendations during the first shutdown event will permanently destroy operator trust. The new design uses percentage-based thresholds that adapt to market conditions, and treats operating mode as a first-class system concept. All optimization triggers are auto-suppressed during non-normal modes.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deserves its own discussion, but the pattern is consistent. Seeq was eliminated because it's an enterprise analytics layer costing $100K+ per year — overkill for data collection when PI Web API is free and designed for DMZ access. The dashboard shifted from loss framing to gain framing because research shows loss framing decreases performance 33% of the time, and the USW union is actively bargaining over AI surveillance. Market data shifted to 'bring your own' because refineries already have OPIS and Platts subscriptions. The 'no training required' claim directly conflicts with OSHA PSM Management of Change regulations — the 2005 Texas City explosion was partly attributed to MOC failures. And the honest market sizing: EIA data shows exactly 60 mid-size US refineries in our target range, not 80-120. Planning for realistic revenue prevents undercapitalization.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we'll walk through the engineering specification that synthesizes all of our research. Every architectural decision you'll see traces back to a specific risk from our risk matrix. This isn't a theoretical design — it's built to address the real obstacles we identified. The spec covers cloud platform, data architecture, service design, AI integration, frontend UX, security, and risk mitigations.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cloud decision came down to one factor: industrial IoT connectivity is Reflex's hardest technical problem, and Azure is materially better at it. Azure IoT Edge has a first-party OPC-UA Publisher module that's open source and Microsoft-maintained. AWS requires custom OPC-UA integration. PI Integrator for Azure is an official AVEVA product that streams PI historian data directly into Azure Event Hubs — no equivalent exists for AWS. Microsoft Defender for IoT provides Purdue Model-aware OT network monitoring. And since refineries are overwhelmingly Microsoft 365 shops, Teams integration is native. But we're not all-in on Azure — we use the direct Anthropic API for Claude to avoid cloud lock-in, GitHub Actions for CI/CD, and TimescaleDB instead of Azure Data Explorer because ADX costs $90+ per month minimum, which is overkill for 100 sensor tags.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full system architecture. Starting on the left: the Edge Agent sits in the customer's DMZ at Purdue Level 3.5. It reads from a read-only PI Data Archive replica via PI Web API, validates data quality, and pushes outbound via HTTPS — no inbound firewall rules ever required. In the cloud, the FastAPI modular monolith receives data, runs trigger evaluations, orchestrates LP solves on a separate Windows VM for Excel COM automation, translates results through Claude API, and delivers via Teams, Slack, or email. The Constraint Registry is the feedback loop — operator responses flow back in and update the LP model bounds. Everything stores in a single PostgreSQL instance with TimescaleDB for time-series data.</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technology choice here was made for a specific reason, not because it's trendy. Python and FastAPI because the team knows Python and we need pywin32 for Excel COM automation. Next.js because SSR matters for potentially slow control-room network connections, and TypeScript's type safety prevents the class of numerical display errors that Risk 5 targets. The big database decision: we chose TimescaleDB on PostgreSQL instead of running separate InfluxDB and PostgreSQL instances. Nearly every intelligence feature — coefficient reconciliation, opportunity cost tracking, constraint pattern analysis — requires joining time-series data with relational data. With TimescaleDB, that's a standard SQL JOIN. With separate databases, it's a cross-database nightmare.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data architecture principle is radical simplicity: PostgreSQL for everything. TimescaleDB is a PostgreSQL extension, not a separate product, so we get time-series capabilities — hypertables, automatic compression, continuous aggregates, retention policies — while keeping full PostgreSQL functionality like JOINs, foreign keys, transactions, and JSONB. This matters because nearly every intelligence feature requires joining time-series data with relational data. Coefficient reconciliation needs actual yields over time joined with LP model predictions. Opportunity cost tracking needs production rates joined with recommendation and override history. With a single database, these are trivial SQL queries. With separate InfluxDB and PostgreSQL, each query requires cross-database data movement. Storage is tiny — about 140 MB per year per site with compression. A $20-50/month managed instance handles everything.</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chose a modular monolith over microservices for a simple reason: a team of 3-5 students cannot manage N services times logging plus monitoring plus deployment plus versioning. A single deployment, single repo, with ACID transactions across modules, in-process function calls, and stack traces for debugging is dramatically simpler to build and operate. The only argument for a separate service is the LP Orchestrator, which inherently runs on a separate Windows machine due to Excel COM requirements. That's handled as a single Celery worker, not a full microservices architecture. The key design choice: module boundaries are enforced through Python interfaces, owned tables, and event-driven communication. This means if we ever need to extract a module — say the LP Orchestrator needs to scale independently at 10+ concurrent solves — we can do it without rewriting the whole system.</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Claude's role is tightly scoped: take pre-validated numerical deltas and write a clear, concise English recommendation that a shift supervisor can act on in 30 seconds. It turns a structured JSON of numbers into a sentence like 'Crack spreads widened $1.80 per barrel. Model recommends increasing naphtha yield by 8% on units 3 and 4. Estimated margin impact: plus $44,000 at current throughput.' The critical safety rail: every number in Claude's output is verified against the source data. Direction words like increase and decrease are verified against the sign of the delta. Any mismatch triggers the template fallback, which produces identical actionable information without prose. Operators can always tell which version they're seeing. The cost is negligible — about $7-18/month per site, which is less than 0.03% of revenue at scale.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frontend follows ISA-101 High Performance HMI and ISA-18.2 alarm management standards. These aren't nice-to-haves — SCADA operators experience cognitive load 340% above baseline during peak operations. One recorded industrial incident had 275 alarms in 11 minutes. Interface simplicity is a safety requirement. The design is built for worst case: 2AM, 12-hour shift, fatigued supervisor, upset conditions. Greyscale backgrounds with color used only for status deviation. The 3-second rule means any dashboard screen conveys its primary status at a glance. Progressive disclosure shows conclusions by default — details on demand, diagnostics behind explicit drill-down. The audience separation is architecturally enforced: the API literally does not return individual operator override costs for the management role. Shadow mode during the first 2-4 weeks shows recommendations alongside existing workflows, using language like 'Note Agreement' instead of 'Acknowledge' — letting operators build calibrated trust before the system asks them to act.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is existential for Reflex. If a refinery CISO doesn't trust our architecture, the deal is dead. Our approach: the Edge Agent sits in the DMZ at Purdue Level 3.5, reads from a read-only replica of the PI Data Archive via PI Web API, and communicates outbound only via HTTPS. No inbound firewall rules are ever required. The edge agent never writes to any OT system — it is strictly read-only. This design is compatible with hardware data diodes, which are physically one-way network devices. On the compliance side, ISA/IEC 62443 is the industrial cybersecurity standard and our Purdue Model architecture aligns directly. OSHA PSM requires Management of Change documentation, which we include as a pre-built package in every sales engagement. SOC 2 Type II certification begins in Phase 2. And we've designed the override tracking system to avoid NLRB exposure by tracking overrides by equipment, never by individual operator.</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shows how our architecture directly addresses the highest-scored risks. Notice the pattern: the top two risks both scored 125 and both required fundamental design changes, not just features. Excel COM automation is unsupported by Microsoft — we built extensive guardrails and a migration path to open-source solvers. The delivery channel risk required redefining our entire user persona. Team credibility isn't a technical problem at all — it's solved by recruiting the right person. LLM hallucination is eliminated by never letting the LLM handle numbers. OT security is addressed by a clean Purdue Model architecture. The union and dashboard blame risk is handled at the database schema level — there is literally no operator_id field in the overrides table. And alert fatigue is prevented by a mode-aware trigger system that auto-suppresses during the most dangerous operational periods.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Infrastructure costs are not a meaningful concern at any realistic scale. In Year 1, nearly everything runs on free tiers. Azure Container Apps has an always-free tier with 2 million requests per month. Functions, Bot Service, Key Vault — all free. PostgreSQL is free for 12 months with student credits. The only real costs are Claude API at $7-18/month and potentially $15/month for the Windows VM if student credits don't cover it. At 10 sites in Year 2, total cloud costs are $2,600 to $7,000 per year — less than 1% of the $750K in annual recurring revenue those sites generate. Cloud infrastructure is definitively not a cost driver for this business.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detail we've covered today is documented and traceable. The engineering spec synthesizes findings from two full research rounds — Run 1 identified 20 risks across technical, business, and adoption domains; Run 2 produced deep-dive architecture recommendations for cloud platform, data, backend, and frontend. Every decision traces to a specific risk. If anyone on the team wants to understand why we chose TimescaleDB over InfluxDB, or why the trigger engine uses percentage thresholds, or why the dashboard tracks overrides by equipment — the answer is in the spec with the specific research finding that drove it. This isn't a theoretical architecture document. It's a build plan.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look at the architecture visually. I'm going to walk through five diagrams that show how Reflex connects existing refinery systems, how data flows end-to-end, how we handle the OT/IT security boundary, and our implementation timeline. The key insight across all of these: Reflex doesn't replace anything — it's the wire connecting systems that already exist but are manually disconnected.</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at the left — you have three data sources that already exist at every refinery: the PI Historian collecting sensor data every 30-60 seconds, market data feeds from EIA or OPIS/Platts with spot prices and crack spreads, and the Excel LP models that contain the site-specific optimization math. Today, a human manually checks each of these and re-enters data between them. Reflex — the green box in the center — automates that manual shuttle. On the right side, you have the delivery channels: Teams for shift supervisors with Adaptive Cards, Slack for LP planners, and email as a universal fallback. Claude API sits alongside as a formatting-only service — it never generates numbers, only translates them into plain English. The three grey actors at the edges are shift supervisors who get recommendations and provide constraints, LP planners who configure triggers and tune models, and plant management who see gain-framed KPI dashboards.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this left to right. Step 1: PI Historian sends sensor readings to our Edge Agent in the refinery DMZ. The Edge Agent does a quick quality pre-check and buffers to SQLite in case cloud connectivity drops. Step 2: validated data pushes outbound-only over HTTPS to Azure IoT Hub, then into our Data Ingestion module which persists to TimescaleDB and fires a SensorDataReceived event. Step 3: the Data Quality Gateway validates — staleness, range, rate-of-change, compression artifacts — and detects the current operating mode. If mode is Normal, it fires ValidatedDataReady. Step 4: the Trigger Engine evaluates about 200 rules. Is this a meaningful process drift or price move? Has it persisted for at least 2 minutes? Has the 60-minute cooldown elapsed? If yes, it fires OptimizationTriggered. Step 5: the LP Orchestrator coalesces triggers within a 30-second window, dispatches a Celery task to the Windows LP Worker which runs Excel Solver via COM automation with a 5-minute timeout and watchdog. Step 6: here's the critical safety point — the AI Translation service programmatically extracts ALL numerical deltas from the LP output, stores them in a structured JSON column, then sends pre-validated numbers to Claude with a strict prompt template. Claude generates plain English text. We cross-validate every number in Claude's output against the source. If anything doesn't match, we fall back to a deterministic template. Finally, the Messaging Service delivers via Teams Adaptive Card — something like 'Naphtha yield +8% on Units 3 and 4 — plus $44K per day.' The supervisor reviews in 30 seconds and taps Acknowledge, Add Constraint, or Dismiss.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Reflex's core differentiator — the feedback loop. Say a recommendation comes in to increase throughput on Unit 2, but the supervisor knows heat exchanger 201 is fouling. They tap 'Add Constraint' on the Adaptive Card. A 5-tap wizard opens right in Teams: Tap 1 — select Unit 2. Tap 2 — select Equipment Limit. Tap 3 — select Heat Exchanger Fouling. Tap 4 — select severity, Cap at 75% capacity. Tap 5 — confirm. Total time: 15-30 seconds, fully glove-compatible with 64-pixel tap targets. This is 100% structured data — no NLP, no typing, no ambiguity. The constraint goes to the Constraint Registry, which stores it by equipment ID with a 72-hour default expiry. The LP Orchestrator immediately re-solves with Unit 2 capped at 75%. A revised recommendation comes back: 'With Unit 2 capped, increase diesel on Unit 6 instead — revised margin plus $11,200 per day.' The critical behavior: the system will NOT re-recommend Unit 2 until the constraint expires or is manually cleared. No nagging.</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that matters most to every refinery IT security team and CISO. Start at the left — the red zone is Purdue Level 0-2, the process control OT network. DCS controllers, PLCs, sensors, and the primary PI Data Archive all live here. Reflex never touches this network. Not at all. Ever. The PI historian replicates — using AVEVA's own managed process — to a read-only replica in the DMZ at Purdue Level 3.5. This is the orange zone in the middle. Our Edge Agent — a lightweight 60MB Python Docker container — reads from this read-only replica via PI Web API over HTTPS with Basic Auth. It buffers to local SQLite for store-and-forward resilience. The critical point: the Edge Agent communicates outbound only over HTTPS to Azure IoT Hub. There are zero inbound firewall rules. This is inherently compatible with hardware data diodes — physically one-way network devices. On the right in the blue-green zone is the Reflex Cloud on Azure. IoT Hub receives the sensor batches, feeds them into the FastAPI monolith, which reads and writes to PostgreSQL plus TimescaleDB. The two red firewall symbols between zones represent the security boundaries — OT to DMZ, and DMZ to IT/Cloud. This architecture means a compromise of the Reflex cloud cannot propagate back into the process control network.</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phases. Phase 0 — Validation — runs April through May 2026. This is a binary go/no-go gate. Three things must happen: survey 10-15 refineries to determine if they actually use Excel Solver or if they use PIMS/GRTMPS, run a 72-hour Excel COM stress test to validate our automation approach, and — this is marked critical — recruit a domain expert with 15-plus years of process industry experience. If any of these fail, the project pauses before we write production code. Phase 1 — MVP — runs June 2026 through January 2027. We build the full pipeline: Edge Agent, cloud backend, data quality, triggers, LP orchestrator, AI translation, messaging, frontend, constraints, auth. Integration testing and shadow mode deploy at our first design partner by month 8. Phase 2 — Beta — January through June 2027. Transition the design partner to active mode, build the analytics dashboard and reconciliation engine, onboard 2-4 additional pilots, publish a case study with quantified ROI, and begin SOC 2 prep. The milestone: measurable margin improvement proven at a real site. Phase 3 — GA — July 2027 through April 2028. Standardized onboarding with MOC packages, multi-site fleet management, LP migration from Excel to PuLP/HiGHS, SOC 2 certification, and scaling to 8-12 paying customers.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made over a dozen significant architecture decisions during the research phase. Many of these contradict our original assumptions — and that's the point. Every divergence is backed by specific research findings. I'm going to walk through the most impactful decisions grouped into three categories: infrastructure, data and integration, and AI and UX. For each one, I'll highlight what we chose, the key reason, and which risk it addresses.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highlight the non-obvious decisions here. First, you might expect us to go cloud-agnostic or even multi-cloud from day one. We didn't — Azure wins on the single most important technical dimension for refineries, which is industrial IoT connectivity. But we hedged: TimescaleDB instead of Cosmos, Claude direct instead of Azure OpenAI, Terraform instead of Bicep. Second, modular monolith over microservices — this is often controversial, but for a student team, the operational overhead of managing multiple services would be a death sentence. We designed clean module boundaries so we can extract services later when we actually need to scale. Third, we chose a simple Python Docker container over Azure IoT Edge for the edge agent. IoT Edge is great at 10+ sites, but it's overkill for a single pilot. And fourth — single PostgreSQL with TimescaleDB instead of a separate InfluxDB. This was actually a conflict between our research agents that we had to resolve. The winning argument: one database is dramatically simpler to operate, and we need SQL JOINs between time-series sensor data and relational constraint data.</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biggest surprise here is usually the LP tool decision. You might think — Excel Solver is universal. It's not. Many mid-size refineries use Aspen PIMS, Haverly GRTMPS, or Honeywell RPMS. Excel is often just the data I/O layer. That's why Phase 0 includes surveying 10-15 refineries — this is a binary market validation question that gates everything else. On the historian connector: our original plan was to go through Seeq, which is an enterprise analytics layer. Research showed it's $100K+ per year and completely overkill for what we need — basic data collection. PI Web API is REST-based and explicitly designed for DMZ access. On feedback — this is where we made the most radical change. The original concept had operators typing free text in Slack. Three problems: NLP accuracy is only 46-85%, operators wear chemical-resistant gloves that make typing impossible, and free text doesn't capture quantitative information. The 5-tap wizard solves all three: 100% accuracy, glove-compatible 64-pixel buttons, and predefined severity levels.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decisions that protect us from destroying operator trust — which, in this market, you only get one chance at. Start with the LLM decision. You might expect Claude to process the LP output end-to-end. We deliberately chose NOT to do that. Research shows LLMs fabricate numerical errors in up to 83% of cases when errors exist in source material. In a refinery, confusing 2.3 MBPD with 23 MBPD is not a rounding error — it's a safety incident. So we programmatically extract every number, store them in structured JSON, send pre-validated numbers to Claude with strict instructions, and cross-validate every number in the output. If anything fails, we fall back to a deterministic template. About one week of extra engineering to eliminate the highest-impact failure mode. On dashboards — this is counterintuitive. You'd think showing operators how much money their overrides cost would motivate better decisions. Research says the opposite: loss framing decreases performance a third of the time. Worse, the United Steelworkers union is actively bargaining over AI in refineries. If operators feel surveilled, they either follow AI blindly — a safety risk — or disengage entirely. So we track by equipment, never by operator, and frame everything as value captured. On triggers — the original plan was a fixed $2 per barrel threshold. That's 8-20% of a normal spread but only 5% of an elevated spread. And during shutdowns — when 50% of safety incidents occur — nearly every sensor changes dramatically. We'd be firing meaningless recommendations when operators are under maximum cognitive load. So: percentage-based thresholds, operating mode gating, and targeting 1-2 recommendations per shift.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section covers our phased approach. The key insight is that we DON'T build everything at once. We validate before we invest, we deploy in shadow mode before we go live, and we prove value at one site before scaling. Every phase has a clear go/no-go gate.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0 costs us nothing but time. These three questions are existential — if any answer comes back wrong, the whole architecture changes. This is the most important phase because it prevents us from building the wrong thing. We should start these surveys and outreach immediately.</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Notice the build order — each step derisks the next. We start with data connectivity because without reliable data, nothing else matters. LP automation comes next because that's our core value proposition. AI translation and messaging are built on top of working LP output. The frontend comes last because we need real data and real recommendations to display. Shadow mode means we're showing recommendations alongside existing workflows — operators compare our suggestions to their own judgment. We're building trust, not forcing adoption.</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2 is where we prove the money. The $500K+ margin improvement per site is the number that sells this product — it's the case study that opens every subsequent door. Phase 3 is about repeatability — can we onboard a new site without our founding engineers hand-holding every step? That's the difference between a services business and a product business. By Phase 3 we're also evaluating infrastructure upgrades: potentially moving from our lightweight Python edge agent to Azure IoT Edge, and from TimescaleDB to Azure Data Explorer if anomaly detection justifies the cost.</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full picture. We are right here at the start — Phase 0 validation. The key thing to notice is the gates between phases. We don't move to Phase 1 until Phase 0 answers come back positive. We don't scale to Phase 2 until our design partner says our recommendations are accurate 80%+ of the time. Each phase earns the right to proceed to the next. Also notice the team size scaling — we start lean and hire as revenue justifies it.</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for the honest part — what we DON'T know yet, and what we need to do about it. These are discussion prompts, not solved problems. Some of these require team debate, some require external input, and some require just rolling up our sleeves and doing the work.</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talk about each of these. The first three are Phase 0 questions — they determine whether we build at all, and what we build. The LP tool question is the scariest because if the answer is PIMS, we're looking at a much harder integration path. The domain expert question is equally critical — we cannot fake industry credibility. DCS integration and voice notes are Phase 1-2 decisions we can defer, but should start thinking about.</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concrete actions we can start on tomorrow. The data simulator is key — we can't wait for a real refinery to start building. We simulate realistic data and build against that, then swap in real data when we have a design partner. The Azure setup with student credits gives us a free playground. And the LinkedIn outreach for a domain expert — start this immediately, because finding the right person takes time.</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Nobody on the team needs to be an expert in all of these on day one. Divide and conquer — assign ownership of each domain to a team member. The most critical skills to develop first are FastAPI backend and the PI Web API / COM automation layer, because those are on the critical path for Phase 1. Frontend and advanced analytics can come later. The Claude API integration is actually the easiest part — Anthropic's documentation is very good, and our usage pattern is straightforward.</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Bookmark this slide — it's your map to everything we've produced. The reading order matters: start with the transcript to understand the vision, then the executive summary for the reality check, then dive into specific research areas as needed. The engineering spec is the master document that ties everything together — but it makes much more sense after you've read the research that informed it. Every design decision in the spec traces back to a specific risk or finding in the research docs.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914400" y="1828800"/>
            <a:ext cx="10362895" cy="1097280"/>
          </a:xfrm>
          <a:prstGeom prst="rect">
            <a:avLst/>
          </a:prstGeom>
          <a:noFill/>
        </p:spPr>
        <p:txBody>
          <a:bodyPr wrap="square" anchor="ctr"/>
          <a:lstStyle/>
          <a:p>
            <a:pPr algn="ctr">
              <a:defRPr sz="3600" b="1" i="0">
                <a:solidFill>
                  <a:srgbClr val="FFFFFF"/>
                </a:solidFill>
              </a:defRPr>
            </a:pPr>
            <a:r>
              <a:t>Reflex — Team Walkthrough</a:t>
            </a:r>
          </a:p>
        </p:txBody>
      </p:sp>
      <p:sp>
        <p:nvSpPr>
          <p:cNvPr id="3" name="TextBox 2"/>
          <p:cNvSpPr txBox="1"/>
          <p:nvPr/>
        </p:nvSpPr>
        <p:spPr>
          <a:xfrm>
            <a:off x="914400" y="2926080"/>
            <a:ext cx="10362895" cy="548640"/>
          </a:xfrm>
          <a:prstGeom prst="rect">
            <a:avLst/>
          </a:prstGeom>
          <a:noFill/>
        </p:spPr>
        <p:txBody>
          <a:bodyPr wrap="square" anchor="t"/>
          <a:lstStyle/>
          <a:p>
            <a:pPr algn="ctr">
              <a:defRPr sz="2000" b="0" i="0">
                <a:solidFill>
                  <a:srgbClr val="B0BEC5"/>
                </a:solidFill>
              </a:defRPr>
            </a:pPr>
            <a:r>
              <a:t>March 2026</a:t>
            </a:r>
          </a:p>
        </p:txBody>
      </p:sp>
      <p:sp>
        <p:nvSpPr>
          <p:cNvPr id="4" name="TextBox 3"/>
          <p:cNvSpPr txBox="1"/>
          <p:nvPr/>
        </p:nvSpPr>
        <p:spPr>
          <a:xfrm>
            <a:off x="1828800" y="3657600"/>
            <a:ext cx="8534095" cy="457200"/>
          </a:xfrm>
          <a:prstGeom prst="rect">
            <a:avLst/>
          </a:prstGeom>
          <a:noFill/>
        </p:spPr>
        <p:txBody>
          <a:bodyPr wrap="square" anchor="t"/>
          <a:lstStyle/>
          <a:p>
            <a:pPr algn="ctr">
              <a:defRPr sz="1600" b="0" i="1">
                <a:solidFill>
                  <a:srgbClr val="D4A843"/>
                </a:solidFill>
              </a:defRPr>
            </a:pPr>
            <a:r>
              <a:t>Building the wire between refinery math and refinery reality</a:t>
            </a:r>
          </a:p>
        </p:txBody>
      </p:sp>
      <p:sp>
        <p:nvSpPr>
          <p:cNvPr id="5" name="TextBox 4"/>
          <p:cNvSpPr txBox="1"/>
          <p:nvPr/>
        </p:nvSpPr>
        <p:spPr>
          <a:xfrm>
            <a:off x="914400" y="5669280"/>
            <a:ext cx="10362895" cy="365760"/>
          </a:xfrm>
          <a:prstGeom prst="rect">
            <a:avLst/>
          </a:prstGeom>
          <a:noFill/>
        </p:spPr>
        <p:txBody>
          <a:bodyPr wrap="square" anchor="t"/>
          <a:lstStyle/>
          <a:p>
            <a:pPr algn="ctr">
              <a:defRPr sz="1400" b="0" i="0">
                <a:solidFill>
                  <a:srgbClr val="B0BEC5"/>
                </a:solidFill>
              </a:defRPr>
            </a:pPr>
            <a:r>
              <a:t>March 2026</a:t>
            </a:r>
          </a:p>
        </p:txBody>
      </p:sp>
      <p:sp>
        <p:nvSpPr>
          <p:cNvPr id="6" name="TextBox 5"/>
          <p:cNvSpPr txBox="1"/>
          <p:nvPr/>
        </p:nvSpPr>
        <p:spPr>
          <a:xfrm>
            <a:off x="11505895" y="6492240"/>
            <a:ext cx="457200" cy="274320"/>
          </a:xfrm>
          <a:prstGeom prst="rect">
            <a:avLst/>
          </a:prstGeom>
          <a:noFill/>
        </p:spPr>
        <p:txBody>
          <a:bodyPr wrap="square" anchor="t"/>
          <a:lstStyle/>
          <a:p>
            <a:pPr algn="r">
              <a:defRPr sz="1000" b="0" i="0">
                <a:solidFill>
                  <a:srgbClr val="B0BEC5"/>
                </a:solidFill>
              </a:defRPr>
            </a:pPr>
            <a:r>
              <a:t>1</a:t>
            </a:r>
          </a:p>
        </p:txBody>
      </p:sp>
      <p:sp>
        <p:nvSpPr>
          <p:cNvPr id="7" name="TextBox 6"/>
          <p:cNvSpPr txBox="1"/>
          <p:nvPr/>
        </p:nvSpPr>
        <p:spPr>
          <a:xfrm>
            <a:off x="685800" y="6400800"/>
            <a:ext cx="3657600" cy="274320"/>
          </a:xfrm>
          <a:prstGeom prst="rect">
            <a:avLst/>
          </a:prstGeom>
          <a:noFill/>
        </p:spPr>
        <p:txBody>
          <a:bodyPr wrap="square" anchor="t"/>
          <a:lstStyle/>
          <a:p>
            <a:pPr algn="l">
              <a:defRPr sz="1200" b="0" i="1">
                <a:solidFill>
                  <a:srgbClr val="78909C"/>
                </a:solidFill>
              </a:defRPr>
            </a:pPr>
            <a:r>
              <a:t>Deep dive: docs/product-transcript.md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685800" y="365760"/>
            <a:ext cx="10820095" cy="640080"/>
          </a:xfrm>
          <a:prstGeom prst="rect">
            <a:avLst/>
          </a:prstGeom>
          <a:noFill/>
        </p:spPr>
        <p:txBody>
          <a:bodyPr wrap="square" anchor="t"/>
          <a:lstStyle/>
          <a:p>
            <a:pPr algn="l">
              <a:defRPr sz="2800" b="1" i="0">
                <a:solidFill>
                  <a:srgbClr val="FFFFFF"/>
                </a:solidFill>
              </a:defRPr>
            </a:pPr>
            <a:r>
              <a:t>The Problem: $10M Operations Run on a Spreadsheet</a:t>
            </a:r>
          </a:p>
        </p:txBody>
      </p:sp>
      <p:sp>
        <p:nvSpPr>
          <p:cNvPr id="3" name="TextBox 2"/>
          <p:cNvSpPr txBox="1"/>
          <p:nvPr/>
        </p:nvSpPr>
        <p:spPr>
          <a:xfrm>
            <a:off x="685800" y="1554480"/>
            <a:ext cx="10820095" cy="4572000"/>
          </a:xfrm>
          <a:prstGeom prst="rect">
            <a:avLst/>
          </a:prstGeom>
          <a:noFill/>
        </p:spPr>
        <p:txBody>
          <a:bodyPr wrap="square">
            <a:spAutoFit/>
          </a:bodyPr>
          <a:lstStyle/>
          <a:p>
            <a:pPr>
              <a:spcAft>
                <a:spcPts val="600"/>
              </a:spcAft>
              <a:defRPr sz="1800">
                <a:solidFill>
                  <a:srgbClr val="FFFFFF"/>
                </a:solidFill>
              </a:defRPr>
            </a:pPr>
            <a:r>
              <a:t>Mid-size refineries: sprawling multi-million-dollar complexes of steel, heat, and pressure — 800-degree reactors, millions of gallons of volatile liquids per day</a:t>
            </a:r>
          </a:p>
          <a:p>
            <a:pPr>
              <a:spcAft>
                <a:spcPts val="600"/>
              </a:spcAft>
              <a:defRPr sz="1800">
                <a:solidFill>
                  <a:srgbClr val="FFFFFF"/>
                </a:solidFill>
              </a:defRPr>
            </a:pPr>
            <a:r>
              <a:t>The actual brain of profitability? A Microsoft Excel spreadsheet on a planner's desktop</a:t>
            </a:r>
          </a:p>
          <a:p>
            <a:pPr>
              <a:spcAft>
                <a:spcPts val="600"/>
              </a:spcAft>
              <a:defRPr sz="1800">
                <a:solidFill>
                  <a:srgbClr val="FFFFFF"/>
                </a:solidFill>
              </a:defRPr>
            </a:pPr>
            <a:r>
              <a:t>The engineering is precise enough to refine crude oil into 12 different products — but the optimization math is completely disconnected from live plant data</a:t>
            </a:r>
          </a:p>
          <a:p>
            <a:pPr>
              <a:spcAft>
                <a:spcPts val="600"/>
              </a:spcAft>
              <a:defRPr sz="1800">
                <a:solidFill>
                  <a:srgbClr val="FFFFFF"/>
                </a:solidFill>
              </a:defRPr>
            </a:pPr>
            <a:r>
              <a:t>Enterprise RTO software exists (Aspen PIMS, Honeywell RPMS) — but costs $300K-$800K/yr in licensing alone, $1M+ total cost of ownership</a:t>
            </a:r>
          </a:p>
          <a:p>
            <a:pPr>
              <a:spcAft>
                <a:spcPts val="600"/>
              </a:spcAft>
              <a:defRPr sz="1800">
                <a:solidFill>
                  <a:srgbClr val="FFFFFF"/>
                </a:solidFill>
              </a:defRPr>
            </a:pPr>
            <a:r>
              <a:t>Result: 60-80 mid-size US refineries (50K-200K bbl/day) are priced out entirely and flying blind</a:t>
            </a:r>
          </a:p>
        </p:txBody>
      </p:sp>
      <p:sp>
        <p:nvSpPr>
          <p:cNvPr id="4" name="TextBox 3"/>
          <p:cNvSpPr txBox="1"/>
          <p:nvPr/>
        </p:nvSpPr>
        <p:spPr>
          <a:xfrm>
            <a:off x="11505895" y="6492240"/>
            <a:ext cx="457200" cy="274320"/>
          </a:xfrm>
          <a:prstGeom prst="rect">
            <a:avLst/>
          </a:prstGeom>
          <a:noFill/>
        </p:spPr>
        <p:txBody>
          <a:bodyPr wrap="square" anchor="t"/>
          <a:lstStyle/>
          <a:p>
            <a:pPr algn="r">
              <a:defRPr sz="1000" b="0" i="0">
                <a:solidFill>
                  <a:srgbClr val="B0BEC5"/>
                </a:solidFill>
              </a:defRPr>
            </a:pPr>
            <a:r>
              <a:t>2</a:t>
            </a:r>
          </a:p>
        </p:txBody>
      </p:sp>
      <p:sp>
        <p:nvSpPr>
          <p:cNvPr id="5" name="TextBox 4"/>
          <p:cNvSpPr txBox="1"/>
          <p:nvPr/>
        </p:nvSpPr>
        <p:spPr>
          <a:xfrm>
            <a:off x="685800" y="6400800"/>
            <a:ext cx="3657600" cy="274320"/>
          </a:xfrm>
          <a:prstGeom prst="rect">
            <a:avLst/>
          </a:prstGeom>
          <a:noFill/>
        </p:spPr>
        <p:txBody>
          <a:bodyPr wrap="square" anchor="t"/>
          <a:lstStyle/>
          <a:p>
            <a:pPr algn="l">
              <a:defRPr sz="1200" b="0" i="1">
                <a:solidFill>
                  <a:srgbClr val="78909C"/>
                </a:solidFill>
              </a:defRPr>
            </a:pPr>
            <a:r>
              <a:t>Deep dive: docs/product-transcript.md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685800" y="365760"/>
            <a:ext cx="10820095" cy="640080"/>
          </a:xfrm>
          <a:prstGeom prst="rect">
            <a:avLst/>
          </a:prstGeom>
          <a:noFill/>
        </p:spPr>
        <p:txBody>
          <a:bodyPr wrap="square" anchor="t"/>
          <a:lstStyle/>
          <a:p>
            <a:pPr algn="l">
              <a:defRPr sz="2800" b="1" i="0">
                <a:solidFill>
                  <a:srgbClr val="FFFFFF"/>
                </a:solidFill>
              </a:defRPr>
            </a:pPr>
            <a:r>
              <a:t>The Daily Pain: An LP Planner's Tuesday Morning</a:t>
            </a:r>
          </a:p>
        </p:txBody>
      </p:sp>
      <p:sp>
        <p:nvSpPr>
          <p:cNvPr id="3" name="TextBox 2"/>
          <p:cNvSpPr txBox="1"/>
          <p:nvPr/>
        </p:nvSpPr>
        <p:spPr>
          <a:xfrm>
            <a:off x="685800" y="1554480"/>
            <a:ext cx="10820095" cy="4572000"/>
          </a:xfrm>
          <a:prstGeom prst="rect">
            <a:avLst/>
          </a:prstGeom>
          <a:noFill/>
        </p:spPr>
        <p:txBody>
          <a:bodyPr wrap="square">
            <a:spAutoFit/>
          </a:bodyPr>
          <a:lstStyle/>
          <a:p>
            <a:pPr>
              <a:spcAft>
                <a:spcPts val="600"/>
              </a:spcAft>
              <a:defRPr sz="1800">
                <a:solidFill>
                  <a:srgbClr val="FFFFFF"/>
                </a:solidFill>
              </a:defRPr>
            </a:pPr>
            <a:r>
              <a:t>7:00 AM — Manually pull process data from the historian (the plant's massive sensor database), production reports, and market pricing feeds</a:t>
            </a:r>
          </a:p>
          <a:p>
            <a:pPr>
              <a:spcAft>
                <a:spcPts val="600"/>
              </a:spcAft>
              <a:defRPr sz="1800">
                <a:solidFill>
                  <a:srgbClr val="FFFFFF"/>
                </a:solidFill>
              </a:defRPr>
            </a:pPr>
            <a:r>
              <a:t>8:00 AM — Physically type that data into their Excel LP model, rerun the solver, interpret results</a:t>
            </a:r>
          </a:p>
          <a:p>
            <a:pPr>
              <a:spcAft>
                <a:spcPts val="600"/>
              </a:spcAft>
              <a:defRPr sz="1800">
                <a:solidFill>
                  <a:srgbClr val="FFFFFF"/>
                </a:solidFill>
              </a:defRPr>
            </a:pPr>
            <a:r>
              <a:t>9:00 AM — Write an email to operations with a recommendation</a:t>
            </a:r>
          </a:p>
          <a:p>
            <a:pPr>
              <a:spcAft>
                <a:spcPts val="600"/>
              </a:spcAft>
              <a:defRPr sz="1800">
                <a:solidFill>
                  <a:srgbClr val="FFFFFF"/>
                </a:solidFill>
              </a:defRPr>
            </a:pPr>
            <a:r>
              <a:t>12:00 PM — The recommendation is already wrong. Crude prices moved, equipment drifted, crack spreads shifted. Nobody reruns the math.</a:t>
            </a:r>
          </a:p>
          <a:p>
            <a:pPr>
              <a:spcAft>
                <a:spcPts val="600"/>
              </a:spcAft>
              <a:defRPr sz="1800">
                <a:solidFill>
                  <a:srgbClr val="FFFFFF"/>
                </a:solidFill>
              </a:defRPr>
            </a:pPr>
            <a:r>
              <a:t>This cycle repeats daily at best, weekly at worst — the plant runs on stale instructions every single day</a:t>
            </a:r>
          </a:p>
          <a:p>
            <a:pPr>
              <a:spcAft>
                <a:spcPts val="600"/>
              </a:spcAft>
              <a:defRPr sz="1800">
                <a:solidFill>
                  <a:srgbClr val="FFFFFF"/>
                </a:solidFill>
              </a:defRPr>
            </a:pPr>
            <a:r>
              <a:t>The financial gap between what the model recommends and what the plant actually does is measured in dollars per barrel, every hour — and nobody is even measuring the loss</a:t>
            </a:r>
          </a:p>
        </p:txBody>
      </p:sp>
      <p:sp>
        <p:nvSpPr>
          <p:cNvPr id="4" name="TextBox 3"/>
          <p:cNvSpPr txBox="1"/>
          <p:nvPr/>
        </p:nvSpPr>
        <p:spPr>
          <a:xfrm>
            <a:off x="11505895" y="6492240"/>
            <a:ext cx="457200" cy="274320"/>
          </a:xfrm>
          <a:prstGeom prst="rect">
            <a:avLst/>
          </a:prstGeom>
          <a:noFill/>
        </p:spPr>
        <p:txBody>
          <a:bodyPr wrap="square" anchor="t"/>
          <a:lstStyle/>
          <a:p>
            <a:pPr algn="r">
              <a:defRPr sz="1000" b="0" i="0">
                <a:solidFill>
                  <a:srgbClr val="B0BEC5"/>
                </a:solidFill>
              </a:defRPr>
            </a:pPr>
            <a:r>
              <a:t>3</a:t>
            </a:r>
          </a:p>
        </p:txBody>
      </p:sp>
      <p:sp>
        <p:nvSpPr>
          <p:cNvPr id="5" name="TextBox 4"/>
          <p:cNvSpPr txBox="1"/>
          <p:nvPr/>
        </p:nvSpPr>
        <p:spPr>
          <a:xfrm>
            <a:off x="685800" y="6400800"/>
            <a:ext cx="3657600" cy="274320"/>
          </a:xfrm>
          <a:prstGeom prst="rect">
            <a:avLst/>
          </a:prstGeom>
          <a:noFill/>
        </p:spPr>
        <p:txBody>
          <a:bodyPr wrap="square" anchor="t"/>
          <a:lstStyle/>
          <a:p>
            <a:pPr algn="l">
              <a:defRPr sz="1200" b="0" i="1">
                <a:solidFill>
                  <a:srgbClr val="78909C"/>
                </a:solidFill>
              </a:defRPr>
            </a:pPr>
            <a:r>
              <a:t>Deep dive: docs/product-transcript.md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685800" y="365760"/>
            <a:ext cx="10820095" cy="640080"/>
          </a:xfrm>
          <a:prstGeom prst="rect">
            <a:avLst/>
          </a:prstGeom>
          <a:noFill/>
        </p:spPr>
        <p:txBody>
          <a:bodyPr wrap="square" anchor="t"/>
          <a:lstStyle/>
          <a:p>
            <a:pPr algn="l">
              <a:defRPr sz="2800" b="1" i="0">
                <a:solidFill>
                  <a:srgbClr val="FFFFFF"/>
                </a:solidFill>
              </a:defRPr>
            </a:pPr>
            <a:r>
              <a:t>The Market Gap: Mid-Market Is Completely Priced Out</a:t>
            </a:r>
          </a:p>
        </p:txBody>
      </p:sp>
      <p:sp>
        <p:nvSpPr>
          <p:cNvPr id="3" name="TextBox 2"/>
          <p:cNvSpPr txBox="1"/>
          <p:nvPr/>
        </p:nvSpPr>
        <p:spPr>
          <a:xfrm>
            <a:off x="685800" y="1554480"/>
            <a:ext cx="5272887" cy="4572000"/>
          </a:xfrm>
          <a:prstGeom prst="rect">
            <a:avLst/>
          </a:prstGeom>
          <a:noFill/>
        </p:spPr>
        <p:txBody>
          <a:bodyPr wrap="square">
            <a:spAutoFit/>
          </a:bodyPr>
          <a:lstStyle/>
          <a:p>
            <a:pPr>
              <a:spcAft>
                <a:spcPts val="600"/>
              </a:spcAft>
              <a:defRPr sz="1600">
                <a:solidFill>
                  <a:srgbClr val="FFFFFF"/>
                </a:solidFill>
              </a:defRPr>
            </a:pPr>
            <a:r>
              <a:t>Enterprise RTO (Top 20 Refiners):</a:t>
            </a:r>
          </a:p>
          <a:p>
            <a:pPr lvl="1">
              <a:spcAft>
                <a:spcPts val="600"/>
              </a:spcAft>
              <a:defRPr sz="1600">
                <a:solidFill>
                  <a:srgbClr val="FFFFFF"/>
                </a:solidFill>
              </a:defRPr>
            </a:pPr>
            <a:r>
              <a:t>Aspen PIMS / Honeywell RPMS</a:t>
            </a:r>
          </a:p>
          <a:p>
            <a:pPr lvl="1">
              <a:spcAft>
                <a:spcPts val="600"/>
              </a:spcAft>
              <a:defRPr sz="1600">
                <a:solidFill>
                  <a:srgbClr val="FFFFFF"/>
                </a:solidFill>
              </a:defRPr>
            </a:pPr>
            <a:r>
              <a:t>$300K-$800K/yr licensing</a:t>
            </a:r>
          </a:p>
          <a:p>
            <a:pPr lvl="1">
              <a:spcAft>
                <a:spcPts val="600"/>
              </a:spcAft>
              <a:defRPr sz="1600">
                <a:solidFill>
                  <a:srgbClr val="FFFFFF"/>
                </a:solidFill>
              </a:defRPr>
            </a:pPr>
            <a:r>
              <a:t>$1M+/yr total cost of ownership</a:t>
            </a:r>
          </a:p>
          <a:p>
            <a:pPr lvl="1">
              <a:spcAft>
                <a:spcPts val="600"/>
              </a:spcAft>
              <a:defRPr sz="1600">
                <a:solidFill>
                  <a:srgbClr val="FFFFFF"/>
                </a:solidFill>
              </a:defRPr>
            </a:pPr>
            <a:r>
              <a:t>Dedicated optimization engineers required</a:t>
            </a:r>
          </a:p>
          <a:p>
            <a:pPr lvl="1">
              <a:spcAft>
                <a:spcPts val="600"/>
              </a:spcAft>
              <a:defRPr sz="1600">
                <a:solidFill>
                  <a:srgbClr val="FFFFFF"/>
                </a:solidFill>
              </a:defRPr>
            </a:pPr>
            <a:r>
              <a:t>12-18 month implementation</a:t>
            </a:r>
          </a:p>
        </p:txBody>
      </p:sp>
      <p:sp>
        <p:nvSpPr>
          <p:cNvPr id="4" name="Rectangle 3"/>
          <p:cNvSpPr/>
          <p:nvPr/>
        </p:nvSpPr>
        <p:spPr>
          <a:xfrm>
            <a:off x="6050127" y="1554480"/>
            <a:ext cx="18288" cy="4572000"/>
          </a:xfrm>
          <a:prstGeom prst="rect">
            <a:avLst/>
          </a:prstGeom>
          <a:solidFill>
            <a:srgbClr val="D4A8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33007" y="1554480"/>
            <a:ext cx="5272887" cy="4572000"/>
          </a:xfrm>
          <a:prstGeom prst="rect">
            <a:avLst/>
          </a:prstGeom>
          <a:noFill/>
        </p:spPr>
        <p:txBody>
          <a:bodyPr wrap="square">
            <a:spAutoFit/>
          </a:bodyPr>
          <a:lstStyle/>
          <a:p>
            <a:pPr>
              <a:spcAft>
                <a:spcPts val="600"/>
              </a:spcAft>
              <a:defRPr sz="1600">
                <a:solidFill>
                  <a:srgbClr val="FFFFFF"/>
                </a:solidFill>
              </a:defRPr>
            </a:pPr>
            <a:r>
              <a:t>Mid-Market (60-80 US Plants):</a:t>
            </a:r>
          </a:p>
          <a:p>
            <a:pPr lvl="1">
              <a:spcAft>
                <a:spcPts val="600"/>
              </a:spcAft>
              <a:defRPr sz="1600">
                <a:solidFill>
                  <a:srgbClr val="FFFFFF"/>
                </a:solidFill>
              </a:defRPr>
            </a:pPr>
            <a:r>
              <a:t>50K-200K barrels/day</a:t>
            </a:r>
          </a:p>
          <a:p>
            <a:pPr lvl="1">
              <a:spcAft>
                <a:spcPts val="600"/>
              </a:spcAft>
              <a:defRPr sz="1600">
                <a:solidFill>
                  <a:srgbClr val="FFFFFF"/>
                </a:solidFill>
              </a:defRPr>
            </a:pPr>
            <a:r>
              <a:t>Cannot justify $1M/yr software spend</a:t>
            </a:r>
          </a:p>
          <a:p>
            <a:pPr lvl="1">
              <a:spcAft>
                <a:spcPts val="600"/>
              </a:spcAft>
              <a:defRPr sz="1600">
                <a:solidFill>
                  <a:srgbClr val="FFFFFF"/>
                </a:solidFill>
              </a:defRPr>
            </a:pPr>
            <a:r>
              <a:t>Using Excel LP models they've tuned for decades</a:t>
            </a:r>
          </a:p>
          <a:p>
            <a:pPr lvl="1">
              <a:spcAft>
                <a:spcPts val="600"/>
              </a:spcAft>
              <a:defRPr sz="1600">
                <a:solidFill>
                  <a:srgbClr val="FFFFFF"/>
                </a:solidFill>
              </a:defRPr>
            </a:pPr>
            <a:r>
              <a:t>Sophisticated teams, just no affordable tool</a:t>
            </a:r>
          </a:p>
          <a:p>
            <a:pPr lvl="1">
              <a:spcAft>
                <a:spcPts val="600"/>
              </a:spcAft>
              <a:defRPr sz="1600">
                <a:solidFill>
                  <a:srgbClr val="FFFFFF"/>
                </a:solidFill>
              </a:defRPr>
            </a:pPr>
            <a:r>
              <a:t>~$180M opportunity sitting on the table</a:t>
            </a:r>
          </a:p>
        </p:txBody>
      </p:sp>
      <p:sp>
        <p:nvSpPr>
          <p:cNvPr id="6" name="TextBox 5"/>
          <p:cNvSpPr txBox="1"/>
          <p:nvPr/>
        </p:nvSpPr>
        <p:spPr>
          <a:xfrm>
            <a:off x="11505895" y="6492240"/>
            <a:ext cx="457200" cy="274320"/>
          </a:xfrm>
          <a:prstGeom prst="rect">
            <a:avLst/>
          </a:prstGeom>
          <a:noFill/>
        </p:spPr>
        <p:txBody>
          <a:bodyPr wrap="square" anchor="t"/>
          <a:lstStyle/>
          <a:p>
            <a:pPr algn="r">
              <a:defRPr sz="1000" b="0" i="0">
                <a:solidFill>
                  <a:srgbClr val="B0BEC5"/>
                </a:solidFill>
              </a:defRPr>
            </a:pPr>
            <a:r>
              <a:t>4</a:t>
            </a:r>
          </a:p>
        </p:txBody>
      </p:sp>
      <p:sp>
        <p:nvSpPr>
          <p:cNvPr id="7" name="TextBox 6"/>
          <p:cNvSpPr txBox="1"/>
          <p:nvPr/>
        </p:nvSpPr>
        <p:spPr>
          <a:xfrm>
            <a:off x="685800" y="6400800"/>
            <a:ext cx="3657600" cy="274320"/>
          </a:xfrm>
          <a:prstGeom prst="rect">
            <a:avLst/>
          </a:prstGeom>
          <a:noFill/>
        </p:spPr>
        <p:txBody>
          <a:bodyPr wrap="square" anchor="t"/>
          <a:lstStyle/>
          <a:p>
            <a:pPr algn="l">
              <a:defRPr sz="1200" b="0" i="1">
                <a:solidFill>
                  <a:srgbClr val="78909C"/>
                </a:solidFill>
              </a:defRPr>
            </a:pPr>
            <a:r>
              <a:t>Deep dive: docs/product-transcript.md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685800" y="365760"/>
            <a:ext cx="10820095" cy="640080"/>
          </a:xfrm>
          <a:prstGeom prst="rect">
            <a:avLst/>
          </a:prstGeom>
          <a:noFill/>
        </p:spPr>
        <p:txBody>
          <a:bodyPr wrap="square" anchor="t"/>
          <a:lstStyle/>
          <a:p>
            <a:pPr algn="l">
              <a:defRPr sz="2800" b="1" i="0">
                <a:solidFill>
                  <a:srgbClr val="FFFFFF"/>
                </a:solidFill>
              </a:defRPr>
            </a:pPr>
            <a:r>
              <a:t>Our Solution: Reflex — Building the Wire, Not Reinventing the Math</a:t>
            </a:r>
          </a:p>
        </p:txBody>
      </p:sp>
      <p:sp>
        <p:nvSpPr>
          <p:cNvPr id="3" name="TextBox 2"/>
          <p:cNvSpPr txBox="1"/>
          <p:nvPr/>
        </p:nvSpPr>
        <p:spPr>
          <a:xfrm>
            <a:off x="685800" y="1005840"/>
            <a:ext cx="10820095" cy="457200"/>
          </a:xfrm>
          <a:prstGeom prst="rect">
            <a:avLst/>
          </a:prstGeom>
          <a:noFill/>
        </p:spPr>
        <p:txBody>
          <a:bodyPr wrap="square" anchor="t"/>
          <a:lstStyle/>
          <a:p>
            <a:pPr algn="l">
              <a:defRPr sz="2000" b="0" i="0">
                <a:solidFill>
                  <a:srgbClr val="B0BEC5"/>
                </a:solidFill>
              </a:defRPr>
            </a:pPr>
            <a:r>
              <a:t>Reflex connects existing systems in real-time and translates dense math into plain English</a:t>
            </a:r>
          </a:p>
        </p:txBody>
      </p:sp>
      <p:sp>
        <p:nvSpPr>
          <p:cNvPr id="4" name="Magnetic Disk 3"/>
          <p:cNvSpPr/>
          <p:nvPr/>
        </p:nvSpPr>
        <p:spPr>
          <a:xfrm>
            <a:off x="548640" y="2560320"/>
            <a:ext cx="1463040" cy="914400"/>
          </a:xfrm>
          <a:prstGeom prst="flowChartMagneticDisk">
            <a:avLst/>
          </a:prstGeom>
          <a:solidFill>
            <a:srgbClr val="E67E22"/>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FFFFFF"/>
                </a:solidFill>
              </a:defRPr>
            </a:pPr>
            <a:r>
              <a:t>Process</a:t>
            </a:r>
            <a:br/>
            <a:r>
              <a:t>Historian</a:t>
            </a:r>
          </a:p>
        </p:txBody>
      </p:sp>
      <p:sp>
        <p:nvSpPr>
          <p:cNvPr id="5" name="Right Arrow 4"/>
          <p:cNvSpPr/>
          <p:nvPr/>
        </p:nvSpPr>
        <p:spPr>
          <a:xfrm>
            <a:off x="2011680" y="2926080"/>
            <a:ext cx="320040" cy="182880"/>
          </a:xfrm>
          <a:prstGeom prst="rightArrow">
            <a:avLst/>
          </a:prstGeom>
          <a:solidFill>
            <a:srgbClr val="B0BE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331720" y="2560320"/>
            <a:ext cx="1463040" cy="914400"/>
          </a:xfrm>
          <a:prstGeom prst="roundRect">
            <a:avLst/>
          </a:prstGeom>
          <a:solidFill>
            <a:srgbClr val="27AE6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FFFFFF"/>
                </a:solidFill>
              </a:defRPr>
            </a:pPr>
            <a:r>
              <a:t>Reflex</a:t>
            </a:r>
            <a:br/>
            <a:r>
              <a:t>Edge Agent</a:t>
            </a:r>
          </a:p>
        </p:txBody>
      </p:sp>
      <p:sp>
        <p:nvSpPr>
          <p:cNvPr id="7" name="Right Arrow 6"/>
          <p:cNvSpPr/>
          <p:nvPr/>
        </p:nvSpPr>
        <p:spPr>
          <a:xfrm>
            <a:off x="3794760" y="2926080"/>
            <a:ext cx="320040" cy="182880"/>
          </a:xfrm>
          <a:prstGeom prst="rightArrow">
            <a:avLst/>
          </a:prstGeom>
          <a:solidFill>
            <a:srgbClr val="B0BE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114800" y="2560320"/>
            <a:ext cx="1463040" cy="914400"/>
          </a:xfrm>
          <a:prstGeom prst="roundRect">
            <a:avLst/>
          </a:prstGeom>
          <a:solidFill>
            <a:srgbClr val="3498D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FFFFFF"/>
                </a:solidFill>
              </a:defRPr>
            </a:pPr>
            <a:r>
              <a:t>Excel LP</a:t>
            </a:r>
            <a:br/>
            <a:r>
              <a:t>Model</a:t>
            </a:r>
          </a:p>
        </p:txBody>
      </p:sp>
      <p:sp>
        <p:nvSpPr>
          <p:cNvPr id="9" name="Right Arrow 8"/>
          <p:cNvSpPr/>
          <p:nvPr/>
        </p:nvSpPr>
        <p:spPr>
          <a:xfrm>
            <a:off x="5577840" y="2926080"/>
            <a:ext cx="320040" cy="182880"/>
          </a:xfrm>
          <a:prstGeom prst="rightArrow">
            <a:avLst/>
          </a:prstGeom>
          <a:solidFill>
            <a:srgbClr val="B0BE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897880" y="2560320"/>
            <a:ext cx="1463040" cy="914400"/>
          </a:xfrm>
          <a:prstGeom prst="roundRect">
            <a:avLst/>
          </a:prstGeom>
          <a:solidFill>
            <a:srgbClr val="9B59B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FFFFFF"/>
                </a:solidFill>
              </a:defRPr>
            </a:pPr>
            <a:r>
              <a:t>Claude</a:t>
            </a:r>
            <a:br/>
            <a:r>
              <a:t>Translation</a:t>
            </a:r>
          </a:p>
        </p:txBody>
      </p:sp>
      <p:sp>
        <p:nvSpPr>
          <p:cNvPr id="11" name="Right Arrow 10"/>
          <p:cNvSpPr/>
          <p:nvPr/>
        </p:nvSpPr>
        <p:spPr>
          <a:xfrm>
            <a:off x="7360920" y="2926080"/>
            <a:ext cx="320040" cy="182880"/>
          </a:xfrm>
          <a:prstGeom prst="rightArrow">
            <a:avLst/>
          </a:prstGeom>
          <a:solidFill>
            <a:srgbClr val="B0BE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680960" y="2560320"/>
            <a:ext cx="1463040" cy="914400"/>
          </a:xfrm>
          <a:prstGeom prst="roundRect">
            <a:avLst/>
          </a:prstGeom>
          <a:solidFill>
            <a:srgbClr val="3498D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FFFFFF"/>
                </a:solidFill>
              </a:defRPr>
            </a:pPr>
            <a:r>
              <a:t>Slack /</a:t>
            </a:r>
            <a:br/>
            <a:r>
              <a:t>Teams</a:t>
            </a:r>
          </a:p>
        </p:txBody>
      </p:sp>
      <p:sp>
        <p:nvSpPr>
          <p:cNvPr id="13" name="Right Arrow 12"/>
          <p:cNvSpPr/>
          <p:nvPr/>
        </p:nvSpPr>
        <p:spPr>
          <a:xfrm>
            <a:off x="9144000" y="2926080"/>
            <a:ext cx="320040" cy="182880"/>
          </a:xfrm>
          <a:prstGeom prst="rightArrow">
            <a:avLst/>
          </a:prstGeom>
          <a:solidFill>
            <a:srgbClr val="B0BE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464040" y="2560320"/>
            <a:ext cx="1463040" cy="914400"/>
          </a:xfrm>
          <a:prstGeom prst="ellipse">
            <a:avLst/>
          </a:prstGeom>
          <a:solidFill>
            <a:srgbClr val="B0BEC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FFFFFF"/>
                </a:solidFill>
              </a:defRPr>
            </a:pPr>
            <a:r>
              <a:t>Operator</a:t>
            </a:r>
            <a:br/>
            <a:r>
              <a:t>(Decides)</a:t>
            </a:r>
          </a:p>
        </p:txBody>
      </p:sp>
      <p:sp>
        <p:nvSpPr>
          <p:cNvPr id="15" name="TextBox 14"/>
          <p:cNvSpPr txBox="1"/>
          <p:nvPr/>
        </p:nvSpPr>
        <p:spPr>
          <a:xfrm>
            <a:off x="1463040" y="3749040"/>
            <a:ext cx="8229600" cy="365760"/>
          </a:xfrm>
          <a:prstGeom prst="rect">
            <a:avLst/>
          </a:prstGeom>
          <a:noFill/>
        </p:spPr>
        <p:txBody>
          <a:bodyPr wrap="square" anchor="t"/>
          <a:lstStyle/>
          <a:p>
            <a:pPr algn="ctr">
              <a:defRPr sz="1100" b="0" i="1">
                <a:solidFill>
                  <a:srgbClr val="D4A843"/>
                </a:solidFill>
              </a:defRPr>
            </a:pPr>
            <a:r>
              <a:t>Feedback Loop: Constraint Registry — operator says 'no', system remembers and stops nagging</a:t>
            </a:r>
          </a:p>
        </p:txBody>
      </p:sp>
      <p:sp>
        <p:nvSpPr>
          <p:cNvPr id="16" name="TextBox 15"/>
          <p:cNvSpPr txBox="1"/>
          <p:nvPr/>
        </p:nvSpPr>
        <p:spPr>
          <a:xfrm>
            <a:off x="1828800" y="4206240"/>
            <a:ext cx="3657600" cy="274320"/>
          </a:xfrm>
          <a:prstGeom prst="rect">
            <a:avLst/>
          </a:prstGeom>
          <a:noFill/>
        </p:spPr>
        <p:txBody>
          <a:bodyPr wrap="square" anchor="t"/>
          <a:lstStyle/>
          <a:p>
            <a:pPr algn="l">
              <a:defRPr sz="1000" b="0" i="0">
                <a:solidFill>
                  <a:srgbClr val="27AE60"/>
                </a:solidFill>
              </a:defRPr>
            </a:pPr>
            <a:r>
              <a:t>Process Trigger: equipment drifts outside window</a:t>
            </a:r>
          </a:p>
        </p:txBody>
      </p:sp>
      <p:sp>
        <p:nvSpPr>
          <p:cNvPr id="17" name="TextBox 16"/>
          <p:cNvSpPr txBox="1"/>
          <p:nvPr/>
        </p:nvSpPr>
        <p:spPr>
          <a:xfrm>
            <a:off x="6400800" y="4206240"/>
            <a:ext cx="3657600" cy="274320"/>
          </a:xfrm>
          <a:prstGeom prst="rect">
            <a:avLst/>
          </a:prstGeom>
          <a:noFill/>
        </p:spPr>
        <p:txBody>
          <a:bodyPr wrap="square" anchor="t"/>
          <a:lstStyle/>
          <a:p>
            <a:pPr algn="l">
              <a:defRPr sz="1000" b="0" i="0">
                <a:solidFill>
                  <a:srgbClr val="D4A843"/>
                </a:solidFill>
              </a:defRPr>
            </a:pPr>
            <a:r>
              <a:t>Price Trigger: crack spread moves materially</a:t>
            </a:r>
          </a:p>
        </p:txBody>
      </p:sp>
      <p:sp>
        <p:nvSpPr>
          <p:cNvPr id="18" name="TextBox 17"/>
          <p:cNvSpPr txBox="1"/>
          <p:nvPr/>
        </p:nvSpPr>
        <p:spPr>
          <a:xfrm>
            <a:off x="685800" y="4846320"/>
            <a:ext cx="10820095" cy="1371600"/>
          </a:xfrm>
          <a:prstGeom prst="rect">
            <a:avLst/>
          </a:prstGeom>
          <a:noFill/>
        </p:spPr>
        <p:txBody>
          <a:bodyPr wrap="square">
            <a:spAutoFit/>
          </a:bodyPr>
          <a:lstStyle/>
          <a:p>
            <a:pPr>
              <a:spcAft>
                <a:spcPts val="600"/>
              </a:spcAft>
              <a:defRPr sz="1400">
                <a:solidFill>
                  <a:srgbClr val="B0BEC5"/>
                </a:solidFill>
              </a:defRPr>
            </a:pPr>
            <a:r>
              <a:t>We don't replace the LP model. We don't replace the operator. We connect the pieces that already exist.</a:t>
            </a:r>
          </a:p>
          <a:p>
            <a:pPr>
              <a:spcAft>
                <a:spcPts val="600"/>
              </a:spcAft>
              <a:defRPr sz="1400">
                <a:solidFill>
                  <a:srgbClr val="B0BEC5"/>
                </a:solidFill>
              </a:defRPr>
            </a:pPr>
            <a:r>
              <a:t>Trigger-based: only fires when something meaningful changes (equipment drift or crack spread moves $2+/bbl)</a:t>
            </a:r>
          </a:p>
          <a:p>
            <a:pPr>
              <a:spcAft>
                <a:spcPts val="600"/>
              </a:spcAft>
              <a:defRPr sz="1400">
                <a:solidFill>
                  <a:srgbClr val="B0BEC5"/>
                </a:solidFill>
              </a:defRPr>
            </a:pPr>
            <a:r>
              <a:t>Human-in-the-loop: strictly decision support — operator always makes the final call</a:t>
            </a:r>
          </a:p>
          <a:p>
            <a:pPr>
              <a:spcAft>
                <a:spcPts val="600"/>
              </a:spcAft>
              <a:defRPr sz="1400">
                <a:solidFill>
                  <a:srgbClr val="B0BEC5"/>
                </a:solidFill>
              </a:defRPr>
            </a:pPr>
            <a:r>
              <a:t>Constraint registry: remembers when operators say no, stops nagging, builds institutional knowledge</a:t>
            </a:r>
          </a:p>
        </p:txBody>
      </p:sp>
      <p:sp>
        <p:nvSpPr>
          <p:cNvPr id="19" name="TextBox 18"/>
          <p:cNvSpPr txBox="1"/>
          <p:nvPr/>
        </p:nvSpPr>
        <p:spPr>
          <a:xfrm>
            <a:off x="11505895" y="6492240"/>
            <a:ext cx="457200" cy="274320"/>
          </a:xfrm>
          <a:prstGeom prst="rect">
            <a:avLst/>
          </a:prstGeom>
          <a:noFill/>
        </p:spPr>
        <p:txBody>
          <a:bodyPr wrap="square" anchor="t"/>
          <a:lstStyle/>
          <a:p>
            <a:pPr algn="r">
              <a:defRPr sz="1000" b="0" i="0">
                <a:solidFill>
                  <a:srgbClr val="B0BEC5"/>
                </a:solidFill>
              </a:defRPr>
            </a:pPr>
            <a:r>
              <a:t>5</a:t>
            </a:r>
          </a:p>
        </p:txBody>
      </p:sp>
      <p:sp>
        <p:nvSpPr>
          <p:cNvPr id="20" name="TextBox 19"/>
          <p:cNvSpPr txBox="1"/>
          <p:nvPr/>
        </p:nvSpPr>
        <p:spPr>
          <a:xfrm>
            <a:off x="685800" y="6400800"/>
            <a:ext cx="3657600" cy="274320"/>
          </a:xfrm>
          <a:prstGeom prst="rect">
            <a:avLst/>
          </a:prstGeom>
          <a:noFill/>
        </p:spPr>
        <p:txBody>
          <a:bodyPr wrap="square" anchor="t"/>
          <a:lstStyle/>
          <a:p>
            <a:pPr algn="l">
              <a:defRPr sz="1200" b="0" i="1">
                <a:solidFill>
                  <a:srgbClr val="78909C"/>
                </a:solidFill>
              </a:defRPr>
            </a:pPr>
            <a:r>
              <a:t>Deep dive: docs/product-transcript.md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685800" y="365760"/>
            <a:ext cx="10820095" cy="640080"/>
          </a:xfrm>
          <a:prstGeom prst="rect">
            <a:avLst/>
          </a:prstGeom>
          <a:noFill/>
        </p:spPr>
        <p:txBody>
          <a:bodyPr wrap="square" anchor="t"/>
          <a:lstStyle/>
          <a:p>
            <a:pPr algn="l">
              <a:defRPr sz="2800" b="1" i="0">
                <a:solidFill>
                  <a:srgbClr val="FFFFFF"/>
                </a:solidFill>
              </a:defRPr>
            </a:pPr>
            <a:r>
              <a:t>Business Model: Fraction of Enterprise Cost, Massive ROI</a:t>
            </a:r>
          </a:p>
        </p:txBody>
      </p:sp>
      <p:sp>
        <p:nvSpPr>
          <p:cNvPr id="3" name="TextBox 2"/>
          <p:cNvSpPr txBox="1"/>
          <p:nvPr/>
        </p:nvSpPr>
        <p:spPr>
          <a:xfrm>
            <a:off x="685800" y="1554480"/>
            <a:ext cx="10820095" cy="4572000"/>
          </a:xfrm>
          <a:prstGeom prst="rect">
            <a:avLst/>
          </a:prstGeom>
          <a:noFill/>
        </p:spPr>
        <p:txBody>
          <a:bodyPr wrap="square">
            <a:spAutoFit/>
          </a:bodyPr>
          <a:lstStyle/>
          <a:p>
            <a:pPr>
              <a:spcAft>
                <a:spcPts val="600"/>
              </a:spcAft>
              <a:defRPr sz="1800">
                <a:solidFill>
                  <a:srgbClr val="FFFFFF"/>
                </a:solidFill>
              </a:defRPr>
            </a:pPr>
            <a:r>
              <a:t>Price: $75K-$125K/site/year — a fraction of $300K-$800K enterprise RTO</a:t>
            </a:r>
          </a:p>
          <a:p>
            <a:pPr>
              <a:spcAft>
                <a:spcPts val="600"/>
              </a:spcAft>
              <a:defRPr sz="1800">
                <a:solidFill>
                  <a:srgbClr val="FFFFFF"/>
                </a:solidFill>
              </a:defRPr>
            </a:pPr>
            <a:r>
              <a:t>Target market: 80-120 sites (North America + Europe + specialty chemicals)</a:t>
            </a:r>
          </a:p>
          <a:p>
            <a:pPr>
              <a:spcAft>
                <a:spcPts val="600"/>
              </a:spcAft>
              <a:defRPr sz="1800">
                <a:solidFill>
                  <a:srgbClr val="FFFFFF"/>
                </a:solidFill>
              </a:defRPr>
            </a:pPr>
            <a:r>
              <a:t>ARR potential: $8-15M at scale</a:t>
            </a:r>
          </a:p>
          <a:p>
            <a:pPr>
              <a:spcAft>
                <a:spcPts val="600"/>
              </a:spcAft>
              <a:defRPr sz="1800">
                <a:solidFill>
                  <a:srgbClr val="FFFFFF"/>
                </a:solidFill>
              </a:defRPr>
            </a:pPr>
            <a:r>
              <a:t>Conservative ROI: if Reflex captures even $500K/yr in margin improvement per site, customer gets 4-7x return</a:t>
            </a:r>
          </a:p>
          <a:p>
            <a:pPr>
              <a:spcAft>
                <a:spcPts val="600"/>
              </a:spcAft>
              <a:defRPr sz="1800">
                <a:solidFill>
                  <a:srgbClr val="FFFFFF"/>
                </a:solidFill>
              </a:defRPr>
            </a:pPr>
            <a:r>
              <a:t>Exit strategy: $100-250M acquisition by AspenTech, Honeywell, AVEVA, or Schneider Electric</a:t>
            </a:r>
          </a:p>
          <a:p>
            <a:pPr>
              <a:spcAft>
                <a:spcPts val="600"/>
              </a:spcAft>
              <a:defRPr sz="1800">
                <a:solidFill>
                  <a:srgbClr val="FFFFFF"/>
                </a:solidFill>
              </a:defRPr>
            </a:pPr>
            <a:r>
              <a:t>The moat isn't patents — it's site-specific constraint data, coefficient reconciliation history, and integration depth</a:t>
            </a:r>
          </a:p>
        </p:txBody>
      </p:sp>
      <p:sp>
        <p:nvSpPr>
          <p:cNvPr id="4" name="TextBox 3"/>
          <p:cNvSpPr txBox="1"/>
          <p:nvPr/>
        </p:nvSpPr>
        <p:spPr>
          <a:xfrm>
            <a:off x="11505895" y="6492240"/>
            <a:ext cx="457200" cy="274320"/>
          </a:xfrm>
          <a:prstGeom prst="rect">
            <a:avLst/>
          </a:prstGeom>
          <a:noFill/>
        </p:spPr>
        <p:txBody>
          <a:bodyPr wrap="square" anchor="t"/>
          <a:lstStyle/>
          <a:p>
            <a:pPr algn="r">
              <a:defRPr sz="1000" b="0" i="0">
                <a:solidFill>
                  <a:srgbClr val="B0BEC5"/>
                </a:solidFill>
              </a:defRPr>
            </a:pPr>
            <a:r>
              <a:t>6</a:t>
            </a:r>
          </a:p>
        </p:txBody>
      </p:sp>
      <p:sp>
        <p:nvSpPr>
          <p:cNvPr id="5" name="TextBox 4"/>
          <p:cNvSpPr txBox="1"/>
          <p:nvPr/>
        </p:nvSpPr>
        <p:spPr>
          <a:xfrm>
            <a:off x="685800" y="6400800"/>
            <a:ext cx="3657600" cy="274320"/>
          </a:xfrm>
          <a:prstGeom prst="rect">
            <a:avLst/>
          </a:prstGeom>
          <a:noFill/>
        </p:spPr>
        <p:txBody>
          <a:bodyPr wrap="square" anchor="t"/>
          <a:lstStyle/>
          <a:p>
            <a:pPr algn="l">
              <a:defRPr sz="1200" b="0" i="1">
                <a:solidFill>
                  <a:srgbClr val="78909C"/>
                </a:solidFill>
              </a:defRPr>
            </a:pPr>
            <a:r>
              <a:t>Deep dive: docs/product-transcript.md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685800" y="365760"/>
            <a:ext cx="10820095" cy="640080"/>
          </a:xfrm>
          <a:prstGeom prst="rect">
            <a:avLst/>
          </a:prstGeom>
          <a:noFill/>
        </p:spPr>
        <p:txBody>
          <a:bodyPr wrap="square" anchor="t"/>
          <a:lstStyle/>
          <a:p>
            <a:pPr algn="l">
              <a:defRPr sz="2800" b="1" i="0">
                <a:solidFill>
                  <a:srgbClr val="FFFFFF"/>
                </a:solidFill>
              </a:defRPr>
            </a:pPr>
            <a:r>
              <a:t>Why Us, Why Now</a:t>
            </a:r>
          </a:p>
        </p:txBody>
      </p:sp>
      <p:sp>
        <p:nvSpPr>
          <p:cNvPr id="3" name="TextBox 2"/>
          <p:cNvSpPr txBox="1"/>
          <p:nvPr/>
        </p:nvSpPr>
        <p:spPr>
          <a:xfrm>
            <a:off x="685800" y="1554480"/>
            <a:ext cx="10820095" cy="4572000"/>
          </a:xfrm>
          <a:prstGeom prst="rect">
            <a:avLst/>
          </a:prstGeom>
          <a:noFill/>
        </p:spPr>
        <p:txBody>
          <a:bodyPr wrap="square">
            <a:spAutoFit/>
          </a:bodyPr>
          <a:lstStyle/>
          <a:p>
            <a:pPr>
              <a:spcAft>
                <a:spcPts val="600"/>
              </a:spcAft>
              <a:defRPr sz="1800">
                <a:solidFill>
                  <a:srgbClr val="FFFFFF"/>
                </a:solidFill>
              </a:defRPr>
            </a:pPr>
            <a:r>
              <a:t>AI translation layer (Claude) didn't exist 3 years ago — LLMs make the 'dense math to plain English' step possible for the first time</a:t>
            </a:r>
          </a:p>
          <a:p>
            <a:pPr>
              <a:spcAft>
                <a:spcPts val="600"/>
              </a:spcAft>
              <a:defRPr sz="1800">
                <a:solidFill>
                  <a:srgbClr val="FFFFFF"/>
                </a:solidFill>
              </a:defRPr>
            </a:pPr>
            <a:r>
              <a:t>Seeq-style historian integration layers are maturing — connecting to plant data is easier than ever</a:t>
            </a:r>
          </a:p>
          <a:p>
            <a:pPr>
              <a:spcAft>
                <a:spcPts val="600"/>
              </a:spcAft>
              <a:defRPr sz="1800">
                <a:solidFill>
                  <a:srgbClr val="FFFFFF"/>
                </a:solidFill>
              </a:defRPr>
            </a:pPr>
            <a:r>
              <a:t>Incumbent distraction: Emerson/AspenTech merger (through 2027+), Honeywell restructuring into 3 companies, AVEVA post-acquisition integration — they can't respond for 2-4 years</a:t>
            </a:r>
          </a:p>
          <a:p>
            <a:pPr>
              <a:spcAft>
                <a:spcPts val="600"/>
              </a:spcAft>
              <a:defRPr sz="1800">
                <a:solidFill>
                  <a:srgbClr val="FFFFFF"/>
                </a:solidFill>
              </a:defRPr>
            </a:pPr>
            <a:r>
              <a:t>Mid-market is still completely ignored — no one is building for the 60-80 plants between 'too small for enterprise' and 'too complex for nothing'</a:t>
            </a:r>
          </a:p>
          <a:p>
            <a:pPr>
              <a:spcAft>
                <a:spcPts val="600"/>
              </a:spcAft>
              <a:defRPr sz="1800">
                <a:solidFill>
                  <a:srgbClr val="FFFFFF"/>
                </a:solidFill>
              </a:defRPr>
            </a:pPr>
            <a:r>
              <a:t>The market window is 5-7 years before energy transition closures and incumbent response catch up</a:t>
            </a:r>
          </a:p>
        </p:txBody>
      </p:sp>
      <p:sp>
        <p:nvSpPr>
          <p:cNvPr id="4" name="TextBox 3"/>
          <p:cNvSpPr txBox="1"/>
          <p:nvPr/>
        </p:nvSpPr>
        <p:spPr>
          <a:xfrm>
            <a:off x="11505895" y="6492240"/>
            <a:ext cx="457200" cy="274320"/>
          </a:xfrm>
          <a:prstGeom prst="rect">
            <a:avLst/>
          </a:prstGeom>
          <a:noFill/>
        </p:spPr>
        <p:txBody>
          <a:bodyPr wrap="square" anchor="t"/>
          <a:lstStyle/>
          <a:p>
            <a:pPr algn="r">
              <a:defRPr sz="1000" b="0" i="0">
                <a:solidFill>
                  <a:srgbClr val="B0BEC5"/>
                </a:solidFill>
              </a:defRPr>
            </a:pPr>
            <a:r>
              <a:t>7</a:t>
            </a:r>
          </a:p>
        </p:txBody>
      </p:sp>
      <p:sp>
        <p:nvSpPr>
          <p:cNvPr id="5" name="TextBox 4"/>
          <p:cNvSpPr txBox="1"/>
          <p:nvPr/>
        </p:nvSpPr>
        <p:spPr>
          <a:xfrm>
            <a:off x="685800" y="6400800"/>
            <a:ext cx="3657600" cy="274320"/>
          </a:xfrm>
          <a:prstGeom prst="rect">
            <a:avLst/>
          </a:prstGeom>
          <a:noFill/>
        </p:spPr>
        <p:txBody>
          <a:bodyPr wrap="square" anchor="t"/>
          <a:lstStyle/>
          <a:p>
            <a:pPr algn="l">
              <a:defRPr sz="1200" b="0" i="1">
                <a:solidFill>
                  <a:srgbClr val="78909C"/>
                </a:solidFill>
              </a:defRPr>
            </a:pPr>
            <a:r>
              <a:t>Deep dive: docs/product-transcript.md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243B5E"/>
        </a:solidFill>
        <a:effectLst/>
      </p:bgPr>
    </p:bg>
    <p:spTree>
      <p:nvGrpSpPr>
        <p:cNvPr id="1" name=""/>
        <p:cNvGrpSpPr/>
        <p:nvPr/>
      </p:nvGrpSpPr>
      <p:grpSpPr/>
      <p:sp>
        <p:nvSpPr>
          <p:cNvPr id="2" name="TextBox 1"/>
          <p:cNvSpPr txBox="1"/>
          <p:nvPr/>
        </p:nvSpPr>
        <p:spPr>
          <a:xfrm>
            <a:off x="914400" y="2286000"/>
            <a:ext cx="10362895" cy="914400"/>
          </a:xfrm>
          <a:prstGeom prst="rect">
            <a:avLst/>
          </a:prstGeom>
          <a:noFill/>
        </p:spPr>
        <p:txBody>
          <a:bodyPr wrap="square" anchor="ctr"/>
          <a:lstStyle/>
          <a:p>
            <a:pPr algn="ctr">
              <a:defRPr sz="3200" b="1" i="0">
                <a:solidFill>
                  <a:srgbClr val="D4A843"/>
                </a:solidFill>
              </a:defRPr>
            </a:pPr>
            <a:r>
              <a:t>Risk Analysis</a:t>
            </a:r>
          </a:p>
        </p:txBody>
      </p:sp>
      <p:sp>
        <p:nvSpPr>
          <p:cNvPr id="3" name="TextBox 2"/>
          <p:cNvSpPr txBox="1"/>
          <p:nvPr/>
        </p:nvSpPr>
        <p:spPr>
          <a:xfrm>
            <a:off x="914400" y="3383280"/>
            <a:ext cx="10362895" cy="548640"/>
          </a:xfrm>
          <a:prstGeom prst="rect">
            <a:avLst/>
          </a:prstGeom>
          <a:noFill/>
        </p:spPr>
        <p:txBody>
          <a:bodyPr wrap="square" anchor="t"/>
          <a:lstStyle/>
          <a:p>
            <a:pPr algn="ctr">
              <a:defRPr sz="2000" b="0" i="0">
                <a:solidFill>
                  <a:srgbClr val="B0BEC5"/>
                </a:solidFill>
              </a:defRPr>
            </a:pPr>
            <a:r>
              <a:t>What Could Kill This</a:t>
            </a:r>
          </a:p>
        </p:txBody>
      </p:sp>
      <p:sp>
        <p:nvSpPr>
          <p:cNvPr id="4" name="TextBox 3"/>
          <p:cNvSpPr txBox="1"/>
          <p:nvPr/>
        </p:nvSpPr>
        <p:spPr>
          <a:xfrm>
            <a:off x="11505895" y="6492240"/>
            <a:ext cx="457200" cy="274320"/>
          </a:xfrm>
          <a:prstGeom prst="rect">
            <a:avLst/>
          </a:prstGeom>
          <a:noFill/>
        </p:spPr>
        <p:txBody>
          <a:bodyPr wrap="square" anchor="t"/>
          <a:lstStyle/>
          <a:p>
            <a:pPr algn="r">
              <a:defRPr sz="1000" b="0" i="0">
                <a:solidFill>
                  <a:srgbClr val="B0BEC5"/>
                </a:solidFill>
              </a:defRPr>
            </a:pPr>
            <a:r>
              <a:t>8</a:t>
            </a:r>
          </a:p>
        </p:txBody>
      </p:sp>
      <p:sp>
        <p:nvSpPr>
          <p:cNvPr id="5" name="TextBox 4"/>
          <p:cNvSpPr txBox="1"/>
          <p:nvPr/>
        </p:nvSpPr>
        <p:spPr>
          <a:xfrm>
            <a:off x="685800" y="6400800"/>
            <a:ext cx="3657600" cy="274320"/>
          </a:xfrm>
          <a:prstGeom prst="rect">
            <a:avLst/>
          </a:prstGeom>
          <a:noFill/>
        </p:spPr>
        <p:txBody>
          <a:bodyPr wrap="square" anchor="t"/>
          <a:lstStyle/>
          <a:p>
            <a:pPr algn="l">
              <a:defRPr sz="1200" b="0" i="1">
                <a:solidFill>
                  <a:srgbClr val="78909C"/>
                </a:solidFill>
              </a:defRPr>
            </a:pPr>
            <a:r>
              <a:t>Deep dive: research/run1/EXECUTIVE-SUMMARY.md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685800" y="365760"/>
            <a:ext cx="10820095" cy="640080"/>
          </a:xfrm>
          <a:prstGeom prst="rect">
            <a:avLst/>
          </a:prstGeom>
          <a:noFill/>
        </p:spPr>
        <p:txBody>
          <a:bodyPr wrap="square" anchor="t"/>
          <a:lstStyle/>
          <a:p>
            <a:pPr algn="l">
              <a:defRPr sz="2800" b="1" i="0">
                <a:solidFill>
                  <a:srgbClr val="FFFFFF"/>
                </a:solidFill>
              </a:defRPr>
            </a:pPr>
            <a:r>
              <a:t>Top 5 Existential Risks — The Ones That Kill the Company</a:t>
            </a:r>
          </a:p>
        </p:txBody>
      </p:sp>
      <p:sp>
        <p:nvSpPr>
          <p:cNvPr id="3" name="TextBox 2"/>
          <p:cNvSpPr txBox="1"/>
          <p:nvPr/>
        </p:nvSpPr>
        <p:spPr>
          <a:xfrm>
            <a:off x="685800" y="1554480"/>
            <a:ext cx="10820095" cy="4572000"/>
          </a:xfrm>
          <a:prstGeom prst="rect">
            <a:avLst/>
          </a:prstGeom>
          <a:noFill/>
        </p:spPr>
        <p:txBody>
          <a:bodyPr wrap="square">
            <a:spAutoFit/>
          </a:bodyPr>
          <a:lstStyle/>
          <a:p>
            <a:pPr>
              <a:spcAft>
                <a:spcPts val="600"/>
              </a:spcAft>
              <a:defRPr sz="1800">
                <a:solidFill>
                  <a:srgbClr val="FFFFFF"/>
                </a:solidFill>
              </a:defRPr>
            </a:pPr>
            <a:r>
              <a:t>1. Excel COM automation is unsupported by Microsoft for server-side use. Documented failure modes: hangs, zombie processes, 50GB memory leaks, deadlocks. There is no supported path for what we need to do.</a:t>
            </a:r>
          </a:p>
          <a:p>
            <a:pPr>
              <a:spcAft>
                <a:spcPts val="600"/>
              </a:spcAft>
              <a:defRPr sz="1800">
                <a:solidFill>
                  <a:srgbClr val="FFFFFF"/>
                </a:solidFill>
              </a:defRPr>
            </a:pPr>
            <a:r>
              <a:t>2. Slack/Teams doesn't reach refinery operators. They work on DCS consoles in ATEX hazardous zones where standard phones can't be carried. Typing in chemical gloves is physically impossible. Voice-to-text is 65% accurate at industrial noise levels.</a:t>
            </a:r>
          </a:p>
          <a:p>
            <a:pPr>
              <a:spcAft>
                <a:spcPts val="600"/>
              </a:spcAft>
              <a:defRPr sz="1800">
                <a:solidFill>
                  <a:srgbClr val="FFFFFF"/>
                </a:solidFill>
              </a:defRPr>
            </a:pPr>
            <a:r>
              <a:t>3. Student founders can't get a meeting at a refinery. Every successful industrial software startup (Seeq, Imubit, OSIsoft) had founders with 10+ years of process industry experience. Without that, we don't get past the first meeting.</a:t>
            </a:r>
          </a:p>
          <a:p>
            <a:pPr>
              <a:spcAft>
                <a:spcPts val="600"/>
              </a:spcAft>
              <a:defRPr sz="1800">
                <a:solidFill>
                  <a:srgbClr val="FFFFFF"/>
                </a:solidFill>
              </a:defRPr>
            </a:pPr>
            <a:r>
              <a:t>4. The market is smaller and slower than we projected. EIA data shows 60 mid-size US refineries, not 80-120. Real beachhead: 12-24 sites. Sales cycles: 9-18 months. Realistic Year 3 ARR: $2-3M, not $8-15M.</a:t>
            </a:r>
          </a:p>
          <a:p>
            <a:pPr>
              <a:spcAft>
                <a:spcPts val="600"/>
              </a:spcAft>
              <a:defRPr sz="1800">
                <a:solidFill>
                  <a:srgbClr val="FFFFFF"/>
                </a:solidFill>
              </a:defRPr>
            </a:pPr>
            <a:r>
              <a:t>5. Deploying AI in a refinery triggers OSHA PSM regulations, MOC requirements, and union bargaining — 'it's just Slack messages' doesn't exempt us from federal safety law.</a:t>
            </a:r>
          </a:p>
        </p:txBody>
      </p:sp>
      <p:sp>
        <p:nvSpPr>
          <p:cNvPr id="4" name="TextBox 3"/>
          <p:cNvSpPr txBox="1"/>
          <p:nvPr/>
        </p:nvSpPr>
        <p:spPr>
          <a:xfrm>
            <a:off x="11505895" y="6492240"/>
            <a:ext cx="457200" cy="274320"/>
          </a:xfrm>
          <a:prstGeom prst="rect">
            <a:avLst/>
          </a:prstGeom>
          <a:noFill/>
        </p:spPr>
        <p:txBody>
          <a:bodyPr wrap="square" anchor="t"/>
          <a:lstStyle/>
          <a:p>
            <a:pPr algn="r">
              <a:defRPr sz="1000" b="0" i="0">
                <a:solidFill>
                  <a:srgbClr val="B0BEC5"/>
                </a:solidFill>
              </a:defRPr>
            </a:pPr>
            <a:r>
              <a:t>9</a:t>
            </a:r>
          </a:p>
        </p:txBody>
      </p:sp>
      <p:sp>
        <p:nvSpPr>
          <p:cNvPr id="5" name="TextBox 4"/>
          <p:cNvSpPr txBox="1"/>
          <p:nvPr/>
        </p:nvSpPr>
        <p:spPr>
          <a:xfrm>
            <a:off x="685800" y="6400800"/>
            <a:ext cx="3657600" cy="274320"/>
          </a:xfrm>
          <a:prstGeom prst="rect">
            <a:avLst/>
          </a:prstGeom>
          <a:noFill/>
        </p:spPr>
        <p:txBody>
          <a:bodyPr wrap="square" anchor="t"/>
          <a:lstStyle/>
          <a:p>
            <a:pPr algn="l">
              <a:defRPr sz="1200" b="0" i="1">
                <a:solidFill>
                  <a:srgbClr val="78909C"/>
                </a:solidFill>
              </a:defRPr>
            </a:pPr>
            <a:r>
              <a:t>Deep dive: research/run1/EXECUTIVE-SUMMARY.md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685800" y="365760"/>
            <a:ext cx="10820095" cy="640080"/>
          </a:xfrm>
          <a:prstGeom prst="rect">
            <a:avLst/>
          </a:prstGeom>
          <a:noFill/>
        </p:spPr>
        <p:txBody>
          <a:bodyPr wrap="square" anchor="t"/>
          <a:lstStyle/>
          <a:p>
            <a:pPr algn="l">
              <a:defRPr sz="2800" b="1" i="0">
                <a:solidFill>
                  <a:srgbClr val="FFFFFF"/>
                </a:solidFill>
              </a:defRPr>
            </a:pPr>
            <a:r>
              <a:t>Technical Risks: The Architecture Is Built on Unsupported Ground</a:t>
            </a:r>
          </a:p>
        </p:txBody>
      </p:sp>
      <p:sp>
        <p:nvSpPr>
          <p:cNvPr id="3" name="TextBox 2"/>
          <p:cNvSpPr txBox="1"/>
          <p:nvPr/>
        </p:nvSpPr>
        <p:spPr>
          <a:xfrm>
            <a:off x="685800" y="1005840"/>
            <a:ext cx="10820095" cy="457200"/>
          </a:xfrm>
          <a:prstGeom prst="rect">
            <a:avLst/>
          </a:prstGeom>
          <a:noFill/>
        </p:spPr>
        <p:txBody>
          <a:bodyPr wrap="square" anchor="t"/>
          <a:lstStyle/>
          <a:p>
            <a:pPr algn="l">
              <a:defRPr sz="2000" b="0" i="0">
                <a:solidFill>
                  <a:srgbClr val="B0BEC5"/>
                </a:solidFill>
              </a:defRPr>
            </a:pPr>
            <a:r>
              <a:t>Severity-ranked findings from adversarial technical research</a:t>
            </a:r>
          </a:p>
        </p:txBody>
      </p:sp>
      <p:sp>
        <p:nvSpPr>
          <p:cNvPr id="4" name="TextBox 3"/>
          <p:cNvSpPr txBox="1"/>
          <p:nvPr/>
        </p:nvSpPr>
        <p:spPr>
          <a:xfrm>
            <a:off x="685800" y="1737360"/>
            <a:ext cx="10820095" cy="4389120"/>
          </a:xfrm>
          <a:prstGeom prst="rect">
            <a:avLst/>
          </a:prstGeom>
          <a:noFill/>
        </p:spPr>
        <p:txBody>
          <a:bodyPr wrap="square">
            <a:spAutoFit/>
          </a:bodyPr>
          <a:lstStyle/>
          <a:p>
            <a:pPr>
              <a:spcAft>
                <a:spcPts val="600"/>
              </a:spcAft>
              <a:defRPr sz="1800">
                <a:solidFill>
                  <a:srgbClr val="FFFFFF"/>
                </a:solidFill>
              </a:defRPr>
            </a:pPr>
            <a:r>
              <a:t>CRITICAL — Excel COM: Microsoft docs say 'do not recommend or support server-side Automation of Office.' Failure modes include modal dialog hangs, ContextSwitchDeadlock, 50GB memory leaks, zombie processes. VBA/COM add-ins force single-threaded execution: 30sec-7min per LP solve, no parallelization.</a:t>
            </a:r>
          </a:p>
          <a:p>
            <a:pPr>
              <a:spcAft>
                <a:spcPts val="600"/>
              </a:spcAft>
              <a:defRPr sz="1800">
                <a:solidFill>
                  <a:srgbClr val="FFFFFF"/>
                </a:solidFill>
              </a:defRPr>
            </a:pPr>
            <a:r>
              <a:t>CRITICAL — Proprietary LP solvers: Many mid-size refineries use Aspen PIMS (400+ refineries globally), Haverly GRTMPS, or Honeywell RPMS — not Excel Solver. If our target customers use these, our Excel automation approach doesn't work at all.</a:t>
            </a:r>
          </a:p>
          <a:p>
            <a:pPr>
              <a:spcAft>
                <a:spcPts val="600"/>
              </a:spcAft>
              <a:defRPr sz="1800">
                <a:solidFill>
                  <a:srgbClr val="FFFFFF"/>
                </a:solidFill>
              </a:defRPr>
            </a:pPr>
            <a:r>
              <a:t>CRITICAL — LLM hallucination: LLMs repeat planted numerical errors in 83% of cases. Misreading '2.3 MBPD' as '23 MBPD' in a refinery is not a UX bug — it's a safety incident.</a:t>
            </a:r>
          </a:p>
          <a:p>
            <a:pPr>
              <a:spcAft>
                <a:spcPts val="600"/>
              </a:spcAft>
              <a:defRPr sz="1800">
                <a:solidFill>
                  <a:srgbClr val="FFFFFF"/>
                </a:solidFill>
              </a:defRPr>
            </a:pPr>
            <a:r>
              <a:t>CRITICAL — Shutdown/startup floods: 50% of safety incidents occur during startup/shutdown. If Reflex fires recommendations during these periods, operators get flooded at exactly the moment they can't process them.</a:t>
            </a:r>
          </a:p>
        </p:txBody>
      </p:sp>
      <p:sp>
        <p:nvSpPr>
          <p:cNvPr id="5" name="TextBox 4"/>
          <p:cNvSpPr txBox="1"/>
          <p:nvPr/>
        </p:nvSpPr>
        <p:spPr>
          <a:xfrm>
            <a:off x="11505895" y="6492240"/>
            <a:ext cx="457200" cy="274320"/>
          </a:xfrm>
          <a:prstGeom prst="rect">
            <a:avLst/>
          </a:prstGeom>
          <a:noFill/>
        </p:spPr>
        <p:txBody>
          <a:bodyPr wrap="square" anchor="t"/>
          <a:lstStyle/>
          <a:p>
            <a:pPr algn="r">
              <a:defRPr sz="1000" b="0" i="0">
                <a:solidFill>
                  <a:srgbClr val="B0BEC5"/>
                </a:solidFill>
              </a:defRPr>
            </a:pPr>
            <a:r>
              <a:t>10</a:t>
            </a:r>
          </a:p>
        </p:txBody>
      </p:sp>
      <p:sp>
        <p:nvSpPr>
          <p:cNvPr id="6" name="TextBox 5"/>
          <p:cNvSpPr txBox="1"/>
          <p:nvPr/>
        </p:nvSpPr>
        <p:spPr>
          <a:xfrm>
            <a:off x="685800" y="6400800"/>
            <a:ext cx="3657600" cy="274320"/>
          </a:xfrm>
          <a:prstGeom prst="rect">
            <a:avLst/>
          </a:prstGeom>
          <a:noFill/>
        </p:spPr>
        <p:txBody>
          <a:bodyPr wrap="square" anchor="t"/>
          <a:lstStyle/>
          <a:p>
            <a:pPr algn="l">
              <a:defRPr sz="1200" b="0" i="1">
                <a:solidFill>
                  <a:srgbClr val="78909C"/>
                </a:solidFill>
              </a:defRPr>
            </a:pPr>
            <a:r>
              <a:t>Deep dive: research/run1/technical-risks.md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685800" y="365760"/>
            <a:ext cx="10820095" cy="640080"/>
          </a:xfrm>
          <a:prstGeom prst="rect">
            <a:avLst/>
          </a:prstGeom>
          <a:noFill/>
        </p:spPr>
        <p:txBody>
          <a:bodyPr wrap="square" anchor="t"/>
          <a:lstStyle/>
          <a:p>
            <a:pPr algn="l">
              <a:defRPr sz="2800" b="1" i="0">
                <a:solidFill>
                  <a:srgbClr val="FFFFFF"/>
                </a:solidFill>
              </a:defRPr>
            </a:pPr>
            <a:r>
              <a:t>Technical Risks: Full Severity Ranking</a:t>
            </a:r>
          </a:p>
        </p:txBody>
      </p:sp>
      <p:graphicFrame>
        <p:nvGraphicFramePr>
          <p:cNvPr id="3" name="Table 2"/>
          <p:cNvGraphicFramePr>
            <a:graphicFrameLocks noGrp="1"/>
          </p:cNvGraphicFramePr>
          <p:nvPr/>
        </p:nvGraphicFramePr>
        <p:xfrm>
          <a:off x="685800" y="1554480"/>
          <a:ext cx="10820095" cy="4572000.0"/>
        </p:xfrm>
        <a:graphic>
          <a:graphicData uri="http://schemas.openxmlformats.org/drawingml/2006/table">
            <a:tbl>
              <a:tblPr firstRow="1" bandRow="1">
                <a:tableStyleId>{5C22544A-7EE6-4342-B048-85BDC9FD1C3A}</a:tableStyleId>
              </a:tblPr>
              <a:tblGrid>
                <a:gridCol w="3606698"/>
                <a:gridCol w="3606698"/>
                <a:gridCol w="3606699"/>
              </a:tblGrid>
              <a:tr h="415636">
                <a:tc>
                  <a:txBody>
                    <a:bodyPr/>
                    <a:lstStyle/>
                    <a:p>
                      <a:pPr>
                        <a:defRPr sz="1400" b="1">
                          <a:solidFill>
                            <a:srgbClr val="D4A843"/>
                          </a:solidFill>
                        </a:defRPr>
                      </a:pPr>
                      <a:r>
                        <a:t>Risk</a:t>
                      </a:r>
                    </a:p>
                  </a:txBody>
                  <a:tcPr>
                    <a:solidFill>
                      <a:srgbClr val="15223A"/>
                    </a:solidFill>
                  </a:tcPr>
                </a:tc>
                <a:tc>
                  <a:txBody>
                    <a:bodyPr/>
                    <a:lstStyle/>
                    <a:p>
                      <a:pPr>
                        <a:defRPr sz="1400" b="1">
                          <a:solidFill>
                            <a:srgbClr val="D4A843"/>
                          </a:solidFill>
                        </a:defRPr>
                      </a:pPr>
                      <a:r>
                        <a:t>Severity</a:t>
                      </a:r>
                    </a:p>
                  </a:txBody>
                  <a:tcPr>
                    <a:solidFill>
                      <a:srgbClr val="15223A"/>
                    </a:solidFill>
                  </a:tcPr>
                </a:tc>
                <a:tc>
                  <a:txBody>
                    <a:bodyPr/>
                    <a:lstStyle/>
                    <a:p>
                      <a:pPr>
                        <a:defRPr sz="1400" b="1">
                          <a:solidFill>
                            <a:srgbClr val="D4A843"/>
                          </a:solidFill>
                        </a:defRPr>
                      </a:pPr>
                      <a:r>
                        <a:t>Mitigation</a:t>
                      </a:r>
                    </a:p>
                  </a:txBody>
                  <a:tcPr>
                    <a:solidFill>
                      <a:srgbClr val="15223A"/>
                    </a:solidFill>
                  </a:tcPr>
                </a:tc>
              </a:tr>
              <a:tr h="415636">
                <a:tc>
                  <a:txBody>
                    <a:bodyPr/>
                    <a:lstStyle/>
                    <a:p>
                      <a:pPr>
                        <a:defRPr sz="1200">
                          <a:solidFill>
                            <a:srgbClr val="FFFFFF"/>
                          </a:solidFill>
                        </a:defRPr>
                      </a:pPr>
                      <a:r>
                        <a:t>OT network security (Purdue model) forces edge deployment</a:t>
                      </a:r>
                    </a:p>
                  </a:txBody>
                  <a:tcPr>
                    <a:solidFill>
                      <a:srgbClr val="1B2A4A"/>
                    </a:solidFill>
                  </a:tcPr>
                </a:tc>
                <a:tc>
                  <a:txBody>
                    <a:bodyPr/>
                    <a:lstStyle/>
                    <a:p>
                      <a:pPr>
                        <a:defRPr sz="1200" b="1">
                          <a:solidFill>
                            <a:srgbClr val="C0392B"/>
                          </a:solidFill>
                        </a:defRPr>
                      </a:pPr>
                      <a:r>
                        <a:t>CRITICAL</a:t>
                      </a:r>
                    </a:p>
                  </a:txBody>
                  <a:tcPr>
                    <a:solidFill>
                      <a:srgbClr val="1B2A4A"/>
                    </a:solidFill>
                  </a:tcPr>
                </a:tc>
                <a:tc>
                  <a:txBody>
                    <a:bodyPr/>
                    <a:lstStyle/>
                    <a:p>
                      <a:pPr>
                        <a:defRPr sz="1200">
                          <a:solidFill>
                            <a:srgbClr val="FFFFFF"/>
                          </a:solidFill>
                        </a:defRPr>
                      </a:pPr>
                      <a:r>
                        <a:t>Build Reflex Edge Agent in customer DMZ; never require inbound firewall rules</a:t>
                      </a:r>
                    </a:p>
                  </a:txBody>
                  <a:tcPr>
                    <a:solidFill>
                      <a:srgbClr val="1B2A4A"/>
                    </a:solidFill>
                  </a:tcPr>
                </a:tc>
              </a:tr>
              <a:tr h="415636">
                <a:tc>
                  <a:txBody>
                    <a:bodyPr/>
                    <a:lstStyle/>
                    <a:p>
                      <a:pPr>
                        <a:defRPr sz="1200">
                          <a:solidFill>
                            <a:srgbClr val="FFFFFF"/>
                          </a:solidFill>
                        </a:defRPr>
                      </a:pPr>
                      <a:r>
                        <a:t>Excel COM automation unsupported for server-side use</a:t>
                      </a:r>
                    </a:p>
                  </a:txBody>
                  <a:tcPr>
                    <a:solidFill>
                      <a:srgbClr val="223656"/>
                    </a:solidFill>
                  </a:tcPr>
                </a:tc>
                <a:tc>
                  <a:txBody>
                    <a:bodyPr/>
                    <a:lstStyle/>
                    <a:p>
                      <a:pPr>
                        <a:defRPr sz="1200" b="1">
                          <a:solidFill>
                            <a:srgbClr val="C0392B"/>
                          </a:solidFill>
                        </a:defRPr>
                      </a:pPr>
                      <a:r>
                        <a:t>CRITICAL</a:t>
                      </a:r>
                    </a:p>
                  </a:txBody>
                  <a:tcPr>
                    <a:solidFill>
                      <a:srgbClr val="223656"/>
                    </a:solidFill>
                  </a:tcPr>
                </a:tc>
                <a:tc>
                  <a:txBody>
                    <a:bodyPr/>
                    <a:lstStyle/>
                    <a:p>
                      <a:pPr>
                        <a:defRPr sz="1200">
                          <a:solidFill>
                            <a:srgbClr val="FFFFFF"/>
                          </a:solidFill>
                        </a:defRPr>
                      </a:pPr>
                      <a:r>
                        <a:t>Validate on real LP model for 72+ hours; invest in Python LP engine escape hatch</a:t>
                      </a:r>
                    </a:p>
                  </a:txBody>
                  <a:tcPr>
                    <a:solidFill>
                      <a:srgbClr val="223656"/>
                    </a:solidFill>
                  </a:tcPr>
                </a:tc>
              </a:tr>
              <a:tr h="415636">
                <a:tc>
                  <a:txBody>
                    <a:bodyPr/>
                    <a:lstStyle/>
                    <a:p>
                      <a:pPr>
                        <a:defRPr sz="1200">
                          <a:solidFill>
                            <a:srgbClr val="FFFFFF"/>
                          </a:solidFill>
                        </a:defRPr>
                      </a:pPr>
                      <a:r>
                        <a:t>Proprietary LP solvers (PIMS/GRTMPS) block core architecture</a:t>
                      </a:r>
                    </a:p>
                  </a:txBody>
                  <a:tcPr>
                    <a:solidFill>
                      <a:srgbClr val="1B2A4A"/>
                    </a:solidFill>
                  </a:tcPr>
                </a:tc>
                <a:tc>
                  <a:txBody>
                    <a:bodyPr/>
                    <a:lstStyle/>
                    <a:p>
                      <a:pPr>
                        <a:defRPr sz="1200" b="1">
                          <a:solidFill>
                            <a:srgbClr val="C0392B"/>
                          </a:solidFill>
                        </a:defRPr>
                      </a:pPr>
                      <a:r>
                        <a:t>CRITICAL</a:t>
                      </a:r>
                    </a:p>
                  </a:txBody>
                  <a:tcPr>
                    <a:solidFill>
                      <a:srgbClr val="1B2A4A"/>
                    </a:solidFill>
                  </a:tcPr>
                </a:tc>
                <a:tc>
                  <a:txBody>
                    <a:bodyPr/>
                    <a:lstStyle/>
                    <a:p>
                      <a:pPr>
                        <a:defRPr sz="1200">
                          <a:solidFill>
                            <a:srgbClr val="FFFFFF"/>
                          </a:solidFill>
                        </a:defRPr>
                      </a:pPr>
                      <a:r>
                        <a:t>Survey 10-15 refineries immediately; segment market by LP tool</a:t>
                      </a:r>
                    </a:p>
                  </a:txBody>
                  <a:tcPr>
                    <a:solidFill>
                      <a:srgbClr val="1B2A4A"/>
                    </a:solidFill>
                  </a:tcPr>
                </a:tc>
              </a:tr>
              <a:tr h="415636">
                <a:tc>
                  <a:txBody>
                    <a:bodyPr/>
                    <a:lstStyle/>
                    <a:p>
                      <a:pPr>
                        <a:defRPr sz="1200">
                          <a:solidFill>
                            <a:srgbClr val="FFFFFF"/>
                          </a:solidFill>
                        </a:defRPr>
                      </a:pPr>
                      <a:r>
                        <a:t>Shutdown/startup floods false recommendations</a:t>
                      </a:r>
                    </a:p>
                  </a:txBody>
                  <a:tcPr>
                    <a:solidFill>
                      <a:srgbClr val="223656"/>
                    </a:solidFill>
                  </a:tcPr>
                </a:tc>
                <a:tc>
                  <a:txBody>
                    <a:bodyPr/>
                    <a:lstStyle/>
                    <a:p>
                      <a:pPr>
                        <a:defRPr sz="1200" b="1">
                          <a:solidFill>
                            <a:srgbClr val="C0392B"/>
                          </a:solidFill>
                        </a:defRPr>
                      </a:pPr>
                      <a:r>
                        <a:t>CRITICAL</a:t>
                      </a:r>
                    </a:p>
                  </a:txBody>
                  <a:tcPr>
                    <a:solidFill>
                      <a:srgbClr val="223656"/>
                    </a:solidFill>
                  </a:tcPr>
                </a:tc>
                <a:tc>
                  <a:txBody>
                    <a:bodyPr/>
                    <a:lstStyle/>
                    <a:p>
                      <a:pPr>
                        <a:defRPr sz="1200">
                          <a:solidFill>
                            <a:srgbClr val="FFFFFF"/>
                          </a:solidFill>
                        </a:defRPr>
                      </a:pPr>
                      <a:r>
                        <a:t>Operating mode detection system; auto-suppress during non-normal modes</a:t>
                      </a:r>
                    </a:p>
                  </a:txBody>
                  <a:tcPr>
                    <a:solidFill>
                      <a:srgbClr val="223656"/>
                    </a:solidFill>
                  </a:tcPr>
                </a:tc>
              </a:tr>
              <a:tr h="415636">
                <a:tc>
                  <a:txBody>
                    <a:bodyPr/>
                    <a:lstStyle/>
                    <a:p>
                      <a:pPr>
                        <a:defRPr sz="1200">
                          <a:solidFill>
                            <a:srgbClr val="FFFFFF"/>
                          </a:solidFill>
                        </a:defRPr>
                      </a:pPr>
                      <a:r>
                        <a:t>LLM numerical hallucination in safety-critical context</a:t>
                      </a:r>
                    </a:p>
                  </a:txBody>
                  <a:tcPr>
                    <a:solidFill>
                      <a:srgbClr val="1B2A4A"/>
                    </a:solidFill>
                  </a:tcPr>
                </a:tc>
                <a:tc>
                  <a:txBody>
                    <a:bodyPr/>
                    <a:lstStyle/>
                    <a:p>
                      <a:pPr>
                        <a:defRPr sz="1200" b="1">
                          <a:solidFill>
                            <a:srgbClr val="C0392B"/>
                          </a:solidFill>
                        </a:defRPr>
                      </a:pPr>
                      <a:r>
                        <a:t>CRITICAL</a:t>
                      </a:r>
                    </a:p>
                  </a:txBody>
                  <a:tcPr>
                    <a:solidFill>
                      <a:srgbClr val="1B2A4A"/>
                    </a:solidFill>
                  </a:tcPr>
                </a:tc>
                <a:tc>
                  <a:txBody>
                    <a:bodyPr/>
                    <a:lstStyle/>
                    <a:p>
                      <a:pPr>
                        <a:defRPr sz="1200">
                          <a:solidFill>
                            <a:srgbClr val="FFFFFF"/>
                          </a:solidFill>
                        </a:defRPr>
                      </a:pPr>
                      <a:r>
                        <a:t>Decouple numbers from LLM entirely; programmatic extraction + cross-validation</a:t>
                      </a:r>
                    </a:p>
                  </a:txBody>
                  <a:tcPr>
                    <a:solidFill>
                      <a:srgbClr val="1B2A4A"/>
                    </a:solidFill>
                  </a:tcPr>
                </a:tc>
              </a:tr>
              <a:tr h="415636">
                <a:tc>
                  <a:txBody>
                    <a:bodyPr/>
                    <a:lstStyle/>
                    <a:p>
                      <a:pPr>
                        <a:defRPr sz="1200">
                          <a:solidFill>
                            <a:srgbClr val="FFFFFF"/>
                          </a:solidFill>
                        </a:defRPr>
                      </a:pPr>
                      <a:r>
                        <a:t>Sensor glitches vs. real process changes</a:t>
                      </a:r>
                    </a:p>
                  </a:txBody>
                  <a:tcPr>
                    <a:solidFill>
                      <a:srgbClr val="223656"/>
                    </a:solidFill>
                  </a:tcPr>
                </a:tc>
                <a:tc>
                  <a:txBody>
                    <a:bodyPr/>
                    <a:lstStyle/>
                    <a:p>
                      <a:pPr>
                        <a:defRPr sz="1200" b="1">
                          <a:solidFill>
                            <a:srgbClr val="E67E22"/>
                          </a:solidFill>
                        </a:defRPr>
                      </a:pPr>
                      <a:r>
                        <a:t>HIGH</a:t>
                      </a:r>
                    </a:p>
                  </a:txBody>
                  <a:tcPr>
                    <a:solidFill>
                      <a:srgbClr val="223656"/>
                    </a:solidFill>
                  </a:tcPr>
                </a:tc>
                <a:tc>
                  <a:txBody>
                    <a:bodyPr/>
                    <a:lstStyle/>
                    <a:p>
                      <a:pPr>
                        <a:defRPr sz="1200">
                          <a:solidFill>
                            <a:srgbClr val="FFFFFF"/>
                          </a:solidFill>
                        </a:defRPr>
                      </a:pPr>
                      <a:r>
                        <a:t>Never trigger on single sensor; require multi-signal corroboration</a:t>
                      </a:r>
                    </a:p>
                  </a:txBody>
                  <a:tcPr>
                    <a:solidFill>
                      <a:srgbClr val="223656"/>
                    </a:solidFill>
                  </a:tcPr>
                </a:tc>
              </a:tr>
              <a:tr h="415636">
                <a:tc>
                  <a:txBody>
                    <a:bodyPr/>
                    <a:lstStyle/>
                    <a:p>
                      <a:pPr>
                        <a:defRPr sz="1200">
                          <a:solidFill>
                            <a:srgbClr val="FFFFFF"/>
                          </a:solidFill>
                        </a:defRPr>
                      </a:pPr>
                      <a:r>
                        <a:t>PI System integration complexity (Kerberos/Windows)</a:t>
                      </a:r>
                    </a:p>
                  </a:txBody>
                  <a:tcPr>
                    <a:solidFill>
                      <a:srgbClr val="1B2A4A"/>
                    </a:solidFill>
                  </a:tcPr>
                </a:tc>
                <a:tc>
                  <a:txBody>
                    <a:bodyPr/>
                    <a:lstStyle/>
                    <a:p>
                      <a:pPr>
                        <a:defRPr sz="1200" b="1">
                          <a:solidFill>
                            <a:srgbClr val="E67E22"/>
                          </a:solidFill>
                        </a:defRPr>
                      </a:pPr>
                      <a:r>
                        <a:t>HIGH</a:t>
                      </a:r>
                    </a:p>
                  </a:txBody>
                  <a:tcPr>
                    <a:solidFill>
                      <a:srgbClr val="1B2A4A"/>
                    </a:solidFill>
                  </a:tcPr>
                </a:tc>
                <a:tc>
                  <a:txBody>
                    <a:bodyPr/>
                    <a:lstStyle/>
                    <a:p>
                      <a:pPr>
                        <a:defRPr sz="1200">
                          <a:solidFill>
                            <a:srgbClr val="FFFFFF"/>
                          </a:solidFill>
                        </a:defRPr>
                      </a:pPr>
                      <a:r>
                        <a:t>Target PI Web API; budget 2-4 weeks per customer</a:t>
                      </a:r>
                    </a:p>
                  </a:txBody>
                  <a:tcPr>
                    <a:solidFill>
                      <a:srgbClr val="1B2A4A"/>
                    </a:solidFill>
                  </a:tcPr>
                </a:tc>
              </a:tr>
              <a:tr h="415636">
                <a:tc>
                  <a:txBody>
                    <a:bodyPr/>
                    <a:lstStyle/>
                    <a:p>
                      <a:pPr>
                        <a:defRPr sz="1200">
                          <a:solidFill>
                            <a:srgbClr val="FFFFFF"/>
                          </a:solidFill>
                        </a:defRPr>
                      </a:pPr>
                      <a:r>
                        <a:t>Market data feed costs ($10-50K+/yr)</a:t>
                      </a:r>
                    </a:p>
                  </a:txBody>
                  <a:tcPr>
                    <a:solidFill>
                      <a:srgbClr val="223656"/>
                    </a:solidFill>
                  </a:tcPr>
                </a:tc>
                <a:tc>
                  <a:txBody>
                    <a:bodyPr/>
                    <a:lstStyle/>
                    <a:p>
                      <a:pPr>
                        <a:defRPr sz="1200" b="1">
                          <a:solidFill>
                            <a:srgbClr val="E67E22"/>
                          </a:solidFill>
                        </a:defRPr>
                      </a:pPr>
                      <a:r>
                        <a:t>HIGH</a:t>
                      </a:r>
                    </a:p>
                  </a:txBody>
                  <a:tcPr>
                    <a:solidFill>
                      <a:srgbClr val="223656"/>
                    </a:solidFill>
                  </a:tcPr>
                </a:tc>
                <a:tc>
                  <a:txBody>
                    <a:bodyPr/>
                    <a:lstStyle/>
                    <a:p>
                      <a:pPr>
                        <a:defRPr sz="1200">
                          <a:solidFill>
                            <a:srgbClr val="FFFFFF"/>
                          </a:solidFill>
                        </a:defRPr>
                      </a:pPr>
                      <a:r>
                        <a:t>Bring your own data' model eliminates cost and licensing risk</a:t>
                      </a:r>
                    </a:p>
                  </a:txBody>
                  <a:tcPr>
                    <a:solidFill>
                      <a:srgbClr val="223656"/>
                    </a:solidFill>
                  </a:tcPr>
                </a:tc>
              </a:tr>
              <a:tr h="415636">
                <a:tc>
                  <a:txBody>
                    <a:bodyPr/>
                    <a:lstStyle/>
                    <a:p>
                      <a:pPr>
                        <a:defRPr sz="1200">
                          <a:solidFill>
                            <a:srgbClr val="FFFFFF"/>
                          </a:solidFill>
                        </a:defRPr>
                      </a:pPr>
                      <a:r>
                        <a:t>Historian compression artifacts / stale data</a:t>
                      </a:r>
                    </a:p>
                  </a:txBody>
                  <a:tcPr>
                    <a:solidFill>
                      <a:srgbClr val="1B2A4A"/>
                    </a:solidFill>
                  </a:tcPr>
                </a:tc>
                <a:tc>
                  <a:txBody>
                    <a:bodyPr/>
                    <a:lstStyle/>
                    <a:p>
                      <a:pPr>
                        <a:defRPr sz="1200" b="1">
                          <a:solidFill>
                            <a:srgbClr val="E67E22"/>
                          </a:solidFill>
                        </a:defRPr>
                      </a:pPr>
                      <a:r>
                        <a:t>HIGH</a:t>
                      </a:r>
                    </a:p>
                  </a:txBody>
                  <a:tcPr>
                    <a:solidFill>
                      <a:srgbClr val="1B2A4A"/>
                    </a:solidFill>
                  </a:tcPr>
                </a:tc>
                <a:tc>
                  <a:txBody>
                    <a:bodyPr/>
                    <a:lstStyle/>
                    <a:p>
                      <a:pPr>
                        <a:defRPr sz="1200">
                          <a:solidFill>
                            <a:srgbClr val="FFFFFF"/>
                          </a:solidFill>
                        </a:defRPr>
                      </a:pPr>
                      <a:r>
                        <a:t>Build Data Quality Gateway; audit compression settings per tag</a:t>
                      </a:r>
                    </a:p>
                  </a:txBody>
                  <a:tcPr>
                    <a:solidFill>
                      <a:srgbClr val="1B2A4A"/>
                    </a:solidFill>
                  </a:tcPr>
                </a:tc>
              </a:tr>
              <a:tr h="415640">
                <a:tc>
                  <a:txBody>
                    <a:bodyPr/>
                    <a:lstStyle/>
                    <a:p>
                      <a:pPr>
                        <a:defRPr sz="1200">
                          <a:solidFill>
                            <a:srgbClr val="FFFFFF"/>
                          </a:solidFill>
                        </a:defRPr>
                      </a:pPr>
                      <a:r>
                        <a:t>Excel single-threaded performance floor (30sec-7min)</a:t>
                      </a:r>
                    </a:p>
                  </a:txBody>
                  <a:tcPr>
                    <a:solidFill>
                      <a:srgbClr val="223656"/>
                    </a:solidFill>
                  </a:tcPr>
                </a:tc>
                <a:tc>
                  <a:txBody>
                    <a:bodyPr/>
                    <a:lstStyle/>
                    <a:p>
                      <a:pPr>
                        <a:defRPr sz="1200" b="1">
                          <a:solidFill>
                            <a:srgbClr val="E67E22"/>
                          </a:solidFill>
                        </a:defRPr>
                      </a:pPr>
                      <a:r>
                        <a:t>HIGH</a:t>
                      </a:r>
                    </a:p>
                  </a:txBody>
                  <a:tcPr>
                    <a:solidFill>
                      <a:srgbClr val="223656"/>
                    </a:solidFill>
                  </a:tcPr>
                </a:tc>
                <a:tc>
                  <a:txBody>
                    <a:bodyPr/>
                    <a:lstStyle/>
                    <a:p>
                      <a:pPr>
                        <a:defRPr sz="1200">
                          <a:solidFill>
                            <a:srgbClr val="FFFFFF"/>
                          </a:solidFill>
                        </a:defRPr>
                      </a:pPr>
                      <a:r>
                        <a:t>Queue backpressure; coalesce triggers; mandate 64-bit Excel</a:t>
                      </a:r>
                    </a:p>
                  </a:txBody>
                  <a:tcPr>
                    <a:solidFill>
                      <a:srgbClr val="223656"/>
                    </a:solidFill>
                  </a:tcPr>
                </a:tc>
              </a:tr>
            </a:tbl>
          </a:graphicData>
        </a:graphic>
      </p:graphicFrame>
      <p:sp>
        <p:nvSpPr>
          <p:cNvPr id="4" name="TextBox 3"/>
          <p:cNvSpPr txBox="1"/>
          <p:nvPr/>
        </p:nvSpPr>
        <p:spPr>
          <a:xfrm>
            <a:off x="11505895" y="6492240"/>
            <a:ext cx="457200" cy="274320"/>
          </a:xfrm>
          <a:prstGeom prst="rect">
            <a:avLst/>
          </a:prstGeom>
          <a:noFill/>
        </p:spPr>
        <p:txBody>
          <a:bodyPr wrap="square" anchor="t"/>
          <a:lstStyle/>
          <a:p>
            <a:pPr algn="r">
              <a:defRPr sz="1000" b="0" i="0">
                <a:solidFill>
                  <a:srgbClr val="B0BEC5"/>
                </a:solidFill>
              </a:defRPr>
            </a:pPr>
            <a:r>
              <a:t>11</a:t>
            </a:r>
          </a:p>
        </p:txBody>
      </p:sp>
      <p:sp>
        <p:nvSpPr>
          <p:cNvPr id="5" name="TextBox 4"/>
          <p:cNvSpPr txBox="1"/>
          <p:nvPr/>
        </p:nvSpPr>
        <p:spPr>
          <a:xfrm>
            <a:off x="685800" y="6400800"/>
            <a:ext cx="3657600" cy="274320"/>
          </a:xfrm>
          <a:prstGeom prst="rect">
            <a:avLst/>
          </a:prstGeom>
          <a:noFill/>
        </p:spPr>
        <p:txBody>
          <a:bodyPr wrap="square" anchor="t"/>
          <a:lstStyle/>
          <a:p>
            <a:pPr algn="l">
              <a:defRPr sz="1200" b="0" i="1">
                <a:solidFill>
                  <a:srgbClr val="78909C"/>
                </a:solidFill>
              </a:defRPr>
            </a:pPr>
            <a:r>
              <a:t>Deep dive: research/run1/technical-risks.md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685800" y="365760"/>
            <a:ext cx="10820095" cy="640080"/>
          </a:xfrm>
          <a:prstGeom prst="rect">
            <a:avLst/>
          </a:prstGeom>
          <a:noFill/>
        </p:spPr>
        <p:txBody>
          <a:bodyPr wrap="square" anchor="t"/>
          <a:lstStyle/>
          <a:p>
            <a:pPr algn="l">
              <a:defRPr sz="2800" b="1" i="0">
                <a:solidFill>
                  <a:srgbClr val="FFFFFF"/>
                </a:solidFill>
              </a:defRPr>
            </a:pPr>
            <a:r>
              <a:t>Business Risks: Smaller Market, Longer Sales, Credibility Gap</a:t>
            </a:r>
          </a:p>
        </p:txBody>
      </p:sp>
      <p:sp>
        <p:nvSpPr>
          <p:cNvPr id="3" name="TextBox 2"/>
          <p:cNvSpPr txBox="1"/>
          <p:nvPr/>
        </p:nvSpPr>
        <p:spPr>
          <a:xfrm>
            <a:off x="685800" y="1005840"/>
            <a:ext cx="10820095" cy="457200"/>
          </a:xfrm>
          <a:prstGeom prst="rect">
            <a:avLst/>
          </a:prstGeom>
          <a:noFill/>
        </p:spPr>
        <p:txBody>
          <a:bodyPr wrap="square" anchor="t"/>
          <a:lstStyle/>
          <a:p>
            <a:pPr algn="l">
              <a:defRPr sz="2000" b="0" i="0">
                <a:solidFill>
                  <a:srgbClr val="B0BEC5"/>
                </a:solidFill>
              </a:defRPr>
            </a:pPr>
            <a:r>
              <a:t>Findings from independent validation of every business claim</a:t>
            </a:r>
          </a:p>
        </p:txBody>
      </p:sp>
      <p:sp>
        <p:nvSpPr>
          <p:cNvPr id="4" name="TextBox 3"/>
          <p:cNvSpPr txBox="1"/>
          <p:nvPr/>
        </p:nvSpPr>
        <p:spPr>
          <a:xfrm>
            <a:off x="685800" y="1737360"/>
            <a:ext cx="10820095" cy="4389120"/>
          </a:xfrm>
          <a:prstGeom prst="rect">
            <a:avLst/>
          </a:prstGeom>
          <a:noFill/>
        </p:spPr>
        <p:txBody>
          <a:bodyPr wrap="square">
            <a:spAutoFit/>
          </a:bodyPr>
          <a:lstStyle/>
          <a:p>
            <a:pPr>
              <a:spcAft>
                <a:spcPts val="600"/>
              </a:spcAft>
              <a:defRPr sz="1800">
                <a:solidFill>
                  <a:srgbClr val="FFFFFF"/>
                </a:solidFill>
              </a:defRPr>
            </a:pPr>
            <a:r>
              <a:t>CRITICAL — Team credibility gap: Every successful industrial software startup had founders with 10+ years of process industry experience. A sales rep who can't distinguish a CDU from a coker gets dismissed in the first meeting. The refinery world is tiny — one bad impression travels fast.</a:t>
            </a:r>
          </a:p>
          <a:p>
            <a:pPr>
              <a:spcAft>
                <a:spcPts val="600"/>
              </a:spcAft>
              <a:defRPr sz="1800">
                <a:solidFill>
                  <a:srgbClr val="FFFFFF"/>
                </a:solidFill>
              </a:defRPr>
            </a:pPr>
            <a:r>
              <a:t>CRITICAL — Brutal sales cycle: 9-18 months with multi-stakeholder sign-off (ops, engineering, IT, OT, safety, procurement, legal, C-suite). Getting on Approved Vendor List alone takes 3-6 months. Oil &amp; gas is 'infamous for stalled deals, endless customization requests, and legacy tech headaches.'</a:t>
            </a:r>
          </a:p>
          <a:p>
            <a:pPr>
              <a:spcAft>
                <a:spcPts val="600"/>
              </a:spcAft>
              <a:defRPr sz="1800">
                <a:solidFill>
                  <a:srgbClr val="FFFFFF"/>
                </a:solidFill>
              </a:defRPr>
            </a:pPr>
            <a:r>
              <a:t>HIGH — Overstated TAM: EIA data shows exactly 60 mid-size US refineries (50K-200K bbl/day), ~68-70 including Canada. Many already use commercial LP tools. Realistic beachhead: 12-24 underserved refineries. Year 3 ARR: $2-3M, not $8-15M.</a:t>
            </a:r>
          </a:p>
          <a:p>
            <a:pPr>
              <a:spcAft>
                <a:spcPts val="600"/>
              </a:spcAft>
              <a:defRPr sz="1800">
                <a:solidFill>
                  <a:srgbClr val="FFFFFF"/>
                </a:solidFill>
              </a:defRPr>
            </a:pPr>
            <a:r>
              <a:t>HIGH — Excel inertia: If refineries survived 30+ years on Excel, the urgency to switch is genuinely low. Mass retirement of experienced planners (the only champions for new tools) and failed digital transformation history create deep skepticism.</a:t>
            </a:r>
          </a:p>
        </p:txBody>
      </p:sp>
      <p:sp>
        <p:nvSpPr>
          <p:cNvPr id="5" name="TextBox 4"/>
          <p:cNvSpPr txBox="1"/>
          <p:nvPr/>
        </p:nvSpPr>
        <p:spPr>
          <a:xfrm>
            <a:off x="11505895" y="6492240"/>
            <a:ext cx="457200" cy="274320"/>
          </a:xfrm>
          <a:prstGeom prst="rect">
            <a:avLst/>
          </a:prstGeom>
          <a:noFill/>
        </p:spPr>
        <p:txBody>
          <a:bodyPr wrap="square" anchor="t"/>
          <a:lstStyle/>
          <a:p>
            <a:pPr algn="r">
              <a:defRPr sz="1000" b="0" i="0">
                <a:solidFill>
                  <a:srgbClr val="B0BEC5"/>
                </a:solidFill>
              </a:defRPr>
            </a:pPr>
            <a:r>
              <a:t>12</a:t>
            </a:r>
          </a:p>
        </p:txBody>
      </p:sp>
      <p:sp>
        <p:nvSpPr>
          <p:cNvPr id="6" name="TextBox 5"/>
          <p:cNvSpPr txBox="1"/>
          <p:nvPr/>
        </p:nvSpPr>
        <p:spPr>
          <a:xfrm>
            <a:off x="685800" y="6400800"/>
            <a:ext cx="3657600" cy="274320"/>
          </a:xfrm>
          <a:prstGeom prst="rect">
            <a:avLst/>
          </a:prstGeom>
          <a:noFill/>
        </p:spPr>
        <p:txBody>
          <a:bodyPr wrap="square" anchor="t"/>
          <a:lstStyle/>
          <a:p>
            <a:pPr algn="l">
              <a:defRPr sz="1200" b="0" i="1">
                <a:solidFill>
                  <a:srgbClr val="78909C"/>
                </a:solidFill>
              </a:defRPr>
            </a:pPr>
            <a:r>
              <a:t>Deep dive: research/run1/business-risks.md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685800" y="365760"/>
            <a:ext cx="10820095" cy="640080"/>
          </a:xfrm>
          <a:prstGeom prst="rect">
            <a:avLst/>
          </a:prstGeom>
          <a:noFill/>
        </p:spPr>
        <p:txBody>
          <a:bodyPr wrap="square" anchor="t"/>
          <a:lstStyle/>
          <a:p>
            <a:pPr algn="l">
              <a:defRPr sz="2800" b="1" i="0">
                <a:solidFill>
                  <a:srgbClr val="FFFFFF"/>
                </a:solidFill>
              </a:defRPr>
            </a:pPr>
            <a:r>
              <a:t>Business Risks: Full Severity Ranking</a:t>
            </a:r>
          </a:p>
        </p:txBody>
      </p:sp>
      <p:graphicFrame>
        <p:nvGraphicFramePr>
          <p:cNvPr id="3" name="Table 2"/>
          <p:cNvGraphicFramePr>
            <a:graphicFrameLocks noGrp="1"/>
          </p:cNvGraphicFramePr>
          <p:nvPr/>
        </p:nvGraphicFramePr>
        <p:xfrm>
          <a:off x="685800" y="1554480"/>
          <a:ext cx="10820095" cy="4572000.0"/>
        </p:xfrm>
        <a:graphic>
          <a:graphicData uri="http://schemas.openxmlformats.org/drawingml/2006/table">
            <a:tbl>
              <a:tblPr firstRow="1" bandRow="1">
                <a:tableStyleId>{5C22544A-7EE6-4342-B048-85BDC9FD1C3A}</a:tableStyleId>
              </a:tblPr>
              <a:tblGrid>
                <a:gridCol w="3606698"/>
                <a:gridCol w="3606698"/>
                <a:gridCol w="3606699"/>
              </a:tblGrid>
              <a:tr h="415636">
                <a:tc>
                  <a:txBody>
                    <a:bodyPr/>
                    <a:lstStyle/>
                    <a:p>
                      <a:pPr>
                        <a:defRPr sz="1400" b="1">
                          <a:solidFill>
                            <a:srgbClr val="D4A843"/>
                          </a:solidFill>
                        </a:defRPr>
                      </a:pPr>
                      <a:r>
                        <a:t>Risk</a:t>
                      </a:r>
                    </a:p>
                  </a:txBody>
                  <a:tcPr>
                    <a:solidFill>
                      <a:srgbClr val="15223A"/>
                    </a:solidFill>
                  </a:tcPr>
                </a:tc>
                <a:tc>
                  <a:txBody>
                    <a:bodyPr/>
                    <a:lstStyle/>
                    <a:p>
                      <a:pPr>
                        <a:defRPr sz="1400" b="1">
                          <a:solidFill>
                            <a:srgbClr val="D4A843"/>
                          </a:solidFill>
                        </a:defRPr>
                      </a:pPr>
                      <a:r>
                        <a:t>Severity</a:t>
                      </a:r>
                    </a:p>
                  </a:txBody>
                  <a:tcPr>
                    <a:solidFill>
                      <a:srgbClr val="15223A"/>
                    </a:solidFill>
                  </a:tcPr>
                </a:tc>
                <a:tc>
                  <a:txBody>
                    <a:bodyPr/>
                    <a:lstStyle/>
                    <a:p>
                      <a:pPr>
                        <a:defRPr sz="1400" b="1">
                          <a:solidFill>
                            <a:srgbClr val="D4A843"/>
                          </a:solidFill>
                        </a:defRPr>
                      </a:pPr>
                      <a:r>
                        <a:t>Addressable?</a:t>
                      </a:r>
                    </a:p>
                  </a:txBody>
                  <a:tcPr>
                    <a:solidFill>
                      <a:srgbClr val="15223A"/>
                    </a:solidFill>
                  </a:tcPr>
                </a:tc>
              </a:tr>
              <a:tr h="415636">
                <a:tc>
                  <a:txBody>
                    <a:bodyPr/>
                    <a:lstStyle/>
                    <a:p>
                      <a:pPr>
                        <a:defRPr sz="1200">
                          <a:solidFill>
                            <a:srgbClr val="FFFFFF"/>
                          </a:solidFill>
                        </a:defRPr>
                      </a:pPr>
                      <a:r>
                        <a:t>Team credibility gap (student founders)</a:t>
                      </a:r>
                    </a:p>
                  </a:txBody>
                  <a:tcPr>
                    <a:solidFill>
                      <a:srgbClr val="1B2A4A"/>
                    </a:solidFill>
                  </a:tcPr>
                </a:tc>
                <a:tc>
                  <a:txBody>
                    <a:bodyPr/>
                    <a:lstStyle/>
                    <a:p>
                      <a:pPr>
                        <a:defRPr sz="1200" b="1">
                          <a:solidFill>
                            <a:srgbClr val="C0392B"/>
                          </a:solidFill>
                        </a:defRPr>
                      </a:pPr>
                      <a:r>
                        <a:t>CRITICAL</a:t>
                      </a:r>
                    </a:p>
                  </a:txBody>
                  <a:tcPr>
                    <a:solidFill>
                      <a:srgbClr val="1B2A4A"/>
                    </a:solidFill>
                  </a:tcPr>
                </a:tc>
                <a:tc>
                  <a:txBody>
                    <a:bodyPr/>
                    <a:lstStyle/>
                    <a:p>
                      <a:pPr>
                        <a:defRPr sz="1200">
                          <a:solidFill>
                            <a:srgbClr val="FFFFFF"/>
                          </a:solidFill>
                        </a:defRPr>
                      </a:pPr>
                      <a:r>
                        <a:t>Yes — hire domain expert co-founder/advisor with equity</a:t>
                      </a:r>
                    </a:p>
                  </a:txBody>
                  <a:tcPr>
                    <a:solidFill>
                      <a:srgbClr val="1B2A4A"/>
                    </a:solidFill>
                  </a:tcPr>
                </a:tc>
              </a:tr>
              <a:tr h="415636">
                <a:tc>
                  <a:txBody>
                    <a:bodyPr/>
                    <a:lstStyle/>
                    <a:p>
                      <a:pPr>
                        <a:defRPr sz="1200">
                          <a:solidFill>
                            <a:srgbClr val="FFFFFF"/>
                          </a:solidFill>
                        </a:defRPr>
                      </a:pPr>
                      <a:r>
                        <a:t>Brutal sales cycle in tiny market (9-18 months)</a:t>
                      </a:r>
                    </a:p>
                  </a:txBody>
                  <a:tcPr>
                    <a:solidFill>
                      <a:srgbClr val="223656"/>
                    </a:solidFill>
                  </a:tcPr>
                </a:tc>
                <a:tc>
                  <a:txBody>
                    <a:bodyPr/>
                    <a:lstStyle/>
                    <a:p>
                      <a:pPr>
                        <a:defRPr sz="1200" b="1">
                          <a:solidFill>
                            <a:srgbClr val="C0392B"/>
                          </a:solidFill>
                        </a:defRPr>
                      </a:pPr>
                      <a:r>
                        <a:t>CRITICAL</a:t>
                      </a:r>
                    </a:p>
                  </a:txBody>
                  <a:tcPr>
                    <a:solidFill>
                      <a:srgbClr val="223656"/>
                    </a:solidFill>
                  </a:tcPr>
                </a:tc>
                <a:tc>
                  <a:txBody>
                    <a:bodyPr/>
                    <a:lstStyle/>
                    <a:p>
                      <a:pPr>
                        <a:defRPr sz="1200">
                          <a:solidFill>
                            <a:srgbClr val="FFFFFF"/>
                          </a:solidFill>
                        </a:defRPr>
                      </a:pPr>
                      <a:r>
                        <a:t>Partially — EPC partnerships, design partner strategy</a:t>
                      </a:r>
                    </a:p>
                  </a:txBody>
                  <a:tcPr>
                    <a:solidFill>
                      <a:srgbClr val="223656"/>
                    </a:solidFill>
                  </a:tcPr>
                </a:tc>
              </a:tr>
              <a:tr h="415636">
                <a:tc>
                  <a:txBody>
                    <a:bodyPr/>
                    <a:lstStyle/>
                    <a:p>
                      <a:pPr>
                        <a:defRPr sz="1200">
                          <a:solidFill>
                            <a:srgbClr val="FFFFFF"/>
                          </a:solidFill>
                        </a:defRPr>
                      </a:pPr>
                      <a:r>
                        <a:t>Overstated TAM / ARR projections</a:t>
                      </a:r>
                    </a:p>
                  </a:txBody>
                  <a:tcPr>
                    <a:solidFill>
                      <a:srgbClr val="1B2A4A"/>
                    </a:solidFill>
                  </a:tcPr>
                </a:tc>
                <a:tc>
                  <a:txBody>
                    <a:bodyPr/>
                    <a:lstStyle/>
                    <a:p>
                      <a:pPr>
                        <a:defRPr sz="1200" b="1">
                          <a:solidFill>
                            <a:srgbClr val="E67E22"/>
                          </a:solidFill>
                        </a:defRPr>
                      </a:pPr>
                      <a:r>
                        <a:t>HIGH</a:t>
                      </a:r>
                    </a:p>
                  </a:txBody>
                  <a:tcPr>
                    <a:solidFill>
                      <a:srgbClr val="1B2A4A"/>
                    </a:solidFill>
                  </a:tcPr>
                </a:tc>
                <a:tc>
                  <a:txBody>
                    <a:bodyPr/>
                    <a:lstStyle/>
                    <a:p>
                      <a:pPr>
                        <a:defRPr sz="1200">
                          <a:solidFill>
                            <a:srgbClr val="FFFFFF"/>
                          </a:solidFill>
                        </a:defRPr>
                      </a:pPr>
                      <a:r>
                        <a:t>Yes — reset to 12-24 site beachhead, $2-3M Year 3 ARR</a:t>
                      </a:r>
                    </a:p>
                  </a:txBody>
                  <a:tcPr>
                    <a:solidFill>
                      <a:srgbClr val="1B2A4A"/>
                    </a:solidFill>
                  </a:tcPr>
                </a:tc>
              </a:tr>
              <a:tr h="415636">
                <a:tc>
                  <a:txBody>
                    <a:bodyPr/>
                    <a:lstStyle/>
                    <a:p>
                      <a:pPr>
                        <a:defRPr sz="1200">
                          <a:solidFill>
                            <a:srgbClr val="FFFFFF"/>
                          </a:solidFill>
                        </a:defRPr>
                      </a:pPr>
                      <a:r>
                        <a:t>Excel inertia / 'good enough' problem</a:t>
                      </a:r>
                    </a:p>
                  </a:txBody>
                  <a:tcPr>
                    <a:solidFill>
                      <a:srgbClr val="223656"/>
                    </a:solidFill>
                  </a:tcPr>
                </a:tc>
                <a:tc>
                  <a:txBody>
                    <a:bodyPr/>
                    <a:lstStyle/>
                    <a:p>
                      <a:pPr>
                        <a:defRPr sz="1200" b="1">
                          <a:solidFill>
                            <a:srgbClr val="E67E22"/>
                          </a:solidFill>
                        </a:defRPr>
                      </a:pPr>
                      <a:r>
                        <a:t>HIGH</a:t>
                      </a:r>
                    </a:p>
                  </a:txBody>
                  <a:tcPr>
                    <a:solidFill>
                      <a:srgbClr val="223656"/>
                    </a:solidFill>
                  </a:tcPr>
                </a:tc>
                <a:tc>
                  <a:txBody>
                    <a:bodyPr/>
                    <a:lstStyle/>
                    <a:p>
                      <a:pPr>
                        <a:defRPr sz="1200">
                          <a:solidFill>
                            <a:srgbClr val="FFFFFF"/>
                          </a:solidFill>
                        </a:defRPr>
                      </a:pPr>
                      <a:r>
                        <a:t>Yes — lead with quantified ROI ($12.3M/yr loss per Emerson data)</a:t>
                      </a:r>
                    </a:p>
                  </a:txBody>
                  <a:tcPr>
                    <a:solidFill>
                      <a:srgbClr val="223656"/>
                    </a:solidFill>
                  </a:tcPr>
                </a:tc>
              </a:tr>
              <a:tr h="415636">
                <a:tc>
                  <a:txBody>
                    <a:bodyPr/>
                    <a:lstStyle/>
                    <a:p>
                      <a:pPr>
                        <a:defRPr sz="1200">
                          <a:solidFill>
                            <a:srgbClr val="FFFFFF"/>
                          </a:solidFill>
                        </a:defRPr>
                      </a:pPr>
                      <a:r>
                        <a:t>Customer concentration (each lost deal = 1.4-1.7% of market)</a:t>
                      </a:r>
                    </a:p>
                  </a:txBody>
                  <a:tcPr>
                    <a:solidFill>
                      <a:srgbClr val="1B2A4A"/>
                    </a:solidFill>
                  </a:tcPr>
                </a:tc>
                <a:tc>
                  <a:txBody>
                    <a:bodyPr/>
                    <a:lstStyle/>
                    <a:p>
                      <a:pPr>
                        <a:defRPr sz="1200" b="1">
                          <a:solidFill>
                            <a:srgbClr val="E67E22"/>
                          </a:solidFill>
                        </a:defRPr>
                      </a:pPr>
                      <a:r>
                        <a:t>HIGH</a:t>
                      </a:r>
                    </a:p>
                  </a:txBody>
                  <a:tcPr>
                    <a:solidFill>
                      <a:srgbClr val="1B2A4A"/>
                    </a:solidFill>
                  </a:tcPr>
                </a:tc>
                <a:tc>
                  <a:txBody>
                    <a:bodyPr/>
                    <a:lstStyle/>
                    <a:p>
                      <a:pPr>
                        <a:defRPr sz="1200">
                          <a:solidFill>
                            <a:srgbClr val="FFFFFF"/>
                          </a:solidFill>
                        </a:defRPr>
                      </a:pPr>
                      <a:r>
                        <a:t>Partially — expand to petrochemicals, Europe over time</a:t>
                      </a:r>
                    </a:p>
                  </a:txBody>
                  <a:tcPr>
                    <a:solidFill>
                      <a:srgbClr val="1B2A4A"/>
                    </a:solidFill>
                  </a:tcPr>
                </a:tc>
              </a:tr>
              <a:tr h="415636">
                <a:tc>
                  <a:txBody>
                    <a:bodyPr/>
                    <a:lstStyle/>
                    <a:p>
                      <a:pPr>
                        <a:defRPr sz="1200">
                          <a:solidFill>
                            <a:srgbClr val="FFFFFF"/>
                          </a:solidFill>
                        </a:defRPr>
                      </a:pPr>
                      <a:r>
                        <a:t>Energy transition / shrinking market window</a:t>
                      </a:r>
                    </a:p>
                  </a:txBody>
                  <a:tcPr>
                    <a:solidFill>
                      <a:srgbClr val="223656"/>
                    </a:solidFill>
                  </a:tcPr>
                </a:tc>
                <a:tc>
                  <a:txBody>
                    <a:bodyPr/>
                    <a:lstStyle/>
                    <a:p>
                      <a:pPr>
                        <a:defRPr sz="1200" b="1">
                          <a:solidFill>
                            <a:srgbClr val="E67E22"/>
                          </a:solidFill>
                        </a:defRPr>
                      </a:pPr>
                      <a:r>
                        <a:t>HIGH</a:t>
                      </a:r>
                    </a:p>
                  </a:txBody>
                  <a:tcPr>
                    <a:solidFill>
                      <a:srgbClr val="223656"/>
                    </a:solidFill>
                  </a:tcPr>
                </a:tc>
                <a:tc>
                  <a:txBody>
                    <a:bodyPr/>
                    <a:lstStyle/>
                    <a:p>
                      <a:pPr>
                        <a:defRPr sz="1200">
                          <a:solidFill>
                            <a:srgbClr val="FFFFFF"/>
                          </a:solidFill>
                        </a:defRPr>
                      </a:pPr>
                      <a:r>
                        <a:t>Partially — focus on Gulf Coast; plan 5-7 year window to exit</a:t>
                      </a:r>
                    </a:p>
                  </a:txBody>
                  <a:tcPr>
                    <a:solidFill>
                      <a:srgbClr val="223656"/>
                    </a:solidFill>
                  </a:tcPr>
                </a:tc>
              </a:tr>
              <a:tr h="415636">
                <a:tc>
                  <a:txBody>
                    <a:bodyPr/>
                    <a:lstStyle/>
                    <a:p>
                      <a:pPr>
                        <a:defRPr sz="1200">
                          <a:solidFill>
                            <a:srgbClr val="FFFFFF"/>
                          </a:solidFill>
                        </a:defRPr>
                      </a:pPr>
                      <a:r>
                        <a:t>AVEVA/Schneider competitive threat (owns PI + cloud SaaS)</a:t>
                      </a:r>
                    </a:p>
                  </a:txBody>
                  <a:tcPr>
                    <a:solidFill>
                      <a:srgbClr val="1B2A4A"/>
                    </a:solidFill>
                  </a:tcPr>
                </a:tc>
                <a:tc>
                  <a:txBody>
                    <a:bodyPr/>
                    <a:lstStyle/>
                    <a:p>
                      <a:pPr>
                        <a:defRPr sz="1200">
                          <a:solidFill>
                            <a:srgbClr val="FFFFFF"/>
                          </a:solidFill>
                        </a:defRPr>
                      </a:pPr>
                      <a:r>
                        <a:t>MEDIUM-HIGH</a:t>
                      </a:r>
                    </a:p>
                  </a:txBody>
                  <a:tcPr>
                    <a:solidFill>
                      <a:srgbClr val="1B2A4A"/>
                    </a:solidFill>
                  </a:tcPr>
                </a:tc>
                <a:tc>
                  <a:txBody>
                    <a:bodyPr/>
                    <a:lstStyle/>
                    <a:p>
                      <a:pPr>
                        <a:defRPr sz="1200">
                          <a:solidFill>
                            <a:srgbClr val="FFFFFF"/>
                          </a:solidFill>
                        </a:defRPr>
                      </a:pPr>
                      <a:r>
                        <a:t>Yes — 2-4 year window; position as complement, not competitor</a:t>
                      </a:r>
                    </a:p>
                  </a:txBody>
                  <a:tcPr>
                    <a:solidFill>
                      <a:srgbClr val="1B2A4A"/>
                    </a:solidFill>
                  </a:tcPr>
                </a:tc>
              </a:tr>
              <a:tr h="415636">
                <a:tc>
                  <a:txBody>
                    <a:bodyPr/>
                    <a:lstStyle/>
                    <a:p>
                      <a:pPr>
                        <a:defRPr sz="1200">
                          <a:solidFill>
                            <a:srgbClr val="FFFFFF"/>
                          </a:solidFill>
                        </a:defRPr>
                      </a:pPr>
                      <a:r>
                        <a:t>Regulatory / cybersecurity barriers (IEC 62443, TSA)</a:t>
                      </a:r>
                    </a:p>
                  </a:txBody>
                  <a:tcPr>
                    <a:solidFill>
                      <a:srgbClr val="223656"/>
                    </a:solidFill>
                  </a:tcPr>
                </a:tc>
                <a:tc>
                  <a:txBody>
                    <a:bodyPr/>
                    <a:lstStyle/>
                    <a:p>
                      <a:pPr>
                        <a:defRPr sz="1200">
                          <a:solidFill>
                            <a:srgbClr val="FFFFFF"/>
                          </a:solidFill>
                        </a:defRPr>
                      </a:pPr>
                      <a:r>
                        <a:t>MEDIUM</a:t>
                      </a:r>
                    </a:p>
                  </a:txBody>
                  <a:tcPr>
                    <a:solidFill>
                      <a:srgbClr val="223656"/>
                    </a:solidFill>
                  </a:tcPr>
                </a:tc>
                <a:tc>
                  <a:txBody>
                    <a:bodyPr/>
                    <a:lstStyle/>
                    <a:p>
                      <a:pPr>
                        <a:defRPr sz="1200">
                          <a:solidFill>
                            <a:srgbClr val="FFFFFF"/>
                          </a:solidFill>
                        </a:defRPr>
                      </a:pPr>
                      <a:r>
                        <a:t>Yes — invest in compliance early; it becomes a moat</a:t>
                      </a:r>
                    </a:p>
                  </a:txBody>
                  <a:tcPr>
                    <a:solidFill>
                      <a:srgbClr val="223656"/>
                    </a:solidFill>
                  </a:tcPr>
                </a:tc>
              </a:tr>
              <a:tr h="415636">
                <a:tc>
                  <a:txBody>
                    <a:bodyPr/>
                    <a:lstStyle/>
                    <a:p>
                      <a:pPr>
                        <a:defRPr sz="1200">
                          <a:solidFill>
                            <a:srgbClr val="FFFFFF"/>
                          </a:solidFill>
                        </a:defRPr>
                      </a:pPr>
                      <a:r>
                        <a:t>Acquisition exit valuation optimistic at high end</a:t>
                      </a:r>
                    </a:p>
                  </a:txBody>
                  <a:tcPr>
                    <a:solidFill>
                      <a:srgbClr val="1B2A4A"/>
                    </a:solidFill>
                  </a:tcPr>
                </a:tc>
                <a:tc>
                  <a:txBody>
                    <a:bodyPr/>
                    <a:lstStyle/>
                    <a:p>
                      <a:pPr>
                        <a:defRPr sz="1200">
                          <a:solidFill>
                            <a:srgbClr val="FFFFFF"/>
                          </a:solidFill>
                        </a:defRPr>
                      </a:pPr>
                      <a:r>
                        <a:t>MEDIUM</a:t>
                      </a:r>
                    </a:p>
                  </a:txBody>
                  <a:tcPr>
                    <a:solidFill>
                      <a:srgbClr val="1B2A4A"/>
                    </a:solidFill>
                  </a:tcPr>
                </a:tc>
                <a:tc>
                  <a:txBody>
                    <a:bodyPr/>
                    <a:lstStyle/>
                    <a:p>
                      <a:pPr>
                        <a:defRPr sz="1200">
                          <a:solidFill>
                            <a:srgbClr val="FFFFFF"/>
                          </a:solidFill>
                        </a:defRPr>
                      </a:pPr>
                      <a:r>
                        <a:t>Yes — target $100-150M at $12-15M ARR (6.7-10x multiple)</a:t>
                      </a:r>
                    </a:p>
                  </a:txBody>
                  <a:tcPr>
                    <a:solidFill>
                      <a:srgbClr val="1B2A4A"/>
                    </a:solidFill>
                  </a:tcPr>
                </a:tc>
              </a:tr>
              <a:tr h="415640">
                <a:tc>
                  <a:txBody>
                    <a:bodyPr/>
                    <a:lstStyle/>
                    <a:p>
                      <a:pPr>
                        <a:defRPr sz="1200">
                          <a:solidFill>
                            <a:srgbClr val="FFFFFF"/>
                          </a:solidFill>
                        </a:defRPr>
                      </a:pPr>
                      <a:r>
                        <a:t>Pricing may be too low for value delivered</a:t>
                      </a:r>
                    </a:p>
                  </a:txBody>
                  <a:tcPr>
                    <a:solidFill>
                      <a:srgbClr val="223656"/>
                    </a:solidFill>
                  </a:tcPr>
                </a:tc>
                <a:tc>
                  <a:txBody>
                    <a:bodyPr/>
                    <a:lstStyle/>
                    <a:p>
                      <a:pPr>
                        <a:defRPr sz="1200">
                          <a:solidFill>
                            <a:srgbClr val="FFFFFF"/>
                          </a:solidFill>
                        </a:defRPr>
                      </a:pPr>
                      <a:r>
                        <a:t>LOW-MEDIUM</a:t>
                      </a:r>
                    </a:p>
                  </a:txBody>
                  <a:tcPr>
                    <a:solidFill>
                      <a:srgbClr val="223656"/>
                    </a:solidFill>
                  </a:tcPr>
                </a:tc>
                <a:tc>
                  <a:txBody>
                    <a:bodyPr/>
                    <a:lstStyle/>
                    <a:p>
                      <a:pPr>
                        <a:defRPr sz="1200">
                          <a:solidFill>
                            <a:srgbClr val="FFFFFF"/>
                          </a:solidFill>
                        </a:defRPr>
                      </a:pPr>
                      <a:r>
                        <a:t>Yes — tier pricing, expand ACV over time to $200-500K</a:t>
                      </a:r>
                    </a:p>
                  </a:txBody>
                  <a:tcPr>
                    <a:solidFill>
                      <a:srgbClr val="223656"/>
                    </a:solidFill>
                  </a:tcPr>
                </a:tc>
              </a:tr>
            </a:tbl>
          </a:graphicData>
        </a:graphic>
      </p:graphicFrame>
      <p:sp>
        <p:nvSpPr>
          <p:cNvPr id="4" name="TextBox 3"/>
          <p:cNvSpPr txBox="1"/>
          <p:nvPr/>
        </p:nvSpPr>
        <p:spPr>
          <a:xfrm>
            <a:off x="11505895" y="6492240"/>
            <a:ext cx="457200" cy="274320"/>
          </a:xfrm>
          <a:prstGeom prst="rect">
            <a:avLst/>
          </a:prstGeom>
          <a:noFill/>
        </p:spPr>
        <p:txBody>
          <a:bodyPr wrap="square" anchor="t"/>
          <a:lstStyle/>
          <a:p>
            <a:pPr algn="r">
              <a:defRPr sz="1000" b="0" i="0">
                <a:solidFill>
                  <a:srgbClr val="B0BEC5"/>
                </a:solidFill>
              </a:defRPr>
            </a:pPr>
            <a:r>
              <a:t>13</a:t>
            </a:r>
          </a:p>
        </p:txBody>
      </p:sp>
      <p:sp>
        <p:nvSpPr>
          <p:cNvPr id="5" name="TextBox 4"/>
          <p:cNvSpPr txBox="1"/>
          <p:nvPr/>
        </p:nvSpPr>
        <p:spPr>
          <a:xfrm>
            <a:off x="685800" y="6400800"/>
            <a:ext cx="3657600" cy="274320"/>
          </a:xfrm>
          <a:prstGeom prst="rect">
            <a:avLst/>
          </a:prstGeom>
          <a:noFill/>
        </p:spPr>
        <p:txBody>
          <a:bodyPr wrap="square" anchor="t"/>
          <a:lstStyle/>
          <a:p>
            <a:pPr algn="l">
              <a:defRPr sz="1200" b="0" i="1">
                <a:solidFill>
                  <a:srgbClr val="78909C"/>
                </a:solidFill>
              </a:defRPr>
            </a:pPr>
            <a:r>
              <a:t>Deep dive: research/run1/business-risks.md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685800" y="365760"/>
            <a:ext cx="10820095" cy="640080"/>
          </a:xfrm>
          <a:prstGeom prst="rect">
            <a:avLst/>
          </a:prstGeom>
          <a:noFill/>
        </p:spPr>
        <p:txBody>
          <a:bodyPr wrap="square" anchor="t"/>
          <a:lstStyle/>
          <a:p>
            <a:pPr algn="l">
              <a:defRPr sz="2800" b="1" i="0">
                <a:solidFill>
                  <a:srgbClr val="FFFFFF"/>
                </a:solidFill>
              </a:defRPr>
            </a:pPr>
            <a:r>
              <a:t>Adoption Risks: Operators Can't Use What We're Building</a:t>
            </a:r>
          </a:p>
        </p:txBody>
      </p:sp>
      <p:sp>
        <p:nvSpPr>
          <p:cNvPr id="3" name="TextBox 2"/>
          <p:cNvSpPr txBox="1"/>
          <p:nvPr/>
        </p:nvSpPr>
        <p:spPr>
          <a:xfrm>
            <a:off x="685800" y="1005840"/>
            <a:ext cx="10820095" cy="457200"/>
          </a:xfrm>
          <a:prstGeom prst="rect">
            <a:avLst/>
          </a:prstGeom>
          <a:noFill/>
        </p:spPr>
        <p:txBody>
          <a:bodyPr wrap="square" anchor="t"/>
          <a:lstStyle/>
          <a:p>
            <a:pPr algn="l">
              <a:defRPr sz="2000" b="0" i="0">
                <a:solidFill>
                  <a:srgbClr val="B0BEC5"/>
                </a:solidFill>
              </a:defRPr>
            </a:pPr>
            <a:r>
              <a:t>Human factors research from industrial safety studies, OSHA, and labor law</a:t>
            </a:r>
          </a:p>
        </p:txBody>
      </p:sp>
      <p:sp>
        <p:nvSpPr>
          <p:cNvPr id="4" name="TextBox 3"/>
          <p:cNvSpPr txBox="1"/>
          <p:nvPr/>
        </p:nvSpPr>
        <p:spPr>
          <a:xfrm>
            <a:off x="685800" y="1737360"/>
            <a:ext cx="10820095" cy="4389120"/>
          </a:xfrm>
          <a:prstGeom prst="rect">
            <a:avLst/>
          </a:prstGeom>
          <a:noFill/>
        </p:spPr>
        <p:txBody>
          <a:bodyPr wrap="square">
            <a:spAutoFit/>
          </a:bodyPr>
          <a:lstStyle/>
          <a:p>
            <a:pPr>
              <a:spcAft>
                <a:spcPts val="600"/>
              </a:spcAft>
              <a:defRPr sz="1800">
                <a:solidFill>
                  <a:srgbClr val="FFFFFF"/>
                </a:solidFill>
              </a:defRPr>
            </a:pPr>
            <a:r>
              <a:t>CRITICAL — Slack doesn't reach operators: Control rooms run DCS consoles (Honeywell Experion, Yokogawa CENTUM VP), not chat apps. Process areas are ATEX hazardous zones — standard phones prohibited. WiFi across a 3-4 sq mile refinery is 'spotty and unpredictable.' No published case study shows Slack/Teams used by frontline refinery operators on shift.</a:t>
            </a:r>
          </a:p>
          <a:p>
            <a:pPr>
              <a:spcAft>
                <a:spcPts val="600"/>
              </a:spcAft>
              <a:defRPr sz="1800">
                <a:solidFill>
                  <a:srgbClr val="FFFFFF"/>
                </a:solidFill>
              </a:defRPr>
            </a:pPr>
            <a:r>
              <a:t>CRITICAL — NLP constraint extraction: 46-85% accuracy on complex industrial problems. 'Heat exchanger 201 is fouling' contains zero quantitative data — the LLM must hallucinate a number. NASA (2025) characterized LLM output as 'uttered without regard for its truth value.'</a:t>
            </a:r>
          </a:p>
          <a:p>
            <a:pPr>
              <a:spcAft>
                <a:spcPts val="600"/>
              </a:spcAft>
              <a:defRPr sz="1800">
                <a:solidFill>
                  <a:srgbClr val="FFFFFF"/>
                </a:solidFill>
              </a:defRPr>
            </a:pPr>
            <a:r>
              <a:t>CRITICAL — OSHA PSM: A tool that changes how operators make decisions about process parameters triggers Management of Change requirements. 'Just Slack messages' provides no legal exemption. The 2005 Texas City explosion was partly attributed to MOC failures.</a:t>
            </a:r>
          </a:p>
          <a:p>
            <a:pPr>
              <a:spcAft>
                <a:spcPts val="600"/>
              </a:spcAft>
              <a:defRPr sz="1800">
                <a:solidFill>
                  <a:srgbClr val="FFFFFF"/>
                </a:solidFill>
              </a:defRPr>
            </a:pPr>
            <a:r>
              <a:t>CRITICAL — Union/labor: USW 2026 bargaining covers ~30,000 refinery workers and specifically targets AI monitoring. Tracking operator overrides with dollar costs = potential NLRA violation.</a:t>
            </a:r>
          </a:p>
        </p:txBody>
      </p:sp>
      <p:sp>
        <p:nvSpPr>
          <p:cNvPr id="5" name="TextBox 4"/>
          <p:cNvSpPr txBox="1"/>
          <p:nvPr/>
        </p:nvSpPr>
        <p:spPr>
          <a:xfrm>
            <a:off x="11505895" y="6492240"/>
            <a:ext cx="457200" cy="274320"/>
          </a:xfrm>
          <a:prstGeom prst="rect">
            <a:avLst/>
          </a:prstGeom>
          <a:noFill/>
        </p:spPr>
        <p:txBody>
          <a:bodyPr wrap="square" anchor="t"/>
          <a:lstStyle/>
          <a:p>
            <a:pPr algn="r">
              <a:defRPr sz="1000" b="0" i="0">
                <a:solidFill>
                  <a:srgbClr val="B0BEC5"/>
                </a:solidFill>
              </a:defRPr>
            </a:pPr>
            <a:r>
              <a:t>14</a:t>
            </a:r>
          </a:p>
        </p:txBody>
      </p:sp>
      <p:sp>
        <p:nvSpPr>
          <p:cNvPr id="6" name="TextBox 5"/>
          <p:cNvSpPr txBox="1"/>
          <p:nvPr/>
        </p:nvSpPr>
        <p:spPr>
          <a:xfrm>
            <a:off x="685800" y="6400800"/>
            <a:ext cx="3657600" cy="274320"/>
          </a:xfrm>
          <a:prstGeom prst="rect">
            <a:avLst/>
          </a:prstGeom>
          <a:noFill/>
        </p:spPr>
        <p:txBody>
          <a:bodyPr wrap="square" anchor="t"/>
          <a:lstStyle/>
          <a:p>
            <a:pPr algn="l">
              <a:defRPr sz="1200" b="0" i="1">
                <a:solidFill>
                  <a:srgbClr val="78909C"/>
                </a:solidFill>
              </a:defRPr>
            </a:pPr>
            <a:r>
              <a:t>Deep dive: research/run1/adoption-risks.md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685800" y="365760"/>
            <a:ext cx="10820095" cy="640080"/>
          </a:xfrm>
          <a:prstGeom prst="rect">
            <a:avLst/>
          </a:prstGeom>
          <a:noFill/>
        </p:spPr>
        <p:txBody>
          <a:bodyPr wrap="square" anchor="t"/>
          <a:lstStyle/>
          <a:p>
            <a:pPr algn="l">
              <a:defRPr sz="2800" b="1" i="0">
                <a:solidFill>
                  <a:srgbClr val="FFFFFF"/>
                </a:solidFill>
              </a:defRPr>
            </a:pPr>
            <a:r>
              <a:t>Adoption Risks: Full Severity Ranking</a:t>
            </a:r>
          </a:p>
        </p:txBody>
      </p:sp>
      <p:graphicFrame>
        <p:nvGraphicFramePr>
          <p:cNvPr id="3" name="Table 2"/>
          <p:cNvGraphicFramePr>
            <a:graphicFrameLocks noGrp="1"/>
          </p:cNvGraphicFramePr>
          <p:nvPr/>
        </p:nvGraphicFramePr>
        <p:xfrm>
          <a:off x="685800" y="1554480"/>
          <a:ext cx="10820095" cy="4572000.0"/>
        </p:xfrm>
        <a:graphic>
          <a:graphicData uri="http://schemas.openxmlformats.org/drawingml/2006/table">
            <a:tbl>
              <a:tblPr firstRow="1" bandRow="1">
                <a:tableStyleId>{5C22544A-7EE6-4342-B048-85BDC9FD1C3A}</a:tableStyleId>
              </a:tblPr>
              <a:tblGrid>
                <a:gridCol w="3606698"/>
                <a:gridCol w="3606698"/>
                <a:gridCol w="3606699"/>
              </a:tblGrid>
              <a:tr h="415636">
                <a:tc>
                  <a:txBody>
                    <a:bodyPr/>
                    <a:lstStyle/>
                    <a:p>
                      <a:pPr>
                        <a:defRPr sz="1400" b="1">
                          <a:solidFill>
                            <a:srgbClr val="D4A843"/>
                          </a:solidFill>
                        </a:defRPr>
                      </a:pPr>
                      <a:r>
                        <a:t>Risk</a:t>
                      </a:r>
                    </a:p>
                  </a:txBody>
                  <a:tcPr>
                    <a:solidFill>
                      <a:srgbClr val="15223A"/>
                    </a:solidFill>
                  </a:tcPr>
                </a:tc>
                <a:tc>
                  <a:txBody>
                    <a:bodyPr/>
                    <a:lstStyle/>
                    <a:p>
                      <a:pPr>
                        <a:defRPr sz="1400" b="1">
                          <a:solidFill>
                            <a:srgbClr val="D4A843"/>
                          </a:solidFill>
                        </a:defRPr>
                      </a:pPr>
                      <a:r>
                        <a:t>Severity</a:t>
                      </a:r>
                    </a:p>
                  </a:txBody>
                  <a:tcPr>
                    <a:solidFill>
                      <a:srgbClr val="15223A"/>
                    </a:solidFill>
                  </a:tcPr>
                </a:tc>
                <a:tc>
                  <a:txBody>
                    <a:bodyPr/>
                    <a:lstStyle/>
                    <a:p>
                      <a:pPr>
                        <a:defRPr sz="1400" b="1">
                          <a:solidFill>
                            <a:srgbClr val="D4A843"/>
                          </a:solidFill>
                        </a:defRPr>
                      </a:pPr>
                      <a:r>
                        <a:t>Core Issue</a:t>
                      </a:r>
                    </a:p>
                  </a:txBody>
                  <a:tcPr>
                    <a:solidFill>
                      <a:srgbClr val="15223A"/>
                    </a:solidFill>
                  </a:tcPr>
                </a:tc>
              </a:tr>
              <a:tr h="415636">
                <a:tc>
                  <a:txBody>
                    <a:bodyPr/>
                    <a:lstStyle/>
                    <a:p>
                      <a:pPr>
                        <a:defRPr sz="1200">
                          <a:solidFill>
                            <a:srgbClr val="FFFFFF"/>
                          </a:solidFill>
                        </a:defRPr>
                      </a:pPr>
                      <a:r>
                        <a:t>Slack/Teams doesn't reach operators on shift</a:t>
                      </a:r>
                    </a:p>
                  </a:txBody>
                  <a:tcPr>
                    <a:solidFill>
                      <a:srgbClr val="1B2A4A"/>
                    </a:solidFill>
                  </a:tcPr>
                </a:tc>
                <a:tc>
                  <a:txBody>
                    <a:bodyPr/>
                    <a:lstStyle/>
                    <a:p>
                      <a:pPr>
                        <a:defRPr sz="1200" b="1">
                          <a:solidFill>
                            <a:srgbClr val="C0392B"/>
                          </a:solidFill>
                        </a:defRPr>
                      </a:pPr>
                      <a:r>
                        <a:t>CRITICAL</a:t>
                      </a:r>
                    </a:p>
                  </a:txBody>
                  <a:tcPr>
                    <a:solidFill>
                      <a:srgbClr val="1B2A4A"/>
                    </a:solidFill>
                  </a:tcPr>
                </a:tc>
                <a:tc>
                  <a:txBody>
                    <a:bodyPr/>
                    <a:lstStyle/>
                    <a:p>
                      <a:pPr>
                        <a:defRPr sz="1200">
                          <a:solidFill>
                            <a:srgbClr val="FFFFFF"/>
                          </a:solidFill>
                        </a:defRPr>
                      </a:pPr>
                      <a:r>
                        <a:t>Physical, network, and regulatory barriers to Slack in hazardous areas</a:t>
                      </a:r>
                    </a:p>
                  </a:txBody>
                  <a:tcPr>
                    <a:solidFill>
                      <a:srgbClr val="1B2A4A"/>
                    </a:solidFill>
                  </a:tcPr>
                </a:tc>
              </a:tr>
              <a:tr h="415636">
                <a:tc>
                  <a:txBody>
                    <a:bodyPr/>
                    <a:lstStyle/>
                    <a:p>
                      <a:pPr>
                        <a:defRPr sz="1200">
                          <a:solidFill>
                            <a:srgbClr val="FFFFFF"/>
                          </a:solidFill>
                        </a:defRPr>
                      </a:pPr>
                      <a:r>
                        <a:t>NLP constraint extraction unreliable</a:t>
                      </a:r>
                    </a:p>
                  </a:txBody>
                  <a:tcPr>
                    <a:solidFill>
                      <a:srgbClr val="223656"/>
                    </a:solidFill>
                  </a:tcPr>
                </a:tc>
                <a:tc>
                  <a:txBody>
                    <a:bodyPr/>
                    <a:lstStyle/>
                    <a:p>
                      <a:pPr>
                        <a:defRPr sz="1200" b="1">
                          <a:solidFill>
                            <a:srgbClr val="C0392B"/>
                          </a:solidFill>
                        </a:defRPr>
                      </a:pPr>
                      <a:r>
                        <a:t>CRITICAL</a:t>
                      </a:r>
                    </a:p>
                  </a:txBody>
                  <a:tcPr>
                    <a:solidFill>
                      <a:srgbClr val="223656"/>
                    </a:solidFill>
                  </a:tcPr>
                </a:tc>
                <a:tc>
                  <a:txBody>
                    <a:bodyPr/>
                    <a:lstStyle/>
                    <a:p>
                      <a:pPr>
                        <a:defRPr sz="1200">
                          <a:solidFill>
                            <a:srgbClr val="FFFFFF"/>
                          </a:solidFill>
                        </a:defRPr>
                      </a:pPr>
                      <a:r>
                        <a:t>15-54% error rate on complex problems; safety implications</a:t>
                      </a:r>
                    </a:p>
                  </a:txBody>
                  <a:tcPr>
                    <a:solidFill>
                      <a:srgbClr val="223656"/>
                    </a:solidFill>
                  </a:tcPr>
                </a:tc>
              </a:tr>
              <a:tr h="415636">
                <a:tc>
                  <a:txBody>
                    <a:bodyPr/>
                    <a:lstStyle/>
                    <a:p>
                      <a:pPr>
                        <a:defRPr sz="1200">
                          <a:solidFill>
                            <a:srgbClr val="FFFFFF"/>
                          </a:solidFill>
                        </a:defRPr>
                      </a:pPr>
                      <a:r>
                        <a:t>No training required' violates OSHA PSM</a:t>
                      </a:r>
                    </a:p>
                  </a:txBody>
                  <a:tcPr>
                    <a:solidFill>
                      <a:srgbClr val="1B2A4A"/>
                    </a:solidFill>
                  </a:tcPr>
                </a:tc>
                <a:tc>
                  <a:txBody>
                    <a:bodyPr/>
                    <a:lstStyle/>
                    <a:p>
                      <a:pPr>
                        <a:defRPr sz="1200" b="1">
                          <a:solidFill>
                            <a:srgbClr val="C0392B"/>
                          </a:solidFill>
                        </a:defRPr>
                      </a:pPr>
                      <a:r>
                        <a:t>CRITICAL</a:t>
                      </a:r>
                    </a:p>
                  </a:txBody>
                  <a:tcPr>
                    <a:solidFill>
                      <a:srgbClr val="1B2A4A"/>
                    </a:solidFill>
                  </a:tcPr>
                </a:tc>
                <a:tc>
                  <a:txBody>
                    <a:bodyPr/>
                    <a:lstStyle/>
                    <a:p>
                      <a:pPr>
                        <a:defRPr sz="1200">
                          <a:solidFill>
                            <a:srgbClr val="FFFFFF"/>
                          </a:solidFill>
                        </a:defRPr>
                      </a:pPr>
                      <a:r>
                        <a:t>Federal MOC and training requirements are legally mandated</a:t>
                      </a:r>
                    </a:p>
                  </a:txBody>
                  <a:tcPr>
                    <a:solidFill>
                      <a:srgbClr val="1B2A4A"/>
                    </a:solidFill>
                  </a:tcPr>
                </a:tc>
              </a:tr>
              <a:tr h="415636">
                <a:tc>
                  <a:txBody>
                    <a:bodyPr/>
                    <a:lstStyle/>
                    <a:p>
                      <a:pPr>
                        <a:defRPr sz="1200">
                          <a:solidFill>
                            <a:srgbClr val="FFFFFF"/>
                          </a:solidFill>
                        </a:defRPr>
                      </a:pPr>
                      <a:r>
                        <a:t>Union/labor blowback (USW 2026 bargaining)</a:t>
                      </a:r>
                    </a:p>
                  </a:txBody>
                  <a:tcPr>
                    <a:solidFill>
                      <a:srgbClr val="223656"/>
                    </a:solidFill>
                  </a:tcPr>
                </a:tc>
                <a:tc>
                  <a:txBody>
                    <a:bodyPr/>
                    <a:lstStyle/>
                    <a:p>
                      <a:pPr>
                        <a:defRPr sz="1200" b="1">
                          <a:solidFill>
                            <a:srgbClr val="C0392B"/>
                          </a:solidFill>
                        </a:defRPr>
                      </a:pPr>
                      <a:r>
                        <a:t>CRITICAL</a:t>
                      </a:r>
                    </a:p>
                  </a:txBody>
                  <a:tcPr>
                    <a:solidFill>
                      <a:srgbClr val="223656"/>
                    </a:solidFill>
                  </a:tcPr>
                </a:tc>
                <a:tc>
                  <a:txBody>
                    <a:bodyPr/>
                    <a:lstStyle/>
                    <a:p>
                      <a:pPr>
                        <a:defRPr sz="1200">
                          <a:solidFill>
                            <a:srgbClr val="FFFFFF"/>
                          </a:solidFill>
                        </a:defRPr>
                      </a:pPr>
                      <a:r>
                        <a:t>Override tracking = potential NLRA violation; chilling effect on safety</a:t>
                      </a:r>
                    </a:p>
                  </a:txBody>
                  <a:tcPr>
                    <a:solidFill>
                      <a:srgbClr val="223656"/>
                    </a:solidFill>
                  </a:tcPr>
                </a:tc>
              </a:tr>
              <a:tr h="415636">
                <a:tc>
                  <a:txBody>
                    <a:bodyPr/>
                    <a:lstStyle/>
                    <a:p>
                      <a:pPr>
                        <a:defRPr sz="1200">
                          <a:solidFill>
                            <a:srgbClr val="FFFFFF"/>
                          </a:solidFill>
                        </a:defRPr>
                      </a:pPr>
                      <a:r>
                        <a:t>Constraint input impossible in PPE</a:t>
                      </a:r>
                    </a:p>
                  </a:txBody>
                  <a:tcPr>
                    <a:solidFill>
                      <a:srgbClr val="1B2A4A"/>
                    </a:solidFill>
                  </a:tcPr>
                </a:tc>
                <a:tc>
                  <a:txBody>
                    <a:bodyPr/>
                    <a:lstStyle/>
                    <a:p>
                      <a:pPr>
                        <a:defRPr sz="1200" b="1">
                          <a:solidFill>
                            <a:srgbClr val="E67E22"/>
                          </a:solidFill>
                        </a:defRPr>
                      </a:pPr>
                      <a:r>
                        <a:t>HIGH</a:t>
                      </a:r>
                    </a:p>
                  </a:txBody>
                  <a:tcPr>
                    <a:solidFill>
                      <a:srgbClr val="1B2A4A"/>
                    </a:solidFill>
                  </a:tcPr>
                </a:tc>
                <a:tc>
                  <a:txBody>
                    <a:bodyPr/>
                    <a:lstStyle/>
                    <a:p>
                      <a:pPr>
                        <a:defRPr sz="1200">
                          <a:solidFill>
                            <a:srgbClr val="FFFFFF"/>
                          </a:solidFill>
                        </a:defRPr>
                      </a:pPr>
                      <a:r>
                        <a:t>Typing on phone with chemical gloves is physically impossible</a:t>
                      </a:r>
                    </a:p>
                  </a:txBody>
                  <a:tcPr>
                    <a:solidFill>
                      <a:srgbClr val="1B2A4A"/>
                    </a:solidFill>
                  </a:tcPr>
                </a:tc>
              </a:tr>
              <a:tr h="415636">
                <a:tc>
                  <a:txBody>
                    <a:bodyPr/>
                    <a:lstStyle/>
                    <a:p>
                      <a:pPr>
                        <a:defRPr sz="1200">
                          <a:solidFill>
                            <a:srgbClr val="FFFFFF"/>
                          </a:solidFill>
                        </a:defRPr>
                      </a:pPr>
                      <a:r>
                        <a:t>Algorithm aversion from early errors</a:t>
                      </a:r>
                    </a:p>
                  </a:txBody>
                  <a:tcPr>
                    <a:solidFill>
                      <a:srgbClr val="223656"/>
                    </a:solidFill>
                  </a:tcPr>
                </a:tc>
                <a:tc>
                  <a:txBody>
                    <a:bodyPr/>
                    <a:lstStyle/>
                    <a:p>
                      <a:pPr>
                        <a:defRPr sz="1200" b="1">
                          <a:solidFill>
                            <a:srgbClr val="E67E22"/>
                          </a:solidFill>
                        </a:defRPr>
                      </a:pPr>
                      <a:r>
                        <a:t>HIGH</a:t>
                      </a:r>
                    </a:p>
                  </a:txBody>
                  <a:tcPr>
                    <a:solidFill>
                      <a:srgbClr val="223656"/>
                    </a:solidFill>
                  </a:tcPr>
                </a:tc>
                <a:tc>
                  <a:txBody>
                    <a:bodyPr/>
                    <a:lstStyle/>
                    <a:p>
                      <a:pPr>
                        <a:defRPr sz="1200">
                          <a:solidFill>
                            <a:srgbClr val="FFFFFF"/>
                          </a:solidFill>
                        </a:defRPr>
                      </a:pPr>
                      <a:r>
                        <a:t>One bad recommendation destroys months of trust-building</a:t>
                      </a:r>
                    </a:p>
                  </a:txBody>
                  <a:tcPr>
                    <a:solidFill>
                      <a:srgbClr val="223656"/>
                    </a:solidFill>
                  </a:tcPr>
                </a:tc>
              </a:tr>
              <a:tr h="415636">
                <a:tc>
                  <a:txBody>
                    <a:bodyPr/>
                    <a:lstStyle/>
                    <a:p>
                      <a:pPr>
                        <a:defRPr sz="1200">
                          <a:solidFill>
                            <a:srgbClr val="FFFFFF"/>
                          </a:solidFill>
                        </a:defRPr>
                      </a:pPr>
                      <a:r>
                        <a:t>Shift handover integration gap</a:t>
                      </a:r>
                    </a:p>
                  </a:txBody>
                  <a:tcPr>
                    <a:solidFill>
                      <a:srgbClr val="1B2A4A"/>
                    </a:solidFill>
                  </a:tcPr>
                </a:tc>
                <a:tc>
                  <a:txBody>
                    <a:bodyPr/>
                    <a:lstStyle/>
                    <a:p>
                      <a:pPr>
                        <a:defRPr sz="1200" b="1">
                          <a:solidFill>
                            <a:srgbClr val="E67E22"/>
                          </a:solidFill>
                        </a:defRPr>
                      </a:pPr>
                      <a:r>
                        <a:t>HIGH</a:t>
                      </a:r>
                    </a:p>
                  </a:txBody>
                  <a:tcPr>
                    <a:solidFill>
                      <a:srgbClr val="1B2A4A"/>
                    </a:solidFill>
                  </a:tcPr>
                </a:tc>
                <a:tc>
                  <a:txBody>
                    <a:bodyPr/>
                    <a:lstStyle/>
                    <a:p>
                      <a:pPr>
                        <a:defRPr sz="1200">
                          <a:solidFill>
                            <a:srgbClr val="FFFFFF"/>
                          </a:solidFill>
                        </a:defRPr>
                      </a:pPr>
                      <a:r>
                        <a:t>Piper Alpha (1988): 167 died from a constraint not communicated at handover</a:t>
                      </a:r>
                    </a:p>
                  </a:txBody>
                  <a:tcPr>
                    <a:solidFill>
                      <a:srgbClr val="1B2A4A"/>
                    </a:solidFill>
                  </a:tcPr>
                </a:tc>
              </a:tr>
              <a:tr h="415636">
                <a:tc>
                  <a:txBody>
                    <a:bodyPr/>
                    <a:lstStyle/>
                    <a:p>
                      <a:pPr>
                        <a:defRPr sz="1200">
                          <a:solidFill>
                            <a:srgbClr val="FFFFFF"/>
                          </a:solidFill>
                        </a:defRPr>
                      </a:pPr>
                      <a:r>
                        <a:t>Dashboard creates blame culture, not behavior change</a:t>
                      </a:r>
                    </a:p>
                  </a:txBody>
                  <a:tcPr>
                    <a:solidFill>
                      <a:srgbClr val="223656"/>
                    </a:solidFill>
                  </a:tcPr>
                </a:tc>
                <a:tc>
                  <a:txBody>
                    <a:bodyPr/>
                    <a:lstStyle/>
                    <a:p>
                      <a:pPr>
                        <a:defRPr sz="1200" b="1">
                          <a:solidFill>
                            <a:srgbClr val="E67E22"/>
                          </a:solidFill>
                        </a:defRPr>
                      </a:pPr>
                      <a:r>
                        <a:t>HIGH</a:t>
                      </a:r>
                    </a:p>
                  </a:txBody>
                  <a:tcPr>
                    <a:solidFill>
                      <a:srgbClr val="223656"/>
                    </a:solidFill>
                  </a:tcPr>
                </a:tc>
                <a:tc>
                  <a:txBody>
                    <a:bodyPr/>
                    <a:lstStyle/>
                    <a:p>
                      <a:pPr>
                        <a:defRPr sz="1200">
                          <a:solidFill>
                            <a:srgbClr val="FFFFFF"/>
                          </a:solidFill>
                        </a:defRPr>
                      </a:pPr>
                      <a:r>
                        <a:t>Loss framing actually decreases performance 33% of the time</a:t>
                      </a:r>
                    </a:p>
                  </a:txBody>
                  <a:tcPr>
                    <a:solidFill>
                      <a:srgbClr val="223656"/>
                    </a:solidFill>
                  </a:tcPr>
                </a:tc>
              </a:tr>
              <a:tr h="415636">
                <a:tc>
                  <a:txBody>
                    <a:bodyPr/>
                    <a:lstStyle/>
                    <a:p>
                      <a:pPr>
                        <a:defRPr sz="1200">
                          <a:solidFill>
                            <a:srgbClr val="FFFFFF"/>
                          </a:solidFill>
                        </a:defRPr>
                      </a:pPr>
                      <a:r>
                        <a:t>Cybersecurity procurement bottleneck</a:t>
                      </a:r>
                    </a:p>
                  </a:txBody>
                  <a:tcPr>
                    <a:solidFill>
                      <a:srgbClr val="1B2A4A"/>
                    </a:solidFill>
                  </a:tcPr>
                </a:tc>
                <a:tc>
                  <a:txBody>
                    <a:bodyPr/>
                    <a:lstStyle/>
                    <a:p>
                      <a:pPr>
                        <a:defRPr sz="1200">
                          <a:solidFill>
                            <a:srgbClr val="FFFFFF"/>
                          </a:solidFill>
                        </a:defRPr>
                      </a:pPr>
                      <a:r>
                        <a:t>MEDIUM</a:t>
                      </a:r>
                    </a:p>
                  </a:txBody>
                  <a:tcPr>
                    <a:solidFill>
                      <a:srgbClr val="1B2A4A"/>
                    </a:solidFill>
                  </a:tcPr>
                </a:tc>
                <a:tc>
                  <a:txBody>
                    <a:bodyPr/>
                    <a:lstStyle/>
                    <a:p>
                      <a:pPr>
                        <a:defRPr sz="1200">
                          <a:solidFill>
                            <a:srgbClr val="FFFFFF"/>
                          </a:solidFill>
                        </a:defRPr>
                      </a:pPr>
                      <a:r>
                        <a:t>6-18 month security review at critical infrastructure sites</a:t>
                      </a:r>
                    </a:p>
                  </a:txBody>
                  <a:tcPr>
                    <a:solidFill>
                      <a:srgbClr val="1B2A4A"/>
                    </a:solidFill>
                  </a:tcPr>
                </a:tc>
              </a:tr>
              <a:tr h="415640">
                <a:tc>
                  <a:txBody>
                    <a:bodyPr/>
                    <a:lstStyle/>
                    <a:p>
                      <a:pPr>
                        <a:defRPr sz="1200">
                          <a:solidFill>
                            <a:srgbClr val="FFFFFF"/>
                          </a:solidFill>
                        </a:defRPr>
                      </a:pPr>
                      <a:r>
                        <a:t>Price trigger threshold miscalibration ($2/bbl too static)</a:t>
                      </a:r>
                    </a:p>
                  </a:txBody>
                  <a:tcPr>
                    <a:solidFill>
                      <a:srgbClr val="223656"/>
                    </a:solidFill>
                  </a:tcPr>
                </a:tc>
                <a:tc>
                  <a:txBody>
                    <a:bodyPr/>
                    <a:lstStyle/>
                    <a:p>
                      <a:pPr>
                        <a:defRPr sz="1200">
                          <a:solidFill>
                            <a:srgbClr val="FFFFFF"/>
                          </a:solidFill>
                        </a:defRPr>
                      </a:pPr>
                      <a:r>
                        <a:t>MEDIUM</a:t>
                      </a:r>
                    </a:p>
                  </a:txBody>
                  <a:tcPr>
                    <a:solidFill>
                      <a:srgbClr val="223656"/>
                    </a:solidFill>
                  </a:tcPr>
                </a:tc>
                <a:tc>
                  <a:txBody>
                    <a:bodyPr/>
                    <a:lstStyle/>
                    <a:p>
                      <a:pPr>
                        <a:defRPr sz="1200">
                          <a:solidFill>
                            <a:srgbClr val="FFFFFF"/>
                          </a:solidFill>
                        </a:defRPr>
                      </a:pPr>
                      <a:r>
                        <a:t>Needs volatility-adjusted thresholds, not fixed dollar amount</a:t>
                      </a:r>
                    </a:p>
                  </a:txBody>
                  <a:tcPr>
                    <a:solidFill>
                      <a:srgbClr val="223656"/>
                    </a:solidFill>
                  </a:tcPr>
                </a:tc>
              </a:tr>
            </a:tbl>
          </a:graphicData>
        </a:graphic>
      </p:graphicFrame>
      <p:sp>
        <p:nvSpPr>
          <p:cNvPr id="4" name="TextBox 3"/>
          <p:cNvSpPr txBox="1"/>
          <p:nvPr/>
        </p:nvSpPr>
        <p:spPr>
          <a:xfrm>
            <a:off x="11505895" y="6492240"/>
            <a:ext cx="457200" cy="274320"/>
          </a:xfrm>
          <a:prstGeom prst="rect">
            <a:avLst/>
          </a:prstGeom>
          <a:noFill/>
        </p:spPr>
        <p:txBody>
          <a:bodyPr wrap="square" anchor="t"/>
          <a:lstStyle/>
          <a:p>
            <a:pPr algn="r">
              <a:defRPr sz="1000" b="0" i="0">
                <a:solidFill>
                  <a:srgbClr val="B0BEC5"/>
                </a:solidFill>
              </a:defRPr>
            </a:pPr>
            <a:r>
              <a:t>15</a:t>
            </a:r>
          </a:p>
        </p:txBody>
      </p:sp>
      <p:sp>
        <p:nvSpPr>
          <p:cNvPr id="5" name="TextBox 4"/>
          <p:cNvSpPr txBox="1"/>
          <p:nvPr/>
        </p:nvSpPr>
        <p:spPr>
          <a:xfrm>
            <a:off x="685800" y="6400800"/>
            <a:ext cx="3657600" cy="274320"/>
          </a:xfrm>
          <a:prstGeom prst="rect">
            <a:avLst/>
          </a:prstGeom>
          <a:noFill/>
        </p:spPr>
        <p:txBody>
          <a:bodyPr wrap="square" anchor="t"/>
          <a:lstStyle/>
          <a:p>
            <a:pPr algn="l">
              <a:defRPr sz="1200" b="0" i="1">
                <a:solidFill>
                  <a:srgbClr val="78909C"/>
                </a:solidFill>
              </a:defRPr>
            </a:pPr>
            <a:r>
              <a:t>Deep dive: research/run1/adoption-risks.md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685800" y="365760"/>
            <a:ext cx="10820095" cy="640080"/>
          </a:xfrm>
          <a:prstGeom prst="rect">
            <a:avLst/>
          </a:prstGeom>
          <a:noFill/>
        </p:spPr>
        <p:txBody>
          <a:bodyPr wrap="square" anchor="t"/>
          <a:lstStyle/>
          <a:p>
            <a:pPr algn="l">
              <a:defRPr sz="2800" b="1" i="0">
                <a:solidFill>
                  <a:srgbClr val="FFFFFF"/>
                </a:solidFill>
              </a:defRPr>
            </a:pPr>
            <a:r>
              <a:t>Unified Risk Matrix: Top 10 Must-Solve-Before-Building</a:t>
            </a:r>
          </a:p>
        </p:txBody>
      </p:sp>
      <p:sp>
        <p:nvSpPr>
          <p:cNvPr id="3" name="TextBox 2"/>
          <p:cNvSpPr txBox="1"/>
          <p:nvPr/>
        </p:nvSpPr>
        <p:spPr>
          <a:xfrm>
            <a:off x="685800" y="1005840"/>
            <a:ext cx="10820095" cy="457200"/>
          </a:xfrm>
          <a:prstGeom prst="rect">
            <a:avLst/>
          </a:prstGeom>
          <a:noFill/>
        </p:spPr>
        <p:txBody>
          <a:bodyPr wrap="square" anchor="t"/>
          <a:lstStyle/>
          <a:p>
            <a:pPr algn="l">
              <a:defRPr sz="2000" b="0" i="0">
                <a:solidFill>
                  <a:srgbClr val="B0BEC5"/>
                </a:solidFill>
              </a:defRPr>
            </a:pPr>
            <a:r>
              <a:t>Scored: Severity (1-5) x Likelihood (1-5) x Timeline Impact (1-5). Max = 125.</a:t>
            </a:r>
          </a:p>
        </p:txBody>
      </p:sp>
      <p:graphicFrame>
        <p:nvGraphicFramePr>
          <p:cNvPr id="4" name="Table 3"/>
          <p:cNvGraphicFramePr>
            <a:graphicFrameLocks noGrp="1"/>
          </p:cNvGraphicFramePr>
          <p:nvPr/>
        </p:nvGraphicFramePr>
        <p:xfrm>
          <a:off x="685800" y="1737360"/>
          <a:ext cx="10820095" cy="4389120.0"/>
        </p:xfrm>
        <a:graphic>
          <a:graphicData uri="http://schemas.openxmlformats.org/drawingml/2006/table">
            <a:tbl>
              <a:tblPr firstRow="1" bandRow="1">
                <a:tableStyleId>{5C22544A-7EE6-4342-B048-85BDC9FD1C3A}</a:tableStyleId>
              </a:tblPr>
              <a:tblGrid>
                <a:gridCol w="2164019"/>
                <a:gridCol w="2164019"/>
                <a:gridCol w="2164019"/>
                <a:gridCol w="2164019"/>
                <a:gridCol w="2164019"/>
              </a:tblGrid>
              <a:tr h="399010">
                <a:tc>
                  <a:txBody>
                    <a:bodyPr/>
                    <a:lstStyle/>
                    <a:p>
                      <a:pPr>
                        <a:defRPr sz="1400" b="1">
                          <a:solidFill>
                            <a:srgbClr val="D4A843"/>
                          </a:solidFill>
                        </a:defRPr>
                      </a:pPr>
                      <a:r>
                        <a:t>Rank</a:t>
                      </a:r>
                    </a:p>
                  </a:txBody>
                  <a:tcPr>
                    <a:solidFill>
                      <a:srgbClr val="15223A"/>
                    </a:solidFill>
                  </a:tcPr>
                </a:tc>
                <a:tc>
                  <a:txBody>
                    <a:bodyPr/>
                    <a:lstStyle/>
                    <a:p>
                      <a:pPr>
                        <a:defRPr sz="1400" b="1">
                          <a:solidFill>
                            <a:srgbClr val="D4A843"/>
                          </a:solidFill>
                        </a:defRPr>
                      </a:pPr>
                      <a:r>
                        <a:t>Risk</a:t>
                      </a:r>
                    </a:p>
                  </a:txBody>
                  <a:tcPr>
                    <a:solidFill>
                      <a:srgbClr val="15223A"/>
                    </a:solidFill>
                  </a:tcPr>
                </a:tc>
                <a:tc>
                  <a:txBody>
                    <a:bodyPr/>
                    <a:lstStyle/>
                    <a:p>
                      <a:pPr>
                        <a:defRPr sz="1400" b="1">
                          <a:solidFill>
                            <a:srgbClr val="D4A843"/>
                          </a:solidFill>
                        </a:defRPr>
                      </a:pPr>
                      <a:r>
                        <a:t>Score</a:t>
                      </a:r>
                    </a:p>
                  </a:txBody>
                  <a:tcPr>
                    <a:solidFill>
                      <a:srgbClr val="15223A"/>
                    </a:solidFill>
                  </a:tcPr>
                </a:tc>
                <a:tc>
                  <a:txBody>
                    <a:bodyPr/>
                    <a:lstStyle/>
                    <a:p>
                      <a:pPr>
                        <a:defRPr sz="1400" b="1">
                          <a:solidFill>
                            <a:srgbClr val="D4A843"/>
                          </a:solidFill>
                        </a:defRPr>
                      </a:pPr>
                      <a:r>
                        <a:t>Component</a:t>
                      </a:r>
                    </a:p>
                  </a:txBody>
                  <a:tcPr>
                    <a:solidFill>
                      <a:srgbClr val="15223A"/>
                    </a:solidFill>
                  </a:tcPr>
                </a:tc>
                <a:tc>
                  <a:txBody>
                    <a:bodyPr/>
                    <a:lstStyle/>
                    <a:p>
                      <a:pPr>
                        <a:defRPr sz="1400" b="1">
                          <a:solidFill>
                            <a:srgbClr val="D4A843"/>
                          </a:solidFill>
                        </a:defRPr>
                      </a:pPr>
                      <a:r>
                        <a:t>GO/NO-GO</a:t>
                      </a:r>
                    </a:p>
                  </a:txBody>
                  <a:tcPr>
                    <a:solidFill>
                      <a:srgbClr val="15223A"/>
                    </a:solidFill>
                  </a:tcPr>
                </a:tc>
              </a:tr>
              <a:tr h="399010">
                <a:tc>
                  <a:txBody>
                    <a:bodyPr/>
                    <a:lstStyle/>
                    <a:p>
                      <a:pPr>
                        <a:defRPr sz="1200">
                          <a:solidFill>
                            <a:srgbClr val="FFFFFF"/>
                          </a:solidFill>
                        </a:defRPr>
                      </a:pPr>
                      <a:r>
                        <a:t>1</a:t>
                      </a:r>
                    </a:p>
                  </a:txBody>
                  <a:tcPr>
                    <a:solidFill>
                      <a:srgbClr val="1B2A4A"/>
                    </a:solidFill>
                  </a:tcPr>
                </a:tc>
                <a:tc>
                  <a:txBody>
                    <a:bodyPr/>
                    <a:lstStyle/>
                    <a:p>
                      <a:pPr>
                        <a:defRPr sz="1200">
                          <a:solidFill>
                            <a:srgbClr val="FFFFFF"/>
                          </a:solidFill>
                        </a:defRPr>
                      </a:pPr>
                      <a:r>
                        <a:t>Excel COM automation unsupported &amp; unscalable</a:t>
                      </a:r>
                    </a:p>
                  </a:txBody>
                  <a:tcPr>
                    <a:solidFill>
                      <a:srgbClr val="1B2A4A"/>
                    </a:solidFill>
                  </a:tcPr>
                </a:tc>
                <a:tc>
                  <a:txBody>
                    <a:bodyPr/>
                    <a:lstStyle/>
                    <a:p>
                      <a:pPr>
                        <a:defRPr sz="1200">
                          <a:solidFill>
                            <a:srgbClr val="FFFFFF"/>
                          </a:solidFill>
                        </a:defRPr>
                      </a:pPr>
                      <a:r>
                        <a:t>125</a:t>
                      </a:r>
                    </a:p>
                  </a:txBody>
                  <a:tcPr>
                    <a:solidFill>
                      <a:srgbClr val="1B2A4A"/>
                    </a:solidFill>
                  </a:tcPr>
                </a:tc>
                <a:tc>
                  <a:txBody>
                    <a:bodyPr/>
                    <a:lstStyle/>
                    <a:p>
                      <a:pPr>
                        <a:defRPr sz="1200">
                          <a:solidFill>
                            <a:srgbClr val="FFFFFF"/>
                          </a:solidFill>
                        </a:defRPr>
                      </a:pPr>
                      <a:r>
                        <a:t>LP Engine</a:t>
                      </a:r>
                    </a:p>
                  </a:txBody>
                  <a:tcPr>
                    <a:solidFill>
                      <a:srgbClr val="1B2A4A"/>
                    </a:solidFill>
                  </a:tcPr>
                </a:tc>
                <a:tc>
                  <a:txBody>
                    <a:bodyPr/>
                    <a:lstStyle/>
                    <a:p>
                      <a:pPr>
                        <a:defRPr sz="1200">
                          <a:solidFill>
                            <a:srgbClr val="E67E22"/>
                          </a:solidFill>
                        </a:defRPr>
                      </a:pPr>
                      <a:r>
                        <a:t>CONDITIONAL — validate 72hr on real model</a:t>
                      </a:r>
                    </a:p>
                  </a:txBody>
                  <a:tcPr>
                    <a:solidFill>
                      <a:srgbClr val="1B2A4A"/>
                    </a:solidFill>
                  </a:tcPr>
                </a:tc>
              </a:tr>
              <a:tr h="399010">
                <a:tc>
                  <a:txBody>
                    <a:bodyPr/>
                    <a:lstStyle/>
                    <a:p>
                      <a:pPr>
                        <a:defRPr sz="1200">
                          <a:solidFill>
                            <a:srgbClr val="FFFFFF"/>
                          </a:solidFill>
                        </a:defRPr>
                      </a:pPr>
                      <a:r>
                        <a:t>2</a:t>
                      </a:r>
                    </a:p>
                  </a:txBody>
                  <a:tcPr>
                    <a:solidFill>
                      <a:srgbClr val="223656"/>
                    </a:solidFill>
                  </a:tcPr>
                </a:tc>
                <a:tc>
                  <a:txBody>
                    <a:bodyPr/>
                    <a:lstStyle/>
                    <a:p>
                      <a:pPr>
                        <a:defRPr sz="1200">
                          <a:solidFill>
                            <a:srgbClr val="FFFFFF"/>
                          </a:solidFill>
                        </a:defRPr>
                      </a:pPr>
                      <a:r>
                        <a:t>Operator delivery channel doesn't work (Slack/Teams/PPE)</a:t>
                      </a:r>
                    </a:p>
                  </a:txBody>
                  <a:tcPr>
                    <a:solidFill>
                      <a:srgbClr val="223656"/>
                    </a:solidFill>
                  </a:tcPr>
                </a:tc>
                <a:tc>
                  <a:txBody>
                    <a:bodyPr/>
                    <a:lstStyle/>
                    <a:p>
                      <a:pPr>
                        <a:defRPr sz="1200">
                          <a:solidFill>
                            <a:srgbClr val="FFFFFF"/>
                          </a:solidFill>
                        </a:defRPr>
                      </a:pPr>
                      <a:r>
                        <a:t>125</a:t>
                      </a:r>
                    </a:p>
                  </a:txBody>
                  <a:tcPr>
                    <a:solidFill>
                      <a:srgbClr val="223656"/>
                    </a:solidFill>
                  </a:tcPr>
                </a:tc>
                <a:tc>
                  <a:txBody>
                    <a:bodyPr/>
                    <a:lstStyle/>
                    <a:p>
                      <a:pPr>
                        <a:defRPr sz="1200">
                          <a:solidFill>
                            <a:srgbClr val="FFFFFF"/>
                          </a:solidFill>
                        </a:defRPr>
                      </a:pPr>
                      <a:r>
                        <a:t>Communication</a:t>
                      </a:r>
                    </a:p>
                  </a:txBody>
                  <a:tcPr>
                    <a:solidFill>
                      <a:srgbClr val="223656"/>
                    </a:solidFill>
                  </a:tcPr>
                </a:tc>
                <a:tc>
                  <a:txBody>
                    <a:bodyPr/>
                    <a:lstStyle/>
                    <a:p>
                      <a:pPr>
                        <a:defRPr sz="1200">
                          <a:solidFill>
                            <a:srgbClr val="E67E22"/>
                          </a:solidFill>
                        </a:defRPr>
                      </a:pPr>
                      <a:r>
                        <a:t>CONDITIONAL — redesign primary user</a:t>
                      </a:r>
                    </a:p>
                  </a:txBody>
                  <a:tcPr>
                    <a:solidFill>
                      <a:srgbClr val="223656"/>
                    </a:solidFill>
                  </a:tcPr>
                </a:tc>
              </a:tr>
              <a:tr h="399010">
                <a:tc>
                  <a:txBody>
                    <a:bodyPr/>
                    <a:lstStyle/>
                    <a:p>
                      <a:pPr>
                        <a:defRPr sz="1200">
                          <a:solidFill>
                            <a:srgbClr val="FFFFFF"/>
                          </a:solidFill>
                        </a:defRPr>
                      </a:pPr>
                      <a:r>
                        <a:t>3</a:t>
                      </a:r>
                    </a:p>
                  </a:txBody>
                  <a:tcPr>
                    <a:solidFill>
                      <a:srgbClr val="1B2A4A"/>
                    </a:solidFill>
                  </a:tcPr>
                </a:tc>
                <a:tc>
                  <a:txBody>
                    <a:bodyPr/>
                    <a:lstStyle/>
                    <a:p>
                      <a:pPr>
                        <a:defRPr sz="1200">
                          <a:solidFill>
                            <a:srgbClr val="FFFFFF"/>
                          </a:solidFill>
                        </a:defRPr>
                      </a:pPr>
                      <a:r>
                        <a:t>Proprietary LP solvers (PIMS/GRTMPS) block architecture</a:t>
                      </a:r>
                    </a:p>
                  </a:txBody>
                  <a:tcPr>
                    <a:solidFill>
                      <a:srgbClr val="1B2A4A"/>
                    </a:solidFill>
                  </a:tcPr>
                </a:tc>
                <a:tc>
                  <a:txBody>
                    <a:bodyPr/>
                    <a:lstStyle/>
                    <a:p>
                      <a:pPr>
                        <a:defRPr sz="1200">
                          <a:solidFill>
                            <a:srgbClr val="FFFFFF"/>
                          </a:solidFill>
                        </a:defRPr>
                      </a:pPr>
                      <a:r>
                        <a:t>100</a:t>
                      </a:r>
                    </a:p>
                  </a:txBody>
                  <a:tcPr>
                    <a:solidFill>
                      <a:srgbClr val="1B2A4A"/>
                    </a:solidFill>
                  </a:tcPr>
                </a:tc>
                <a:tc>
                  <a:txBody>
                    <a:bodyPr/>
                    <a:lstStyle/>
                    <a:p>
                      <a:pPr>
                        <a:defRPr sz="1200">
                          <a:solidFill>
                            <a:srgbClr val="FFFFFF"/>
                          </a:solidFill>
                        </a:defRPr>
                      </a:pPr>
                      <a:r>
                        <a:t>LP Engine</a:t>
                      </a:r>
                    </a:p>
                  </a:txBody>
                  <a:tcPr>
                    <a:solidFill>
                      <a:srgbClr val="1B2A4A"/>
                    </a:solidFill>
                  </a:tcPr>
                </a:tc>
                <a:tc>
                  <a:txBody>
                    <a:bodyPr/>
                    <a:lstStyle/>
                    <a:p>
                      <a:pPr>
                        <a:defRPr sz="1200">
                          <a:solidFill>
                            <a:srgbClr val="E67E22"/>
                          </a:solidFill>
                        </a:defRPr>
                      </a:pPr>
                      <a:r>
                        <a:t>CONDITIONAL — survey 10-15 refineries</a:t>
                      </a:r>
                    </a:p>
                  </a:txBody>
                  <a:tcPr>
                    <a:solidFill>
                      <a:srgbClr val="1B2A4A"/>
                    </a:solidFill>
                  </a:tcPr>
                </a:tc>
              </a:tr>
              <a:tr h="399010">
                <a:tc>
                  <a:txBody>
                    <a:bodyPr/>
                    <a:lstStyle/>
                    <a:p>
                      <a:pPr>
                        <a:defRPr sz="1200">
                          <a:solidFill>
                            <a:srgbClr val="FFFFFF"/>
                          </a:solidFill>
                        </a:defRPr>
                      </a:pPr>
                      <a:r>
                        <a:t>4</a:t>
                      </a:r>
                    </a:p>
                  </a:txBody>
                  <a:tcPr>
                    <a:solidFill>
                      <a:srgbClr val="223656"/>
                    </a:solidFill>
                  </a:tcPr>
                </a:tc>
                <a:tc>
                  <a:txBody>
                    <a:bodyPr/>
                    <a:lstStyle/>
                    <a:p>
                      <a:pPr>
                        <a:defRPr sz="1200">
                          <a:solidFill>
                            <a:srgbClr val="FFFFFF"/>
                          </a:solidFill>
                        </a:defRPr>
                      </a:pPr>
                      <a:r>
                        <a:t>Team credibility gap (student founders)</a:t>
                      </a:r>
                    </a:p>
                  </a:txBody>
                  <a:tcPr>
                    <a:solidFill>
                      <a:srgbClr val="223656"/>
                    </a:solidFill>
                  </a:tcPr>
                </a:tc>
                <a:tc>
                  <a:txBody>
                    <a:bodyPr/>
                    <a:lstStyle/>
                    <a:p>
                      <a:pPr>
                        <a:defRPr sz="1200">
                          <a:solidFill>
                            <a:srgbClr val="FFFFFF"/>
                          </a:solidFill>
                        </a:defRPr>
                      </a:pPr>
                      <a:r>
                        <a:t>100</a:t>
                      </a:r>
                    </a:p>
                  </a:txBody>
                  <a:tcPr>
                    <a:solidFill>
                      <a:srgbClr val="223656"/>
                    </a:solidFill>
                  </a:tcPr>
                </a:tc>
                <a:tc>
                  <a:txBody>
                    <a:bodyPr/>
                    <a:lstStyle/>
                    <a:p>
                      <a:pPr>
                        <a:defRPr sz="1200">
                          <a:solidFill>
                            <a:srgbClr val="FFFFFF"/>
                          </a:solidFill>
                        </a:defRPr>
                      </a:pPr>
                      <a:r>
                        <a:t>Sales</a:t>
                      </a:r>
                    </a:p>
                  </a:txBody>
                  <a:tcPr>
                    <a:solidFill>
                      <a:srgbClr val="223656"/>
                    </a:solidFill>
                  </a:tcPr>
                </a:tc>
                <a:tc>
                  <a:txBody>
                    <a:bodyPr/>
                    <a:lstStyle/>
                    <a:p>
                      <a:pPr>
                        <a:defRPr sz="1200">
                          <a:solidFill>
                            <a:srgbClr val="E67E22"/>
                          </a:solidFill>
                        </a:defRPr>
                      </a:pPr>
                      <a:r>
                        <a:t>CONDITIONAL — recruit domain expert</a:t>
                      </a:r>
                    </a:p>
                  </a:txBody>
                  <a:tcPr>
                    <a:solidFill>
                      <a:srgbClr val="223656"/>
                    </a:solidFill>
                  </a:tcPr>
                </a:tc>
              </a:tr>
              <a:tr h="399010">
                <a:tc>
                  <a:txBody>
                    <a:bodyPr/>
                    <a:lstStyle/>
                    <a:p>
                      <a:pPr>
                        <a:defRPr sz="1200">
                          <a:solidFill>
                            <a:srgbClr val="FFFFFF"/>
                          </a:solidFill>
                        </a:defRPr>
                      </a:pPr>
                      <a:r>
                        <a:t>5</a:t>
                      </a:r>
                    </a:p>
                  </a:txBody>
                  <a:tcPr>
                    <a:solidFill>
                      <a:srgbClr val="1B2A4A"/>
                    </a:solidFill>
                  </a:tcPr>
                </a:tc>
                <a:tc>
                  <a:txBody>
                    <a:bodyPr/>
                    <a:lstStyle/>
                    <a:p>
                      <a:pPr>
                        <a:defRPr sz="1200">
                          <a:solidFill>
                            <a:srgbClr val="FFFFFF"/>
                          </a:solidFill>
                        </a:defRPr>
                      </a:pPr>
                      <a:r>
                        <a:t>LLM hallucination + NLP constraint extraction failures</a:t>
                      </a:r>
                    </a:p>
                  </a:txBody>
                  <a:tcPr>
                    <a:solidFill>
                      <a:srgbClr val="1B2A4A"/>
                    </a:solidFill>
                  </a:tcPr>
                </a:tc>
                <a:tc>
                  <a:txBody>
                    <a:bodyPr/>
                    <a:lstStyle/>
                    <a:p>
                      <a:pPr>
                        <a:defRPr sz="1200">
                          <a:solidFill>
                            <a:srgbClr val="FFFFFF"/>
                          </a:solidFill>
                        </a:defRPr>
                      </a:pPr>
                      <a:r>
                        <a:t>80</a:t>
                      </a:r>
                    </a:p>
                  </a:txBody>
                  <a:tcPr>
                    <a:solidFill>
                      <a:srgbClr val="1B2A4A"/>
                    </a:solidFill>
                  </a:tcPr>
                </a:tc>
                <a:tc>
                  <a:txBody>
                    <a:bodyPr/>
                    <a:lstStyle/>
                    <a:p>
                      <a:pPr>
                        <a:defRPr sz="1200">
                          <a:solidFill>
                            <a:srgbClr val="FFFFFF"/>
                          </a:solidFill>
                        </a:defRPr>
                      </a:pPr>
                      <a:r>
                        <a:t>AI Layer</a:t>
                      </a:r>
                    </a:p>
                  </a:txBody>
                  <a:tcPr>
                    <a:solidFill>
                      <a:srgbClr val="1B2A4A"/>
                    </a:solidFill>
                  </a:tcPr>
                </a:tc>
                <a:tc>
                  <a:txBody>
                    <a:bodyPr/>
                    <a:lstStyle/>
                    <a:p>
                      <a:pPr>
                        <a:defRPr sz="1200">
                          <a:solidFill>
                            <a:srgbClr val="27AE60"/>
                          </a:solidFill>
                        </a:defRPr>
                      </a:pPr>
                      <a:r>
                        <a:t>GO with guardrails — decouple numbers</a:t>
                      </a:r>
                    </a:p>
                  </a:txBody>
                  <a:tcPr>
                    <a:solidFill>
                      <a:srgbClr val="1B2A4A"/>
                    </a:solidFill>
                  </a:tcPr>
                </a:tc>
              </a:tr>
              <a:tr h="399010">
                <a:tc>
                  <a:txBody>
                    <a:bodyPr/>
                    <a:lstStyle/>
                    <a:p>
                      <a:pPr>
                        <a:defRPr sz="1200">
                          <a:solidFill>
                            <a:srgbClr val="FFFFFF"/>
                          </a:solidFill>
                        </a:defRPr>
                      </a:pPr>
                      <a:r>
                        <a:t>6</a:t>
                      </a:r>
                    </a:p>
                  </a:txBody>
                  <a:tcPr>
                    <a:solidFill>
                      <a:srgbClr val="223656"/>
                    </a:solidFill>
                  </a:tcPr>
                </a:tc>
                <a:tc>
                  <a:txBody>
                    <a:bodyPr/>
                    <a:lstStyle/>
                    <a:p>
                      <a:pPr>
                        <a:defRPr sz="1200">
                          <a:solidFill>
                            <a:srgbClr val="FFFFFF"/>
                          </a:solidFill>
                        </a:defRPr>
                      </a:pPr>
                      <a:r>
                        <a:t>OT network security / Purdue model / cybersecurity</a:t>
                      </a:r>
                    </a:p>
                  </a:txBody>
                  <a:tcPr>
                    <a:solidFill>
                      <a:srgbClr val="223656"/>
                    </a:solidFill>
                  </a:tcPr>
                </a:tc>
                <a:tc>
                  <a:txBody>
                    <a:bodyPr/>
                    <a:lstStyle/>
                    <a:p>
                      <a:pPr>
                        <a:defRPr sz="1200">
                          <a:solidFill>
                            <a:srgbClr val="FFFFFF"/>
                          </a:solidFill>
                        </a:defRPr>
                      </a:pPr>
                      <a:r>
                        <a:t>80</a:t>
                      </a:r>
                    </a:p>
                  </a:txBody>
                  <a:tcPr>
                    <a:solidFill>
                      <a:srgbClr val="223656"/>
                    </a:solidFill>
                  </a:tcPr>
                </a:tc>
                <a:tc>
                  <a:txBody>
                    <a:bodyPr/>
                    <a:lstStyle/>
                    <a:p>
                      <a:pPr>
                        <a:defRPr sz="1200">
                          <a:solidFill>
                            <a:srgbClr val="FFFFFF"/>
                          </a:solidFill>
                        </a:defRPr>
                      </a:pPr>
                      <a:r>
                        <a:t>Infrastructure</a:t>
                      </a:r>
                    </a:p>
                  </a:txBody>
                  <a:tcPr>
                    <a:solidFill>
                      <a:srgbClr val="223656"/>
                    </a:solidFill>
                  </a:tcPr>
                </a:tc>
                <a:tc>
                  <a:txBody>
                    <a:bodyPr/>
                    <a:lstStyle/>
                    <a:p>
                      <a:pPr>
                        <a:defRPr sz="1200">
                          <a:solidFill>
                            <a:srgbClr val="27AE60"/>
                          </a:solidFill>
                        </a:defRPr>
                      </a:pPr>
                      <a:r>
                        <a:t>GO — build Edge Agent from day one</a:t>
                      </a:r>
                    </a:p>
                  </a:txBody>
                  <a:tcPr>
                    <a:solidFill>
                      <a:srgbClr val="223656"/>
                    </a:solidFill>
                  </a:tcPr>
                </a:tc>
              </a:tr>
              <a:tr h="399010">
                <a:tc>
                  <a:txBody>
                    <a:bodyPr/>
                    <a:lstStyle/>
                    <a:p>
                      <a:pPr>
                        <a:defRPr sz="1200">
                          <a:solidFill>
                            <a:srgbClr val="FFFFFF"/>
                          </a:solidFill>
                        </a:defRPr>
                      </a:pPr>
                      <a:r>
                        <a:t>7</a:t>
                      </a:r>
                    </a:p>
                  </a:txBody>
                  <a:tcPr>
                    <a:solidFill>
                      <a:srgbClr val="1B2A4A"/>
                    </a:solidFill>
                  </a:tcPr>
                </a:tc>
                <a:tc>
                  <a:txBody>
                    <a:bodyPr/>
                    <a:lstStyle/>
                    <a:p>
                      <a:pPr>
                        <a:defRPr sz="1200">
                          <a:solidFill>
                            <a:srgbClr val="FFFFFF"/>
                          </a:solidFill>
                        </a:defRPr>
                      </a:pPr>
                      <a:r>
                        <a:t>OSHA PSM / MOC / training requirements</a:t>
                      </a:r>
                    </a:p>
                  </a:txBody>
                  <a:tcPr>
                    <a:solidFill>
                      <a:srgbClr val="1B2A4A"/>
                    </a:solidFill>
                  </a:tcPr>
                </a:tc>
                <a:tc>
                  <a:txBody>
                    <a:bodyPr/>
                    <a:lstStyle/>
                    <a:p>
                      <a:pPr>
                        <a:defRPr sz="1200">
                          <a:solidFill>
                            <a:srgbClr val="FFFFFF"/>
                          </a:solidFill>
                        </a:defRPr>
                      </a:pPr>
                      <a:r>
                        <a:t>80</a:t>
                      </a:r>
                    </a:p>
                  </a:txBody>
                  <a:tcPr>
                    <a:solidFill>
                      <a:srgbClr val="1B2A4A"/>
                    </a:solidFill>
                  </a:tcPr>
                </a:tc>
                <a:tc>
                  <a:txBody>
                    <a:bodyPr/>
                    <a:lstStyle/>
                    <a:p>
                      <a:pPr>
                        <a:defRPr sz="1200">
                          <a:solidFill>
                            <a:srgbClr val="FFFFFF"/>
                          </a:solidFill>
                        </a:defRPr>
                      </a:pPr>
                      <a:r>
                        <a:t>Compliance</a:t>
                      </a:r>
                    </a:p>
                  </a:txBody>
                  <a:tcPr>
                    <a:solidFill>
                      <a:srgbClr val="1B2A4A"/>
                    </a:solidFill>
                  </a:tcPr>
                </a:tc>
                <a:tc>
                  <a:txBody>
                    <a:bodyPr/>
                    <a:lstStyle/>
                    <a:p>
                      <a:pPr>
                        <a:defRPr sz="1200">
                          <a:solidFill>
                            <a:srgbClr val="27AE60"/>
                          </a:solidFill>
                        </a:defRPr>
                      </a:pPr>
                      <a:r>
                        <a:t>GO — build MOC package into sales</a:t>
                      </a:r>
                    </a:p>
                  </a:txBody>
                  <a:tcPr>
                    <a:solidFill>
                      <a:srgbClr val="1B2A4A"/>
                    </a:solidFill>
                  </a:tcPr>
                </a:tc>
              </a:tr>
              <a:tr h="399010">
                <a:tc>
                  <a:txBody>
                    <a:bodyPr/>
                    <a:lstStyle/>
                    <a:p>
                      <a:pPr>
                        <a:defRPr sz="1200">
                          <a:solidFill>
                            <a:srgbClr val="FFFFFF"/>
                          </a:solidFill>
                        </a:defRPr>
                      </a:pPr>
                      <a:r>
                        <a:t>8</a:t>
                      </a:r>
                    </a:p>
                  </a:txBody>
                  <a:tcPr>
                    <a:solidFill>
                      <a:srgbClr val="223656"/>
                    </a:solidFill>
                  </a:tcPr>
                </a:tc>
                <a:tc>
                  <a:txBody>
                    <a:bodyPr/>
                    <a:lstStyle/>
                    <a:p>
                      <a:pPr>
                        <a:defRPr sz="1200">
                          <a:solidFill>
                            <a:srgbClr val="FFFFFF"/>
                          </a:solidFill>
                        </a:defRPr>
                      </a:pPr>
                      <a:r>
                        <a:t>Union/labor blowback + dashboard blame culture</a:t>
                      </a:r>
                    </a:p>
                  </a:txBody>
                  <a:tcPr>
                    <a:solidFill>
                      <a:srgbClr val="223656"/>
                    </a:solidFill>
                  </a:tcPr>
                </a:tc>
                <a:tc>
                  <a:txBody>
                    <a:bodyPr/>
                    <a:lstStyle/>
                    <a:p>
                      <a:pPr>
                        <a:defRPr sz="1200">
                          <a:solidFill>
                            <a:srgbClr val="FFFFFF"/>
                          </a:solidFill>
                        </a:defRPr>
                      </a:pPr>
                      <a:r>
                        <a:t>64</a:t>
                      </a:r>
                    </a:p>
                  </a:txBody>
                  <a:tcPr>
                    <a:solidFill>
                      <a:srgbClr val="223656"/>
                    </a:solidFill>
                  </a:tcPr>
                </a:tc>
                <a:tc>
                  <a:txBody>
                    <a:bodyPr/>
                    <a:lstStyle/>
                    <a:p>
                      <a:pPr>
                        <a:defRPr sz="1200">
                          <a:solidFill>
                            <a:srgbClr val="FFFFFF"/>
                          </a:solidFill>
                        </a:defRPr>
                      </a:pPr>
                      <a:r>
                        <a:t>Adoption</a:t>
                      </a:r>
                    </a:p>
                  </a:txBody>
                  <a:tcPr>
                    <a:solidFill>
                      <a:srgbClr val="223656"/>
                    </a:solidFill>
                  </a:tcPr>
                </a:tc>
                <a:tc>
                  <a:txBody>
                    <a:bodyPr/>
                    <a:lstStyle/>
                    <a:p>
                      <a:pPr>
                        <a:defRPr sz="1200">
                          <a:solidFill>
                            <a:srgbClr val="27AE60"/>
                          </a:solidFill>
                        </a:defRPr>
                      </a:pPr>
                      <a:r>
                        <a:t>GO — track by equipment, not operator</a:t>
                      </a:r>
                    </a:p>
                  </a:txBody>
                  <a:tcPr>
                    <a:solidFill>
                      <a:srgbClr val="223656"/>
                    </a:solidFill>
                  </a:tcPr>
                </a:tc>
              </a:tr>
              <a:tr h="399010">
                <a:tc>
                  <a:txBody>
                    <a:bodyPr/>
                    <a:lstStyle/>
                    <a:p>
                      <a:pPr>
                        <a:defRPr sz="1200">
                          <a:solidFill>
                            <a:srgbClr val="FFFFFF"/>
                          </a:solidFill>
                        </a:defRPr>
                      </a:pPr>
                      <a:r>
                        <a:t>9</a:t>
                      </a:r>
                    </a:p>
                  </a:txBody>
                  <a:tcPr>
                    <a:solidFill>
                      <a:srgbClr val="1B2A4A"/>
                    </a:solidFill>
                  </a:tcPr>
                </a:tc>
                <a:tc>
                  <a:txBody>
                    <a:bodyPr/>
                    <a:lstStyle/>
                    <a:p>
                      <a:pPr>
                        <a:defRPr sz="1200">
                          <a:solidFill>
                            <a:srgbClr val="FFFFFF"/>
                          </a:solidFill>
                        </a:defRPr>
                      </a:pPr>
                      <a:r>
                        <a:t>Shutdown/startup floods + alert fatigue + trigger calibration</a:t>
                      </a:r>
                    </a:p>
                  </a:txBody>
                  <a:tcPr>
                    <a:solidFill>
                      <a:srgbClr val="1B2A4A"/>
                    </a:solidFill>
                  </a:tcPr>
                </a:tc>
                <a:tc>
                  <a:txBody>
                    <a:bodyPr/>
                    <a:lstStyle/>
                    <a:p>
                      <a:pPr>
                        <a:defRPr sz="1200">
                          <a:solidFill>
                            <a:srgbClr val="FFFFFF"/>
                          </a:solidFill>
                        </a:defRPr>
                      </a:pPr>
                      <a:r>
                        <a:t>64</a:t>
                      </a:r>
                    </a:p>
                  </a:txBody>
                  <a:tcPr>
                    <a:solidFill>
                      <a:srgbClr val="1B2A4A"/>
                    </a:solidFill>
                  </a:tcPr>
                </a:tc>
                <a:tc>
                  <a:txBody>
                    <a:bodyPr/>
                    <a:lstStyle/>
                    <a:p>
                      <a:pPr>
                        <a:defRPr sz="1200">
                          <a:solidFill>
                            <a:srgbClr val="FFFFFF"/>
                          </a:solidFill>
                        </a:defRPr>
                      </a:pPr>
                      <a:r>
                        <a:t>Triggers</a:t>
                      </a:r>
                    </a:p>
                  </a:txBody>
                  <a:tcPr>
                    <a:solidFill>
                      <a:srgbClr val="1B2A4A"/>
                    </a:solidFill>
                  </a:tcPr>
                </a:tc>
                <a:tc>
                  <a:txBody>
                    <a:bodyPr/>
                    <a:lstStyle/>
                    <a:p>
                      <a:pPr>
                        <a:defRPr sz="1200">
                          <a:solidFill>
                            <a:srgbClr val="27AE60"/>
                          </a:solidFill>
                        </a:defRPr>
                      </a:pPr>
                      <a:r>
                        <a:t>GO — build operating mode detection</a:t>
                      </a:r>
                    </a:p>
                  </a:txBody>
                  <a:tcPr>
                    <a:solidFill>
                      <a:srgbClr val="1B2A4A"/>
                    </a:solidFill>
                  </a:tcPr>
                </a:tc>
              </a:tr>
              <a:tr h="399020">
                <a:tc>
                  <a:txBody>
                    <a:bodyPr/>
                    <a:lstStyle/>
                    <a:p>
                      <a:pPr>
                        <a:defRPr sz="1200">
                          <a:solidFill>
                            <a:srgbClr val="FFFFFF"/>
                          </a:solidFill>
                        </a:defRPr>
                      </a:pPr>
                      <a:r>
                        <a:t>10</a:t>
                      </a:r>
                    </a:p>
                  </a:txBody>
                  <a:tcPr>
                    <a:solidFill>
                      <a:srgbClr val="223656"/>
                    </a:solidFill>
                  </a:tcPr>
                </a:tc>
                <a:tc>
                  <a:txBody>
                    <a:bodyPr/>
                    <a:lstStyle/>
                    <a:p>
                      <a:pPr>
                        <a:defRPr sz="1200">
                          <a:solidFill>
                            <a:srgbClr val="FFFFFF"/>
                          </a:solidFill>
                        </a:defRPr>
                      </a:pPr>
                      <a:r>
                        <a:t>Brutal sales cycle in tiny, concentrating market</a:t>
                      </a:r>
                    </a:p>
                  </a:txBody>
                  <a:tcPr>
                    <a:solidFill>
                      <a:srgbClr val="223656"/>
                    </a:solidFill>
                  </a:tcPr>
                </a:tc>
                <a:tc>
                  <a:txBody>
                    <a:bodyPr/>
                    <a:lstStyle/>
                    <a:p>
                      <a:pPr>
                        <a:defRPr sz="1200">
                          <a:solidFill>
                            <a:srgbClr val="FFFFFF"/>
                          </a:solidFill>
                        </a:defRPr>
                      </a:pPr>
                      <a:r>
                        <a:t>75</a:t>
                      </a:r>
                    </a:p>
                  </a:txBody>
                  <a:tcPr>
                    <a:solidFill>
                      <a:srgbClr val="223656"/>
                    </a:solidFill>
                  </a:tcPr>
                </a:tc>
                <a:tc>
                  <a:txBody>
                    <a:bodyPr/>
                    <a:lstStyle/>
                    <a:p>
                      <a:pPr>
                        <a:defRPr sz="1200">
                          <a:solidFill>
                            <a:srgbClr val="FFFFFF"/>
                          </a:solidFill>
                        </a:defRPr>
                      </a:pPr>
                      <a:r>
                        <a:t>Sales</a:t>
                      </a:r>
                    </a:p>
                  </a:txBody>
                  <a:tcPr>
                    <a:solidFill>
                      <a:srgbClr val="223656"/>
                    </a:solidFill>
                  </a:tcPr>
                </a:tc>
                <a:tc>
                  <a:txBody>
                    <a:bodyPr/>
                    <a:lstStyle/>
                    <a:p>
                      <a:pPr>
                        <a:defRPr sz="1200">
                          <a:solidFill>
                            <a:srgbClr val="27AE60"/>
                          </a:solidFill>
                        </a:defRPr>
                      </a:pPr>
                      <a:r>
                        <a:t>GO — design partner + EPC strategy</a:t>
                      </a:r>
                    </a:p>
                  </a:txBody>
                  <a:tcPr>
                    <a:solidFill>
                      <a:srgbClr val="223656"/>
                    </a:solidFill>
                  </a:tcPr>
                </a:tc>
              </a:tr>
            </a:tbl>
          </a:graphicData>
        </a:graphic>
      </p:graphicFrame>
      <p:sp>
        <p:nvSpPr>
          <p:cNvPr id="5" name="TextBox 4"/>
          <p:cNvSpPr txBox="1"/>
          <p:nvPr/>
        </p:nvSpPr>
        <p:spPr>
          <a:xfrm>
            <a:off x="11505895" y="6492240"/>
            <a:ext cx="457200" cy="274320"/>
          </a:xfrm>
          <a:prstGeom prst="rect">
            <a:avLst/>
          </a:prstGeom>
          <a:noFill/>
        </p:spPr>
        <p:txBody>
          <a:bodyPr wrap="square" anchor="t"/>
          <a:lstStyle/>
          <a:p>
            <a:pPr algn="r">
              <a:defRPr sz="1000" b="0" i="0">
                <a:solidFill>
                  <a:srgbClr val="B0BEC5"/>
                </a:solidFill>
              </a:defRPr>
            </a:pPr>
            <a:r>
              <a:t>16</a:t>
            </a:r>
          </a:p>
        </p:txBody>
      </p:sp>
      <p:sp>
        <p:nvSpPr>
          <p:cNvPr id="6" name="TextBox 5"/>
          <p:cNvSpPr txBox="1"/>
          <p:nvPr/>
        </p:nvSpPr>
        <p:spPr>
          <a:xfrm>
            <a:off x="685800" y="6400800"/>
            <a:ext cx="3657600" cy="274320"/>
          </a:xfrm>
          <a:prstGeom prst="rect">
            <a:avLst/>
          </a:prstGeom>
          <a:noFill/>
        </p:spPr>
        <p:txBody>
          <a:bodyPr wrap="square" anchor="t"/>
          <a:lstStyle/>
          <a:p>
            <a:pPr algn="l">
              <a:defRPr sz="1200" b="0" i="1">
                <a:solidFill>
                  <a:srgbClr val="78909C"/>
                </a:solidFill>
              </a:defRPr>
            </a:pPr>
            <a:r>
              <a:t>Deep dive: research/run1/RISK-MATRIX.md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685800" y="365760"/>
            <a:ext cx="10820095" cy="640080"/>
          </a:xfrm>
          <a:prstGeom prst="rect">
            <a:avLst/>
          </a:prstGeom>
          <a:noFill/>
        </p:spPr>
        <p:txBody>
          <a:bodyPr wrap="square" anchor="t"/>
          <a:lstStyle/>
          <a:p>
            <a:pPr algn="l">
              <a:defRPr sz="2800" b="1" i="0">
                <a:solidFill>
                  <a:srgbClr val="FFFFFF"/>
                </a:solidFill>
              </a:defRPr>
            </a:pPr>
            <a:r>
              <a:t>Easy Wins: 5 Changes That Derisk Cheaply</a:t>
            </a:r>
          </a:p>
        </p:txBody>
      </p:sp>
      <p:sp>
        <p:nvSpPr>
          <p:cNvPr id="3" name="TextBox 2"/>
          <p:cNvSpPr txBox="1"/>
          <p:nvPr/>
        </p:nvSpPr>
        <p:spPr>
          <a:xfrm>
            <a:off x="685800" y="1005840"/>
            <a:ext cx="10820095" cy="457200"/>
          </a:xfrm>
          <a:prstGeom prst="rect">
            <a:avLst/>
          </a:prstGeom>
          <a:noFill/>
        </p:spPr>
        <p:txBody>
          <a:bodyPr wrap="square" anchor="t"/>
          <a:lstStyle/>
          <a:p>
            <a:pPr algn="l">
              <a:defRPr sz="2000" b="0" i="0">
                <a:solidFill>
                  <a:srgbClr val="B0BEC5"/>
                </a:solidFill>
              </a:defRPr>
            </a:pPr>
            <a:r>
              <a:t>Low cost, high impact — do these before writing production code</a:t>
            </a:r>
          </a:p>
        </p:txBody>
      </p:sp>
      <p:sp>
        <p:nvSpPr>
          <p:cNvPr id="4" name="TextBox 3"/>
          <p:cNvSpPr txBox="1"/>
          <p:nvPr/>
        </p:nvSpPr>
        <p:spPr>
          <a:xfrm>
            <a:off x="685800" y="1737360"/>
            <a:ext cx="10820095" cy="4389120"/>
          </a:xfrm>
          <a:prstGeom prst="rect">
            <a:avLst/>
          </a:prstGeom>
          <a:noFill/>
        </p:spPr>
        <p:txBody>
          <a:bodyPr wrap="square">
            <a:spAutoFit/>
          </a:bodyPr>
          <a:lstStyle/>
          <a:p>
            <a:pPr>
              <a:spcAft>
                <a:spcPts val="600"/>
              </a:spcAft>
              <a:defRPr sz="1800">
                <a:solidFill>
                  <a:srgbClr val="FFFFFF"/>
                </a:solidFill>
              </a:defRPr>
            </a:pPr>
            <a:r>
              <a:t>1. 'Bring Your Own Data' model — customer supplies their own OPIS/Platts feeds (they already have subscriptions). Eliminates $10-50K/yr cost and redistribution licensing risk. Cost: $0.</a:t>
            </a:r>
          </a:p>
          <a:p>
            <a:pPr>
              <a:spcAft>
                <a:spcPts val="600"/>
              </a:spcAft>
              <a:defRPr sz="1800">
                <a:solidFill>
                  <a:srgbClr val="FFFFFF"/>
                </a:solidFill>
              </a:defRPr>
            </a:pPr>
            <a:r>
              <a:t>2. Decouple numbers from LLM — programmatically extract all values from LP output, use Claude only for natural language formatting. Cross-validate every number. Build template fallback for API downtime. Cost: ~1 week.</a:t>
            </a:r>
          </a:p>
          <a:p>
            <a:pPr>
              <a:spcAft>
                <a:spcPts val="600"/>
              </a:spcAft>
              <a:defRPr sz="1800">
                <a:solidFill>
                  <a:srgbClr val="FFFFFF"/>
                </a:solidFill>
              </a:defRPr>
            </a:pPr>
            <a:r>
              <a:t>3. Structured constraint input — replace free-text Slack with 5-tap interface (select unit, constraint type, severity). Works with gloves, works offline, eliminates 15-54% NLP error rate. Cost: ~2 weeks.</a:t>
            </a:r>
          </a:p>
          <a:p>
            <a:pPr>
              <a:spcAft>
                <a:spcPts val="600"/>
              </a:spcAft>
              <a:defRPr sz="1800">
                <a:solidFill>
                  <a:srgbClr val="FFFFFF"/>
                </a:solidFill>
              </a:defRPr>
            </a:pPr>
            <a:r>
              <a:t>4. Operating mode detection — simple state machine (Normal/Startup/Shutdown/Upset/Turnaround/Emergency). Auto-suppress optimization triggers during non-normal modes. Prevents catastrophic trust destruction. Cost: ~1-2 weeks.</a:t>
            </a:r>
          </a:p>
          <a:p>
            <a:pPr>
              <a:spcAft>
                <a:spcPts val="600"/>
              </a:spcAft>
              <a:defRPr sz="1800">
                <a:solidFill>
                  <a:srgbClr val="FFFFFF"/>
                </a:solidFill>
              </a:defRPr>
            </a:pPr>
            <a:r>
              <a:t>5. Shadow mode deployment — show recommendations alongside existing workflows for 2-4 weeks without expecting action. Curate first 10-20 recommendations with human review. Matches Imubit's proven adoption pattern. Cost: $0 (deployment strategy, not a feature).</a:t>
            </a:r>
          </a:p>
        </p:txBody>
      </p:sp>
      <p:sp>
        <p:nvSpPr>
          <p:cNvPr id="5" name="TextBox 4"/>
          <p:cNvSpPr txBox="1"/>
          <p:nvPr/>
        </p:nvSpPr>
        <p:spPr>
          <a:xfrm>
            <a:off x="11505895" y="6492240"/>
            <a:ext cx="457200" cy="274320"/>
          </a:xfrm>
          <a:prstGeom prst="rect">
            <a:avLst/>
          </a:prstGeom>
          <a:noFill/>
        </p:spPr>
        <p:txBody>
          <a:bodyPr wrap="square" anchor="t"/>
          <a:lstStyle/>
          <a:p>
            <a:pPr algn="r">
              <a:defRPr sz="1000" b="0" i="0">
                <a:solidFill>
                  <a:srgbClr val="B0BEC5"/>
                </a:solidFill>
              </a:defRPr>
            </a:pPr>
            <a:r>
              <a:t>17</a:t>
            </a:r>
          </a:p>
        </p:txBody>
      </p:sp>
      <p:sp>
        <p:nvSpPr>
          <p:cNvPr id="6" name="TextBox 5"/>
          <p:cNvSpPr txBox="1"/>
          <p:nvPr/>
        </p:nvSpPr>
        <p:spPr>
          <a:xfrm>
            <a:off x="685800" y="6400800"/>
            <a:ext cx="3657600" cy="274320"/>
          </a:xfrm>
          <a:prstGeom prst="rect">
            <a:avLst/>
          </a:prstGeom>
          <a:noFill/>
        </p:spPr>
        <p:txBody>
          <a:bodyPr wrap="square" anchor="t"/>
          <a:lstStyle/>
          <a:p>
            <a:pPr algn="l">
              <a:defRPr sz="1200" b="0" i="1">
                <a:solidFill>
                  <a:srgbClr val="78909C"/>
                </a:solidFill>
              </a:defRPr>
            </a:pPr>
            <a:r>
              <a:t>Deep dive: research/run1/EXECUTIVE-SUMMARY.md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243B5E"/>
        </a:solidFill>
        <a:effectLst/>
      </p:bgPr>
    </p:bg>
    <p:spTree>
      <p:nvGrpSpPr>
        <p:cNvPr id="1" name=""/>
        <p:cNvGrpSpPr/>
        <p:nvPr/>
      </p:nvGrpSpPr>
      <p:grpSpPr/>
      <p:sp>
        <p:nvSpPr>
          <p:cNvPr id="2" name="TextBox 1"/>
          <p:cNvSpPr txBox="1"/>
          <p:nvPr/>
        </p:nvSpPr>
        <p:spPr>
          <a:xfrm>
            <a:off x="914400" y="2286000"/>
            <a:ext cx="10362895" cy="914400"/>
          </a:xfrm>
          <a:prstGeom prst="rect">
            <a:avLst/>
          </a:prstGeom>
          <a:noFill/>
        </p:spPr>
        <p:txBody>
          <a:bodyPr wrap="square" anchor="ctr"/>
          <a:lstStyle/>
          <a:p>
            <a:pPr algn="ctr">
              <a:defRPr sz="3200" b="1" i="0">
                <a:solidFill>
                  <a:srgbClr val="D4A843"/>
                </a:solidFill>
              </a:defRPr>
            </a:pPr>
            <a:r>
              <a:t>How Research Changed Our Plan</a:t>
            </a:r>
          </a:p>
        </p:txBody>
      </p:sp>
      <p:sp>
        <p:nvSpPr>
          <p:cNvPr id="3" name="TextBox 2"/>
          <p:cNvSpPr txBox="1"/>
          <p:nvPr/>
        </p:nvSpPr>
        <p:spPr>
          <a:xfrm>
            <a:off x="914400" y="3383280"/>
            <a:ext cx="10362895" cy="548640"/>
          </a:xfrm>
          <a:prstGeom prst="rect">
            <a:avLst/>
          </a:prstGeom>
          <a:noFill/>
        </p:spPr>
        <p:txBody>
          <a:bodyPr wrap="square" anchor="t"/>
          <a:lstStyle/>
          <a:p>
            <a:pPr algn="ctr">
              <a:defRPr sz="2000" b="0" i="0">
                <a:solidFill>
                  <a:srgbClr val="B0BEC5"/>
                </a:solidFill>
              </a:defRPr>
            </a:pPr>
            <a:r>
              <a:t>13 assumptions tested. 13 adjustments made. Zero surprises left.</a:t>
            </a:r>
          </a:p>
        </p:txBody>
      </p:sp>
      <p:sp>
        <p:nvSpPr>
          <p:cNvPr id="4" name="TextBox 3"/>
          <p:cNvSpPr txBox="1"/>
          <p:nvPr/>
        </p:nvSpPr>
        <p:spPr>
          <a:xfrm>
            <a:off x="11505895" y="6492240"/>
            <a:ext cx="457200" cy="274320"/>
          </a:xfrm>
          <a:prstGeom prst="rect">
            <a:avLst/>
          </a:prstGeom>
          <a:noFill/>
        </p:spPr>
        <p:txBody>
          <a:bodyPr wrap="square" anchor="t"/>
          <a:lstStyle/>
          <a:p>
            <a:pPr algn="r">
              <a:defRPr sz="1000" b="0" i="0">
                <a:solidFill>
                  <a:srgbClr val="B0BEC5"/>
                </a:solidFill>
              </a:defRPr>
            </a:pPr>
            <a: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685800" y="365760"/>
            <a:ext cx="10820095" cy="640080"/>
          </a:xfrm>
          <a:prstGeom prst="rect">
            <a:avLst/>
          </a:prstGeom>
          <a:noFill/>
        </p:spPr>
        <p:txBody>
          <a:bodyPr wrap="square" anchor="t"/>
          <a:lstStyle/>
          <a:p>
            <a:pPr algn="l">
              <a:defRPr sz="2800" b="1" i="0">
                <a:solidFill>
                  <a:srgbClr val="FFFFFF"/>
                </a:solidFill>
              </a:defRPr>
            </a:pPr>
            <a:r>
              <a:t>Shift 1: Who Actually Receives Recommendations</a:t>
            </a:r>
          </a:p>
        </p:txBody>
      </p:sp>
      <p:sp>
        <p:nvSpPr>
          <p:cNvPr id="3" name="TextBox 2"/>
          <p:cNvSpPr txBox="1"/>
          <p:nvPr/>
        </p:nvSpPr>
        <p:spPr>
          <a:xfrm>
            <a:off x="685800" y="1005840"/>
            <a:ext cx="10820095" cy="457200"/>
          </a:xfrm>
          <a:prstGeom prst="rect">
            <a:avLst/>
          </a:prstGeom>
          <a:noFill/>
        </p:spPr>
        <p:txBody>
          <a:bodyPr wrap="square" anchor="t"/>
          <a:lstStyle/>
          <a:p>
            <a:pPr algn="l">
              <a:defRPr sz="2000" b="0" i="0">
                <a:solidFill>
                  <a:srgbClr val="B0BEC5"/>
                </a:solidFill>
              </a:defRPr>
            </a:pPr>
            <a:r>
              <a:t>The user we designed for doesn't exist on the plant floor</a:t>
            </a:r>
          </a:p>
        </p:txBody>
      </p:sp>
      <p:sp>
        <p:nvSpPr>
          <p:cNvPr id="4" name="TextBox 3"/>
          <p:cNvSpPr txBox="1"/>
          <p:nvPr/>
        </p:nvSpPr>
        <p:spPr>
          <a:xfrm>
            <a:off x="685800" y="1737360"/>
            <a:ext cx="5272887" cy="4389120"/>
          </a:xfrm>
          <a:prstGeom prst="rect">
            <a:avLst/>
          </a:prstGeom>
          <a:noFill/>
        </p:spPr>
        <p:txBody>
          <a:bodyPr wrap="square">
            <a:spAutoFit/>
          </a:bodyPr>
          <a:lstStyle/>
          <a:p>
            <a:pPr>
              <a:spcAft>
                <a:spcPts val="600"/>
              </a:spcAft>
              <a:defRPr sz="1600">
                <a:solidFill>
                  <a:srgbClr val="FFFFFF"/>
                </a:solidFill>
              </a:defRPr>
            </a:pPr>
            <a:r>
              <a:t>Original: Field operators receive Slack messages on the plant floor</a:t>
            </a:r>
          </a:p>
          <a:p>
            <a:pPr>
              <a:spcAft>
                <a:spcPts val="600"/>
              </a:spcAft>
              <a:defRPr sz="1600">
                <a:solidFill>
                  <a:srgbClr val="FFFFFF"/>
                </a:solidFill>
              </a:defRPr>
            </a:pPr>
            <a:r>
              <a:t>Operators type feedback like 'can't push unit 2, heat exchanger 201 is fouling'</a:t>
            </a:r>
          </a:p>
          <a:p>
            <a:pPr>
              <a:spcAft>
                <a:spcPts val="600"/>
              </a:spcAft>
              <a:defRPr sz="1600">
                <a:solidFill>
                  <a:srgbClr val="FFFFFF"/>
                </a:solidFill>
              </a:defRPr>
            </a:pPr>
            <a:r>
              <a:t>Assumed: phones + chat apps + typing = viable in a refinery</a:t>
            </a:r>
          </a:p>
        </p:txBody>
      </p:sp>
      <p:sp>
        <p:nvSpPr>
          <p:cNvPr id="5" name="Rectangle 4"/>
          <p:cNvSpPr/>
          <p:nvPr/>
        </p:nvSpPr>
        <p:spPr>
          <a:xfrm>
            <a:off x="6050127" y="1737360"/>
            <a:ext cx="18288" cy="4389120"/>
          </a:xfrm>
          <a:prstGeom prst="rect">
            <a:avLst/>
          </a:prstGeom>
          <a:solidFill>
            <a:srgbClr val="D4A8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33007" y="1737360"/>
            <a:ext cx="5272887" cy="4389120"/>
          </a:xfrm>
          <a:prstGeom prst="rect">
            <a:avLst/>
          </a:prstGeom>
          <a:noFill/>
        </p:spPr>
        <p:txBody>
          <a:bodyPr wrap="square">
            <a:spAutoFit/>
          </a:bodyPr>
          <a:lstStyle/>
          <a:p>
            <a:pPr>
              <a:spcAft>
                <a:spcPts val="600"/>
              </a:spcAft>
              <a:defRPr sz="1600">
                <a:solidFill>
                  <a:srgbClr val="FFFFFF"/>
                </a:solidFill>
              </a:defRPr>
            </a:pPr>
            <a:r>
              <a:t>New: Shift supervisors &amp; process engineers at desks with IT access</a:t>
            </a:r>
          </a:p>
          <a:p>
            <a:pPr>
              <a:spcAft>
                <a:spcPts val="600"/>
              </a:spcAft>
              <a:defRPr sz="1600">
                <a:solidFill>
                  <a:srgbClr val="FFFFFF"/>
                </a:solidFill>
              </a:defRPr>
            </a:pPr>
            <a:r>
              <a:t>Field operators get info through existing channels (DCS, radio, supervisor handoff)</a:t>
            </a:r>
          </a:p>
          <a:p>
            <a:pPr>
              <a:spcAft>
                <a:spcPts val="600"/>
              </a:spcAft>
              <a:defRPr sz="1600">
                <a:solidFill>
                  <a:srgbClr val="FFFFFF"/>
                </a:solidFill>
              </a:defRPr>
            </a:pPr>
            <a:r>
              <a:t>Feedback flows through the supervisor, not directly through field operators</a:t>
            </a:r>
          </a:p>
        </p:txBody>
      </p:sp>
      <p:sp>
        <p:nvSpPr>
          <p:cNvPr id="7" name="TextBox 6"/>
          <p:cNvSpPr txBox="1"/>
          <p:nvPr/>
        </p:nvSpPr>
        <p:spPr>
          <a:xfrm>
            <a:off x="11505895" y="6492240"/>
            <a:ext cx="457200" cy="274320"/>
          </a:xfrm>
          <a:prstGeom prst="rect">
            <a:avLst/>
          </a:prstGeom>
          <a:noFill/>
        </p:spPr>
        <p:txBody>
          <a:bodyPr wrap="square" anchor="t"/>
          <a:lstStyle/>
          <a:p>
            <a:pPr algn="r">
              <a:defRPr sz="1000" b="0" i="0">
                <a:solidFill>
                  <a:srgbClr val="B0BEC5"/>
                </a:solidFill>
              </a:defRPr>
            </a:pPr>
            <a:r>
              <a:t>19</a:t>
            </a:r>
          </a:p>
        </p:txBody>
      </p:sp>
      <p:sp>
        <p:nvSpPr>
          <p:cNvPr id="8" name="TextBox 7"/>
          <p:cNvSpPr txBox="1"/>
          <p:nvPr/>
        </p:nvSpPr>
        <p:spPr>
          <a:xfrm>
            <a:off x="685800" y="6400800"/>
            <a:ext cx="3657600" cy="274320"/>
          </a:xfrm>
          <a:prstGeom prst="rect">
            <a:avLst/>
          </a:prstGeom>
          <a:noFill/>
        </p:spPr>
        <p:txBody>
          <a:bodyPr wrap="square" anchor="t"/>
          <a:lstStyle/>
          <a:p>
            <a:pPr algn="l">
              <a:defRPr sz="1200" b="0" i="1">
                <a:solidFill>
                  <a:srgbClr val="78909C"/>
                </a:solidFill>
              </a:defRPr>
            </a:pPr>
            <a:r>
              <a:t>Deep dive: ENGINEERING-SPEC.md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685800" y="365760"/>
            <a:ext cx="10820095" cy="640080"/>
          </a:xfrm>
          <a:prstGeom prst="rect">
            <a:avLst/>
          </a:prstGeom>
          <a:noFill/>
        </p:spPr>
        <p:txBody>
          <a:bodyPr wrap="square" anchor="t"/>
          <a:lstStyle/>
          <a:p>
            <a:pPr algn="l">
              <a:defRPr sz="2800" b="1" i="0">
                <a:solidFill>
                  <a:srgbClr val="FFFFFF"/>
                </a:solidFill>
              </a:defRPr>
            </a:pPr>
            <a:r>
              <a:t>Shift 2: How Operators Give Feedback</a:t>
            </a:r>
          </a:p>
        </p:txBody>
      </p:sp>
      <p:sp>
        <p:nvSpPr>
          <p:cNvPr id="3" name="TextBox 2"/>
          <p:cNvSpPr txBox="1"/>
          <p:nvPr/>
        </p:nvSpPr>
        <p:spPr>
          <a:xfrm>
            <a:off x="685800" y="1005840"/>
            <a:ext cx="10820095" cy="457200"/>
          </a:xfrm>
          <a:prstGeom prst="rect">
            <a:avLst/>
          </a:prstGeom>
          <a:noFill/>
        </p:spPr>
        <p:txBody>
          <a:bodyPr wrap="square" anchor="t"/>
          <a:lstStyle/>
          <a:p>
            <a:pPr algn="l">
              <a:defRPr sz="2000" b="0" i="0">
                <a:solidFill>
                  <a:srgbClr val="B0BEC5"/>
                </a:solidFill>
              </a:defRPr>
            </a:pPr>
            <a:r>
              <a:t>Free-text chat replaced by structured 5-tap interface</a:t>
            </a:r>
          </a:p>
        </p:txBody>
      </p:sp>
      <p:sp>
        <p:nvSpPr>
          <p:cNvPr id="4" name="TextBox 3"/>
          <p:cNvSpPr txBox="1"/>
          <p:nvPr/>
        </p:nvSpPr>
        <p:spPr>
          <a:xfrm>
            <a:off x="685800" y="1737360"/>
            <a:ext cx="5272887" cy="4389120"/>
          </a:xfrm>
          <a:prstGeom prst="rect">
            <a:avLst/>
          </a:prstGeom>
          <a:noFill/>
        </p:spPr>
        <p:txBody>
          <a:bodyPr wrap="square">
            <a:spAutoFit/>
          </a:bodyPr>
          <a:lstStyle/>
          <a:p>
            <a:pPr>
              <a:spcAft>
                <a:spcPts val="600"/>
              </a:spcAft>
              <a:defRPr sz="1600">
                <a:solidFill>
                  <a:srgbClr val="FFFFFF"/>
                </a:solidFill>
              </a:defRPr>
            </a:pPr>
            <a:r>
              <a:t>Original: Operators reply in Slack with free text</a:t>
            </a:r>
          </a:p>
          <a:p>
            <a:pPr>
              <a:spcAft>
                <a:spcPts val="600"/>
              </a:spcAft>
              <a:defRPr sz="1600">
                <a:solidFill>
                  <a:srgbClr val="FFFFFF"/>
                </a:solidFill>
              </a:defRPr>
            </a:pPr>
            <a:r>
              <a:t>'Can't push unit 2, heat exchanger 201 is fouling'</a:t>
            </a:r>
          </a:p>
          <a:p>
            <a:pPr>
              <a:spcAft>
                <a:spcPts val="600"/>
              </a:spcAft>
              <a:defRPr sz="1600">
                <a:solidFill>
                  <a:srgbClr val="FFFFFF"/>
                </a:solidFill>
              </a:defRPr>
            </a:pPr>
            <a:r>
              <a:t>Reflex extracts constraints via NLP</a:t>
            </a:r>
          </a:p>
          <a:p>
            <a:pPr>
              <a:spcAft>
                <a:spcPts val="600"/>
              </a:spcAft>
              <a:defRPr sz="1600">
                <a:solidFill>
                  <a:srgbClr val="FFFFFF"/>
                </a:solidFill>
              </a:defRPr>
            </a:pPr>
            <a:r>
              <a:t>NLP accuracy: 46-85% on industrial text</a:t>
            </a:r>
          </a:p>
        </p:txBody>
      </p:sp>
      <p:sp>
        <p:nvSpPr>
          <p:cNvPr id="5" name="Rectangle 4"/>
          <p:cNvSpPr/>
          <p:nvPr/>
        </p:nvSpPr>
        <p:spPr>
          <a:xfrm>
            <a:off x="6050127" y="1737360"/>
            <a:ext cx="18288" cy="4389120"/>
          </a:xfrm>
          <a:prstGeom prst="rect">
            <a:avLst/>
          </a:prstGeom>
          <a:solidFill>
            <a:srgbClr val="D4A8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33007" y="1737360"/>
            <a:ext cx="5272887" cy="4389120"/>
          </a:xfrm>
          <a:prstGeom prst="rect">
            <a:avLst/>
          </a:prstGeom>
          <a:noFill/>
        </p:spPr>
        <p:txBody>
          <a:bodyPr wrap="square">
            <a:spAutoFit/>
          </a:bodyPr>
          <a:lstStyle/>
          <a:p>
            <a:pPr>
              <a:spcAft>
                <a:spcPts val="600"/>
              </a:spcAft>
              <a:defRPr sz="1600">
                <a:solidFill>
                  <a:srgbClr val="FFFFFF"/>
                </a:solidFill>
              </a:defRPr>
            </a:pPr>
            <a:r>
              <a:t>New: Structured 5-tap wizard in Teams/Slack</a:t>
            </a:r>
          </a:p>
          <a:p>
            <a:pPr>
              <a:spcAft>
                <a:spcPts val="600"/>
              </a:spcAft>
              <a:defRPr sz="1600">
                <a:solidFill>
                  <a:srgbClr val="FFFFFF"/>
                </a:solidFill>
              </a:defRPr>
            </a:pPr>
            <a:r>
              <a:t>Select unit -&gt; type -&gt; constraint -&gt; severity -&gt; confirm</a:t>
            </a:r>
          </a:p>
          <a:p>
            <a:pPr>
              <a:spcAft>
                <a:spcPts val="600"/>
              </a:spcAft>
              <a:defRPr sz="1600">
                <a:solidFill>
                  <a:srgbClr val="FFFFFF"/>
                </a:solidFill>
              </a:defRPr>
            </a:pPr>
            <a:r>
              <a:t>15-30 seconds total, fully glove-compatible</a:t>
            </a:r>
          </a:p>
          <a:p>
            <a:pPr>
              <a:spcAft>
                <a:spcPts val="600"/>
              </a:spcAft>
              <a:defRPr sz="1600">
                <a:solidFill>
                  <a:srgbClr val="FFFFFF"/>
                </a:solidFill>
              </a:defRPr>
            </a:pPr>
            <a:r>
              <a:t>100% structured data accuracy</a:t>
            </a:r>
          </a:p>
        </p:txBody>
      </p:sp>
      <p:sp>
        <p:nvSpPr>
          <p:cNvPr id="7" name="TextBox 6"/>
          <p:cNvSpPr txBox="1"/>
          <p:nvPr/>
        </p:nvSpPr>
        <p:spPr>
          <a:xfrm>
            <a:off x="11505895" y="6492240"/>
            <a:ext cx="457200" cy="274320"/>
          </a:xfrm>
          <a:prstGeom prst="rect">
            <a:avLst/>
          </a:prstGeom>
          <a:noFill/>
        </p:spPr>
        <p:txBody>
          <a:bodyPr wrap="square" anchor="t"/>
          <a:lstStyle/>
          <a:p>
            <a:pPr algn="r">
              <a:defRPr sz="1000" b="0" i="0">
                <a:solidFill>
                  <a:srgbClr val="B0BEC5"/>
                </a:solidFill>
              </a:defRPr>
            </a:pPr>
            <a:r>
              <a:t>20</a:t>
            </a:r>
          </a:p>
        </p:txBody>
      </p:sp>
      <p:sp>
        <p:nvSpPr>
          <p:cNvPr id="8" name="TextBox 7"/>
          <p:cNvSpPr txBox="1"/>
          <p:nvPr/>
        </p:nvSpPr>
        <p:spPr>
          <a:xfrm>
            <a:off x="685800" y="6400800"/>
            <a:ext cx="3657600" cy="274320"/>
          </a:xfrm>
          <a:prstGeom prst="rect">
            <a:avLst/>
          </a:prstGeom>
          <a:noFill/>
        </p:spPr>
        <p:txBody>
          <a:bodyPr wrap="square" anchor="t"/>
          <a:lstStyle/>
          <a:p>
            <a:pPr algn="l">
              <a:defRPr sz="1200" b="0" i="1">
                <a:solidFill>
                  <a:srgbClr val="78909C"/>
                </a:solidFill>
              </a:defRPr>
            </a:pPr>
            <a:r>
              <a:t>Deep dive: ENGINEERING-SPEC.md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685800" y="365760"/>
            <a:ext cx="10820095" cy="640080"/>
          </a:xfrm>
          <a:prstGeom prst="rect">
            <a:avLst/>
          </a:prstGeom>
          <a:noFill/>
        </p:spPr>
        <p:txBody>
          <a:bodyPr wrap="square" anchor="t"/>
          <a:lstStyle/>
          <a:p>
            <a:pPr algn="l">
              <a:defRPr sz="2800" b="1" i="0">
                <a:solidFill>
                  <a:srgbClr val="FFFFFF"/>
                </a:solidFill>
              </a:defRPr>
            </a:pPr>
            <a:r>
              <a:t>Shift 3: What the AI Actually Does</a:t>
            </a:r>
          </a:p>
        </p:txBody>
      </p:sp>
      <p:sp>
        <p:nvSpPr>
          <p:cNvPr id="3" name="TextBox 2"/>
          <p:cNvSpPr txBox="1"/>
          <p:nvPr/>
        </p:nvSpPr>
        <p:spPr>
          <a:xfrm>
            <a:off x="685800" y="1005840"/>
            <a:ext cx="10820095" cy="457200"/>
          </a:xfrm>
          <a:prstGeom prst="rect">
            <a:avLst/>
          </a:prstGeom>
          <a:noFill/>
        </p:spPr>
        <p:txBody>
          <a:bodyPr wrap="square" anchor="t"/>
          <a:lstStyle/>
          <a:p>
            <a:pPr algn="l">
              <a:defRPr sz="2000" b="0" i="0">
                <a:solidFill>
                  <a:srgbClr val="B0BEC5"/>
                </a:solidFill>
              </a:defRPr>
            </a:pPr>
            <a:r>
              <a:t>Claude formats words, not numbers — because LLMs can't be trusted with math</a:t>
            </a:r>
          </a:p>
        </p:txBody>
      </p:sp>
      <p:sp>
        <p:nvSpPr>
          <p:cNvPr id="4" name="TextBox 3"/>
          <p:cNvSpPr txBox="1"/>
          <p:nvPr/>
        </p:nvSpPr>
        <p:spPr>
          <a:xfrm>
            <a:off x="685800" y="1737360"/>
            <a:ext cx="5272887" cy="4389120"/>
          </a:xfrm>
          <a:prstGeom prst="rect">
            <a:avLst/>
          </a:prstGeom>
          <a:noFill/>
        </p:spPr>
        <p:txBody>
          <a:bodyPr wrap="square">
            <a:spAutoFit/>
          </a:bodyPr>
          <a:lstStyle/>
          <a:p>
            <a:pPr>
              <a:spcAft>
                <a:spcPts val="600"/>
              </a:spcAft>
              <a:defRPr sz="1600">
                <a:solidFill>
                  <a:srgbClr val="FFFFFF"/>
                </a:solidFill>
              </a:defRPr>
            </a:pPr>
            <a:r>
              <a:t>Original: 'Claude processes the raw mathematical output from the LP'</a:t>
            </a:r>
          </a:p>
          <a:p>
            <a:pPr>
              <a:spcAft>
                <a:spcPts val="600"/>
              </a:spcAft>
              <a:defRPr sz="1600">
                <a:solidFill>
                  <a:srgbClr val="FFFFFF"/>
                </a:solidFill>
              </a:defRPr>
            </a:pPr>
            <a:r>
              <a:t>'Extracts the exact delta from the Excel model's hard outputs'</a:t>
            </a:r>
          </a:p>
          <a:p>
            <a:pPr>
              <a:spcAft>
                <a:spcPts val="600"/>
              </a:spcAft>
              <a:defRPr sz="1600">
                <a:solidFill>
                  <a:srgbClr val="FFFFFF"/>
                </a:solidFill>
              </a:defRPr>
            </a:pPr>
            <a:r>
              <a:t>AI handles both numbers and language</a:t>
            </a:r>
          </a:p>
        </p:txBody>
      </p:sp>
      <p:sp>
        <p:nvSpPr>
          <p:cNvPr id="5" name="Rectangle 4"/>
          <p:cNvSpPr/>
          <p:nvPr/>
        </p:nvSpPr>
        <p:spPr>
          <a:xfrm>
            <a:off x="6050127" y="1737360"/>
            <a:ext cx="18288" cy="4389120"/>
          </a:xfrm>
          <a:prstGeom prst="rect">
            <a:avLst/>
          </a:prstGeom>
          <a:solidFill>
            <a:srgbClr val="D4A8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33007" y="1737360"/>
            <a:ext cx="5272887" cy="4389120"/>
          </a:xfrm>
          <a:prstGeom prst="rect">
            <a:avLst/>
          </a:prstGeom>
          <a:noFill/>
        </p:spPr>
        <p:txBody>
          <a:bodyPr wrap="square">
            <a:spAutoFit/>
          </a:bodyPr>
          <a:lstStyle/>
          <a:p>
            <a:pPr>
              <a:spcAft>
                <a:spcPts val="600"/>
              </a:spcAft>
              <a:defRPr sz="1600">
                <a:solidFill>
                  <a:srgbClr val="FFFFFF"/>
                </a:solidFill>
              </a:defRPr>
            </a:pPr>
            <a:r>
              <a:t>New: ALL numbers extracted by deterministic Python code</a:t>
            </a:r>
          </a:p>
          <a:p>
            <a:pPr>
              <a:spcAft>
                <a:spcPts val="600"/>
              </a:spcAft>
              <a:defRPr sz="1600">
                <a:solidFill>
                  <a:srgbClr val="FFFFFF"/>
                </a:solidFill>
              </a:defRPr>
            </a:pPr>
            <a:r>
              <a:t>Claude receives pre-validated numbers, formats natural language only</a:t>
            </a:r>
          </a:p>
          <a:p>
            <a:pPr>
              <a:spcAft>
                <a:spcPts val="600"/>
              </a:spcAft>
              <a:defRPr sz="1600">
                <a:solidFill>
                  <a:srgbClr val="FFFFFF"/>
                </a:solidFill>
              </a:defRPr>
            </a:pPr>
            <a:r>
              <a:t>Cross-validation on every output; template fallback if validation fails</a:t>
            </a:r>
          </a:p>
          <a:p>
            <a:pPr>
              <a:spcAft>
                <a:spcPts val="600"/>
              </a:spcAft>
              <a:defRPr sz="1600">
                <a:solidFill>
                  <a:srgbClr val="FFFFFF"/>
                </a:solidFill>
              </a:defRPr>
            </a:pPr>
            <a:r>
              <a:t>Cost: ~$7-18/month per site (Haiku + Sonnet blend)</a:t>
            </a:r>
          </a:p>
        </p:txBody>
      </p:sp>
      <p:sp>
        <p:nvSpPr>
          <p:cNvPr id="7" name="TextBox 6"/>
          <p:cNvSpPr txBox="1"/>
          <p:nvPr/>
        </p:nvSpPr>
        <p:spPr>
          <a:xfrm>
            <a:off x="11505895" y="6492240"/>
            <a:ext cx="457200" cy="274320"/>
          </a:xfrm>
          <a:prstGeom prst="rect">
            <a:avLst/>
          </a:prstGeom>
          <a:noFill/>
        </p:spPr>
        <p:txBody>
          <a:bodyPr wrap="square" anchor="t"/>
          <a:lstStyle/>
          <a:p>
            <a:pPr algn="r">
              <a:defRPr sz="1000" b="0" i="0">
                <a:solidFill>
                  <a:srgbClr val="B0BEC5"/>
                </a:solidFill>
              </a:defRPr>
            </a:pPr>
            <a:r>
              <a:t>21</a:t>
            </a:r>
          </a:p>
        </p:txBody>
      </p:sp>
      <p:sp>
        <p:nvSpPr>
          <p:cNvPr id="8" name="TextBox 7"/>
          <p:cNvSpPr txBox="1"/>
          <p:nvPr/>
        </p:nvSpPr>
        <p:spPr>
          <a:xfrm>
            <a:off x="685800" y="6400800"/>
            <a:ext cx="3657600" cy="274320"/>
          </a:xfrm>
          <a:prstGeom prst="rect">
            <a:avLst/>
          </a:prstGeom>
          <a:noFill/>
        </p:spPr>
        <p:txBody>
          <a:bodyPr wrap="square" anchor="t"/>
          <a:lstStyle/>
          <a:p>
            <a:pPr algn="l">
              <a:defRPr sz="1200" b="0" i="1">
                <a:solidFill>
                  <a:srgbClr val="78909C"/>
                </a:solidFill>
              </a:defRPr>
            </a:pPr>
            <a:r>
              <a:t>Deep dive: ENGINEERING-SPEC.md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685800" y="365760"/>
            <a:ext cx="10820095" cy="640080"/>
          </a:xfrm>
          <a:prstGeom prst="rect">
            <a:avLst/>
          </a:prstGeom>
          <a:noFill/>
        </p:spPr>
        <p:txBody>
          <a:bodyPr wrap="square" anchor="t"/>
          <a:lstStyle/>
          <a:p>
            <a:pPr algn="l">
              <a:defRPr sz="2800" b="1" i="0">
                <a:solidFill>
                  <a:srgbClr val="FFFFFF"/>
                </a:solidFill>
              </a:defRPr>
            </a:pPr>
            <a:r>
              <a:t>Shift 4: Smart Triggers Replace Fixed Thresholds</a:t>
            </a:r>
          </a:p>
        </p:txBody>
      </p:sp>
      <p:sp>
        <p:nvSpPr>
          <p:cNvPr id="3" name="TextBox 2"/>
          <p:cNvSpPr txBox="1"/>
          <p:nvPr/>
        </p:nvSpPr>
        <p:spPr>
          <a:xfrm>
            <a:off x="685800" y="1005840"/>
            <a:ext cx="10820095" cy="457200"/>
          </a:xfrm>
          <a:prstGeom prst="rect">
            <a:avLst/>
          </a:prstGeom>
          <a:noFill/>
        </p:spPr>
        <p:txBody>
          <a:bodyPr wrap="square" anchor="t"/>
          <a:lstStyle/>
          <a:p>
            <a:pPr algn="l">
              <a:defRPr sz="2000" b="0" i="0">
                <a:solidFill>
                  <a:srgbClr val="B0BEC5"/>
                </a:solidFill>
              </a:defRPr>
            </a:pPr>
            <a:r>
              <a:t>Mode-aware, percentage-based, debounced — targeting 1-2 recs per shift</a:t>
            </a:r>
          </a:p>
        </p:txBody>
      </p:sp>
      <p:sp>
        <p:nvSpPr>
          <p:cNvPr id="4" name="TextBox 3"/>
          <p:cNvSpPr txBox="1"/>
          <p:nvPr/>
        </p:nvSpPr>
        <p:spPr>
          <a:xfrm>
            <a:off x="685800" y="1737360"/>
            <a:ext cx="5272887" cy="4389120"/>
          </a:xfrm>
          <a:prstGeom prst="rect">
            <a:avLst/>
          </a:prstGeom>
          <a:noFill/>
        </p:spPr>
        <p:txBody>
          <a:bodyPr wrap="square">
            <a:spAutoFit/>
          </a:bodyPr>
          <a:lstStyle/>
          <a:p>
            <a:pPr>
              <a:spcAft>
                <a:spcPts val="600"/>
              </a:spcAft>
              <a:defRPr sz="1600">
                <a:solidFill>
                  <a:srgbClr val="FFFFFF"/>
                </a:solidFill>
              </a:defRPr>
            </a:pPr>
            <a:r>
              <a:t>Original: Fixed $2/bbl crack spread threshold</a:t>
            </a:r>
          </a:p>
          <a:p>
            <a:pPr>
              <a:spcAft>
                <a:spcPts val="600"/>
              </a:spcAft>
              <a:defRPr sz="1600">
                <a:solidFill>
                  <a:srgbClr val="FFFFFF"/>
                </a:solidFill>
              </a:defRPr>
            </a:pPr>
            <a:r>
              <a:t>Triggers fire continuously, no awareness of plant state</a:t>
            </a:r>
          </a:p>
          <a:p>
            <a:pPr>
              <a:spcAft>
                <a:spcPts val="600"/>
              </a:spcAft>
              <a:defRPr sz="1600">
                <a:solidFill>
                  <a:srgbClr val="FFFFFF"/>
                </a:solidFill>
              </a:defRPr>
            </a:pPr>
            <a:r>
              <a:t>No protection during shutdowns or upsets</a:t>
            </a:r>
          </a:p>
        </p:txBody>
      </p:sp>
      <p:sp>
        <p:nvSpPr>
          <p:cNvPr id="5" name="Rectangle 4"/>
          <p:cNvSpPr/>
          <p:nvPr/>
        </p:nvSpPr>
        <p:spPr>
          <a:xfrm>
            <a:off x="6050127" y="1737360"/>
            <a:ext cx="18288" cy="4389120"/>
          </a:xfrm>
          <a:prstGeom prst="rect">
            <a:avLst/>
          </a:prstGeom>
          <a:solidFill>
            <a:srgbClr val="D4A8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33007" y="1737360"/>
            <a:ext cx="5272887" cy="4389120"/>
          </a:xfrm>
          <a:prstGeom prst="rect">
            <a:avLst/>
          </a:prstGeom>
          <a:noFill/>
        </p:spPr>
        <p:txBody>
          <a:bodyPr wrap="square">
            <a:spAutoFit/>
          </a:bodyPr>
          <a:lstStyle/>
          <a:p>
            <a:pPr>
              <a:spcAft>
                <a:spcPts val="600"/>
              </a:spcAft>
              <a:defRPr sz="1600">
                <a:solidFill>
                  <a:srgbClr val="FFFFFF"/>
                </a:solidFill>
              </a:defRPr>
            </a:pPr>
            <a:r>
              <a:t>New: Percentage-based thresholds (10% of trailing 20-day avg)</a:t>
            </a:r>
          </a:p>
          <a:p>
            <a:pPr>
              <a:spcAft>
                <a:spcPts val="600"/>
              </a:spcAft>
              <a:defRPr sz="1600">
                <a:solidFill>
                  <a:srgbClr val="FFFFFF"/>
                </a:solidFill>
              </a:defRPr>
            </a:pPr>
            <a:r>
              <a:t>Operating mode state machine: Normal / Startup / Shutdown / Upset / Turnaround / Emergency</a:t>
            </a:r>
          </a:p>
          <a:p>
            <a:pPr>
              <a:spcAft>
                <a:spcPts val="600"/>
              </a:spcAft>
              <a:defRPr sz="1600">
                <a:solidFill>
                  <a:srgbClr val="FFFFFF"/>
                </a:solidFill>
              </a:defRPr>
            </a:pPr>
            <a:r>
              <a:t>All optimization suppressed during non-Normal modes</a:t>
            </a:r>
          </a:p>
          <a:p>
            <a:pPr>
              <a:spcAft>
                <a:spcPts val="600"/>
              </a:spcAft>
              <a:defRPr sz="1600">
                <a:solidFill>
                  <a:srgbClr val="FFFFFF"/>
                </a:solidFill>
              </a:defRPr>
            </a:pPr>
            <a:r>
              <a:t>Debounce (2 min), cooldown (60 min), max 3 triggers per 12-hr shift</a:t>
            </a:r>
          </a:p>
        </p:txBody>
      </p:sp>
      <p:sp>
        <p:nvSpPr>
          <p:cNvPr id="7" name="TextBox 6"/>
          <p:cNvSpPr txBox="1"/>
          <p:nvPr/>
        </p:nvSpPr>
        <p:spPr>
          <a:xfrm>
            <a:off x="11505895" y="6492240"/>
            <a:ext cx="457200" cy="274320"/>
          </a:xfrm>
          <a:prstGeom prst="rect">
            <a:avLst/>
          </a:prstGeom>
          <a:noFill/>
        </p:spPr>
        <p:txBody>
          <a:bodyPr wrap="square" anchor="t"/>
          <a:lstStyle/>
          <a:p>
            <a:pPr algn="r">
              <a:defRPr sz="1000" b="0" i="0">
                <a:solidFill>
                  <a:srgbClr val="B0BEC5"/>
                </a:solidFill>
              </a:defRPr>
            </a:pPr>
            <a:r>
              <a:t>22</a:t>
            </a:r>
          </a:p>
        </p:txBody>
      </p:sp>
      <p:sp>
        <p:nvSpPr>
          <p:cNvPr id="8" name="TextBox 7"/>
          <p:cNvSpPr txBox="1"/>
          <p:nvPr/>
        </p:nvSpPr>
        <p:spPr>
          <a:xfrm>
            <a:off x="685800" y="6400800"/>
            <a:ext cx="3657600" cy="274320"/>
          </a:xfrm>
          <a:prstGeom prst="rect">
            <a:avLst/>
          </a:prstGeom>
          <a:noFill/>
        </p:spPr>
        <p:txBody>
          <a:bodyPr wrap="square" anchor="t"/>
          <a:lstStyle/>
          <a:p>
            <a:pPr algn="l">
              <a:defRPr sz="1200" b="0" i="1">
                <a:solidFill>
                  <a:srgbClr val="78909C"/>
                </a:solidFill>
              </a:defRPr>
            </a:pPr>
            <a:r>
              <a:t>Deep dive: ENGINEERING-SPEC.md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685800" y="365760"/>
            <a:ext cx="10820095" cy="640080"/>
          </a:xfrm>
          <a:prstGeom prst="rect">
            <a:avLst/>
          </a:prstGeom>
          <a:noFill/>
        </p:spPr>
        <p:txBody>
          <a:bodyPr wrap="square" anchor="t"/>
          <a:lstStyle/>
          <a:p>
            <a:pPr algn="l">
              <a:defRPr sz="2800" b="1" i="0">
                <a:solidFill>
                  <a:srgbClr val="FFFFFF"/>
                </a:solidFill>
              </a:defRPr>
            </a:pPr>
            <a:r>
              <a:t>Other Key Adjustments</a:t>
            </a:r>
          </a:p>
        </p:txBody>
      </p:sp>
      <p:sp>
        <p:nvSpPr>
          <p:cNvPr id="3" name="TextBox 2"/>
          <p:cNvSpPr txBox="1"/>
          <p:nvPr/>
        </p:nvSpPr>
        <p:spPr>
          <a:xfrm>
            <a:off x="685800" y="1005840"/>
            <a:ext cx="10820095" cy="457200"/>
          </a:xfrm>
          <a:prstGeom prst="rect">
            <a:avLst/>
          </a:prstGeom>
          <a:noFill/>
        </p:spPr>
        <p:txBody>
          <a:bodyPr wrap="square" anchor="t"/>
          <a:lstStyle/>
          <a:p>
            <a:pPr algn="l">
              <a:defRPr sz="2000" b="0" i="0">
                <a:solidFill>
                  <a:srgbClr val="B0BEC5"/>
                </a:solidFill>
              </a:defRPr>
            </a:pPr>
            <a:r>
              <a:t>Research drove 9 more shifts — here are the highlights</a:t>
            </a:r>
          </a:p>
        </p:txBody>
      </p:sp>
      <p:sp>
        <p:nvSpPr>
          <p:cNvPr id="4" name="TextBox 3"/>
          <p:cNvSpPr txBox="1"/>
          <p:nvPr/>
        </p:nvSpPr>
        <p:spPr>
          <a:xfrm>
            <a:off x="685800" y="1737360"/>
            <a:ext cx="5272887" cy="4389120"/>
          </a:xfrm>
          <a:prstGeom prst="rect">
            <a:avLst/>
          </a:prstGeom>
          <a:noFill/>
        </p:spPr>
        <p:txBody>
          <a:bodyPr wrap="square">
            <a:spAutoFit/>
          </a:bodyPr>
          <a:lstStyle/>
          <a:p>
            <a:pPr>
              <a:spcAft>
                <a:spcPts val="600"/>
              </a:spcAft>
              <a:defRPr sz="1600">
                <a:solidFill>
                  <a:srgbClr val="FFFFFF"/>
                </a:solidFill>
              </a:defRPr>
            </a:pPr>
            <a:r>
              <a:t>Data connector: Seeq ($100K+/yr) -&gt; Direct PI Web API (free)</a:t>
            </a:r>
          </a:p>
          <a:p>
            <a:pPr>
              <a:spcAft>
                <a:spcPts val="600"/>
              </a:spcAft>
              <a:defRPr sz="1600">
                <a:solidFill>
                  <a:srgbClr val="FFFFFF"/>
                </a:solidFill>
              </a:defRPr>
            </a:pPr>
            <a:r>
              <a:t>Dashboard framing: 'Money lost from overrides' -&gt; 'Value captured by equipment'</a:t>
            </a:r>
          </a:p>
          <a:p>
            <a:pPr>
              <a:spcAft>
                <a:spcPts val="600"/>
              </a:spcAft>
              <a:defRPr sz="1600">
                <a:solidFill>
                  <a:srgbClr val="FFFFFF"/>
                </a:solidFill>
              </a:defRPr>
            </a:pPr>
            <a:r>
              <a:t>Market data: Buy OPIS/Platts ($10-50K/yr) -&gt; 'Bring Your Own Data' ($0)</a:t>
            </a:r>
          </a:p>
          <a:p>
            <a:pPr>
              <a:spcAft>
                <a:spcPts val="600"/>
              </a:spcAft>
              <a:defRPr sz="1600">
                <a:solidFill>
                  <a:srgbClr val="FFFFFF"/>
                </a:solidFill>
              </a:defRPr>
            </a:pPr>
            <a:r>
              <a:t>Training: 'No training required' -&gt; MOC-compliant phased onboarding with shadow mode</a:t>
            </a:r>
          </a:p>
        </p:txBody>
      </p:sp>
      <p:sp>
        <p:nvSpPr>
          <p:cNvPr id="5" name="Rectangle 4"/>
          <p:cNvSpPr/>
          <p:nvPr/>
        </p:nvSpPr>
        <p:spPr>
          <a:xfrm>
            <a:off x="6050127" y="1737360"/>
            <a:ext cx="18288" cy="4389120"/>
          </a:xfrm>
          <a:prstGeom prst="rect">
            <a:avLst/>
          </a:prstGeom>
          <a:solidFill>
            <a:srgbClr val="D4A8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33007" y="1737360"/>
            <a:ext cx="5272887" cy="4389120"/>
          </a:xfrm>
          <a:prstGeom prst="rect">
            <a:avLst/>
          </a:prstGeom>
          <a:noFill/>
        </p:spPr>
        <p:txBody>
          <a:bodyPr wrap="square">
            <a:spAutoFit/>
          </a:bodyPr>
          <a:lstStyle/>
          <a:p>
            <a:pPr>
              <a:spcAft>
                <a:spcPts val="600"/>
              </a:spcAft>
              <a:defRPr sz="1600">
                <a:solidFill>
                  <a:srgbClr val="FFFFFF"/>
                </a:solidFill>
              </a:defRPr>
            </a:pPr>
            <a:r>
              <a:t>Target market: 80-120 sites -&gt; 60-70 sites (beachhead: 12-24)</a:t>
            </a:r>
          </a:p>
          <a:p>
            <a:pPr>
              <a:spcAft>
                <a:spcPts val="600"/>
              </a:spcAft>
              <a:defRPr sz="1600">
                <a:solidFill>
                  <a:srgbClr val="FFFFFF"/>
                </a:solidFill>
              </a:defRPr>
            </a:pPr>
            <a:r>
              <a:t>Revenue plan: $8-15M ARR -&gt; $2-3M ARR Year 3 (honest projection)</a:t>
            </a:r>
          </a:p>
          <a:p>
            <a:pPr>
              <a:spcAft>
                <a:spcPts val="600"/>
              </a:spcAft>
              <a:defRPr sz="1600">
                <a:solidFill>
                  <a:srgbClr val="FFFFFF"/>
                </a:solidFill>
              </a:defRPr>
            </a:pPr>
            <a:r>
              <a:t>LP tools: Excel assumed -&gt; Must validate (many use PIMS/GRTMPS)</a:t>
            </a:r>
          </a:p>
          <a:p>
            <a:pPr>
              <a:spcAft>
                <a:spcPts val="600"/>
              </a:spcAft>
              <a:defRPr sz="1600">
                <a:solidFill>
                  <a:srgbClr val="FFFFFF"/>
                </a:solidFill>
              </a:defRPr>
            </a:pPr>
            <a:r>
              <a:t>Team credibility: Not addressed -&gt; Non-negotiable: recruit industry veteran</a:t>
            </a:r>
          </a:p>
        </p:txBody>
      </p:sp>
      <p:sp>
        <p:nvSpPr>
          <p:cNvPr id="7" name="TextBox 6"/>
          <p:cNvSpPr txBox="1"/>
          <p:nvPr/>
        </p:nvSpPr>
        <p:spPr>
          <a:xfrm>
            <a:off x="11505895" y="6492240"/>
            <a:ext cx="457200" cy="274320"/>
          </a:xfrm>
          <a:prstGeom prst="rect">
            <a:avLst/>
          </a:prstGeom>
          <a:noFill/>
        </p:spPr>
        <p:txBody>
          <a:bodyPr wrap="square" anchor="t"/>
          <a:lstStyle/>
          <a:p>
            <a:pPr algn="r">
              <a:defRPr sz="1000" b="0" i="0">
                <a:solidFill>
                  <a:srgbClr val="B0BEC5"/>
                </a:solidFill>
              </a:defRPr>
            </a:pPr>
            <a:r>
              <a:t>23</a:t>
            </a:r>
          </a:p>
        </p:txBody>
      </p:sp>
      <p:sp>
        <p:nvSpPr>
          <p:cNvPr id="8" name="TextBox 7"/>
          <p:cNvSpPr txBox="1"/>
          <p:nvPr/>
        </p:nvSpPr>
        <p:spPr>
          <a:xfrm>
            <a:off x="685800" y="6400800"/>
            <a:ext cx="3657600" cy="274320"/>
          </a:xfrm>
          <a:prstGeom prst="rect">
            <a:avLst/>
          </a:prstGeom>
          <a:noFill/>
        </p:spPr>
        <p:txBody>
          <a:bodyPr wrap="square" anchor="t"/>
          <a:lstStyle/>
          <a:p>
            <a:pPr algn="l">
              <a:defRPr sz="1200" b="0" i="1">
                <a:solidFill>
                  <a:srgbClr val="78909C"/>
                </a:solidFill>
              </a:defRPr>
            </a:pPr>
            <a:r>
              <a:t>Deep dive: ENGINEERING-SPEC.md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243B5E"/>
        </a:solidFill>
        <a:effectLst/>
      </p:bgPr>
    </p:bg>
    <p:spTree>
      <p:nvGrpSpPr>
        <p:cNvPr id="1" name=""/>
        <p:cNvGrpSpPr/>
        <p:nvPr/>
      </p:nvGrpSpPr>
      <p:grpSpPr/>
      <p:sp>
        <p:nvSpPr>
          <p:cNvPr id="2" name="TextBox 1"/>
          <p:cNvSpPr txBox="1"/>
          <p:nvPr/>
        </p:nvSpPr>
        <p:spPr>
          <a:xfrm>
            <a:off x="914400" y="2286000"/>
            <a:ext cx="10362895" cy="914400"/>
          </a:xfrm>
          <a:prstGeom prst="rect">
            <a:avLst/>
          </a:prstGeom>
          <a:noFill/>
        </p:spPr>
        <p:txBody>
          <a:bodyPr wrap="square" anchor="ctr"/>
          <a:lstStyle/>
          <a:p>
            <a:pPr algn="ctr">
              <a:defRPr sz="3200" b="1" i="0">
                <a:solidFill>
                  <a:srgbClr val="D4A843"/>
                </a:solidFill>
              </a:defRPr>
            </a:pPr>
            <a:r>
              <a:t>Engineering Specification</a:t>
            </a:r>
          </a:p>
        </p:txBody>
      </p:sp>
      <p:sp>
        <p:nvSpPr>
          <p:cNvPr id="3" name="TextBox 2"/>
          <p:cNvSpPr txBox="1"/>
          <p:nvPr/>
        </p:nvSpPr>
        <p:spPr>
          <a:xfrm>
            <a:off x="914400" y="3383280"/>
            <a:ext cx="10362895" cy="548640"/>
          </a:xfrm>
          <a:prstGeom prst="rect">
            <a:avLst/>
          </a:prstGeom>
          <a:noFill/>
        </p:spPr>
        <p:txBody>
          <a:bodyPr wrap="square" anchor="t"/>
          <a:lstStyle/>
          <a:p>
            <a:pPr algn="ctr">
              <a:defRPr sz="2000" b="0" i="0">
                <a:solidFill>
                  <a:srgbClr val="B0BEC5"/>
                </a:solidFill>
              </a:defRPr>
            </a:pPr>
            <a:r>
              <a:t>Architecture decisions driven by 20 identified risks</a:t>
            </a:r>
          </a:p>
        </p:txBody>
      </p:sp>
      <p:sp>
        <p:nvSpPr>
          <p:cNvPr id="4" name="TextBox 3"/>
          <p:cNvSpPr txBox="1"/>
          <p:nvPr/>
        </p:nvSpPr>
        <p:spPr>
          <a:xfrm>
            <a:off x="11505895" y="6492240"/>
            <a:ext cx="457200" cy="274320"/>
          </a:xfrm>
          <a:prstGeom prst="rect">
            <a:avLst/>
          </a:prstGeom>
          <a:noFill/>
        </p:spPr>
        <p:txBody>
          <a:bodyPr wrap="square" anchor="t"/>
          <a:lstStyle/>
          <a:p>
            <a:pPr algn="r">
              <a:defRPr sz="1000" b="0" i="0">
                <a:solidFill>
                  <a:srgbClr val="B0BEC5"/>
                </a:solidFill>
              </a:defRPr>
            </a:pPr>
            <a: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685800" y="365760"/>
            <a:ext cx="10820095" cy="640080"/>
          </a:xfrm>
          <a:prstGeom prst="rect">
            <a:avLst/>
          </a:prstGeom>
          <a:noFill/>
        </p:spPr>
        <p:txBody>
          <a:bodyPr wrap="square" anchor="t"/>
          <a:lstStyle/>
          <a:p>
            <a:pPr algn="l">
              <a:defRPr sz="2800" b="1" i="0">
                <a:solidFill>
                  <a:srgbClr val="FFFFFF"/>
                </a:solidFill>
              </a:defRPr>
            </a:pPr>
            <a:r>
              <a:t>Cloud Platform: Azure-Primary</a:t>
            </a:r>
          </a:p>
        </p:txBody>
      </p:sp>
      <p:sp>
        <p:nvSpPr>
          <p:cNvPr id="3" name="TextBox 2"/>
          <p:cNvSpPr txBox="1"/>
          <p:nvPr/>
        </p:nvSpPr>
        <p:spPr>
          <a:xfrm>
            <a:off x="685800" y="1005840"/>
            <a:ext cx="10820095" cy="457200"/>
          </a:xfrm>
          <a:prstGeom prst="rect">
            <a:avLst/>
          </a:prstGeom>
          <a:noFill/>
        </p:spPr>
        <p:txBody>
          <a:bodyPr wrap="square" anchor="t"/>
          <a:lstStyle/>
          <a:p>
            <a:pPr algn="l">
              <a:defRPr sz="2000" b="0" i="0">
                <a:solidFill>
                  <a:srgbClr val="B0BEC5"/>
                </a:solidFill>
              </a:defRPr>
            </a:pPr>
            <a:r>
              <a:t>Industrial IoT connectivity is Reflex's hardest problem — Azure solves it</a:t>
            </a:r>
          </a:p>
        </p:txBody>
      </p:sp>
      <p:sp>
        <p:nvSpPr>
          <p:cNvPr id="4" name="TextBox 3"/>
          <p:cNvSpPr txBox="1"/>
          <p:nvPr/>
        </p:nvSpPr>
        <p:spPr>
          <a:xfrm>
            <a:off x="685800" y="1737360"/>
            <a:ext cx="5272887" cy="4389120"/>
          </a:xfrm>
          <a:prstGeom prst="rect">
            <a:avLst/>
          </a:prstGeom>
          <a:noFill/>
        </p:spPr>
        <p:txBody>
          <a:bodyPr wrap="square">
            <a:spAutoFit/>
          </a:bodyPr>
          <a:lstStyle/>
          <a:p>
            <a:pPr>
              <a:spcAft>
                <a:spcPts val="600"/>
              </a:spcAft>
              <a:defRPr sz="1600">
                <a:solidFill>
                  <a:srgbClr val="FFFFFF"/>
                </a:solidFill>
              </a:defRPr>
            </a:pPr>
            <a:r>
              <a:t>Why Azure wins:</a:t>
            </a:r>
          </a:p>
          <a:p>
            <a:pPr>
              <a:spcAft>
                <a:spcPts val="600"/>
              </a:spcAft>
              <a:defRPr sz="1600">
                <a:solidFill>
                  <a:srgbClr val="FFFFFF"/>
                </a:solidFill>
              </a:defRPr>
            </a:pPr>
            <a:r>
              <a:t>1. First-party OPC-UA Publisher for PI historian access</a:t>
            </a:r>
          </a:p>
          <a:p>
            <a:pPr>
              <a:spcAft>
                <a:spcPts val="600"/>
              </a:spcAft>
              <a:defRPr sz="1600">
                <a:solidFill>
                  <a:srgbClr val="FFFFFF"/>
                </a:solidFill>
              </a:defRPr>
            </a:pPr>
            <a:r>
              <a:t>2. PI Integrator for Azure — official AVEVA product</a:t>
            </a:r>
          </a:p>
          <a:p>
            <a:pPr>
              <a:spcAft>
                <a:spcPts val="600"/>
              </a:spcAft>
              <a:defRPr sz="1600">
                <a:solidFill>
                  <a:srgbClr val="FFFFFF"/>
                </a:solidFill>
              </a:defRPr>
            </a:pPr>
            <a:r>
              <a:t>3. Defender for IoT — Purdue Model-aware OT monitoring</a:t>
            </a:r>
          </a:p>
          <a:p>
            <a:pPr>
              <a:spcAft>
                <a:spcPts val="600"/>
              </a:spcAft>
              <a:defRPr sz="1600">
                <a:solidFill>
                  <a:srgbClr val="FFFFFF"/>
                </a:solidFill>
              </a:defRPr>
            </a:pPr>
            <a:r>
              <a:t>4. Teams is dominant messaging in oil &amp; gas</a:t>
            </a:r>
          </a:p>
          <a:p>
            <a:pPr>
              <a:spcAft>
                <a:spcPts val="600"/>
              </a:spcAft>
              <a:defRPr sz="1600">
                <a:solidFill>
                  <a:srgbClr val="FFFFFF"/>
                </a:solidFill>
              </a:defRPr>
            </a:pPr>
            <a:r>
              <a:t>5. $100/yr student credits + up to $150K startup credits</a:t>
            </a:r>
          </a:p>
        </p:txBody>
      </p:sp>
      <p:sp>
        <p:nvSpPr>
          <p:cNvPr id="5" name="Rectangle 4"/>
          <p:cNvSpPr/>
          <p:nvPr/>
        </p:nvSpPr>
        <p:spPr>
          <a:xfrm>
            <a:off x="6050127" y="1737360"/>
            <a:ext cx="18288" cy="4389120"/>
          </a:xfrm>
          <a:prstGeom prst="rect">
            <a:avLst/>
          </a:prstGeom>
          <a:solidFill>
            <a:srgbClr val="D4A8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33007" y="1737360"/>
            <a:ext cx="5272887" cy="4389120"/>
          </a:xfrm>
          <a:prstGeom prst="rect">
            <a:avLst/>
          </a:prstGeom>
          <a:noFill/>
        </p:spPr>
        <p:txBody>
          <a:bodyPr wrap="square">
            <a:spAutoFit/>
          </a:bodyPr>
          <a:lstStyle/>
          <a:p>
            <a:pPr>
              <a:spcAft>
                <a:spcPts val="600"/>
              </a:spcAft>
              <a:defRPr sz="1600">
                <a:solidFill>
                  <a:srgbClr val="FFFFFF"/>
                </a:solidFill>
              </a:defRPr>
            </a:pPr>
            <a:r>
              <a:t>Cloud-agnostic where it makes sense:</a:t>
            </a:r>
          </a:p>
          <a:p>
            <a:pPr>
              <a:spcAft>
                <a:spcPts val="600"/>
              </a:spcAft>
              <a:defRPr sz="1600">
                <a:solidFill>
                  <a:srgbClr val="FFFFFF"/>
                </a:solidFill>
              </a:defRPr>
            </a:pPr>
            <a:r>
              <a:t>Claude API direct from Anthropic (no lock-in)</a:t>
            </a:r>
          </a:p>
          <a:p>
            <a:pPr>
              <a:spcAft>
                <a:spcPts val="600"/>
              </a:spcAft>
              <a:defRPr sz="1600">
                <a:solidFill>
                  <a:srgbClr val="FFFFFF"/>
                </a:solidFill>
              </a:defRPr>
            </a:pPr>
            <a:r>
              <a:t>GitHub Actions for CI/CD (free 2000 min/mo)</a:t>
            </a:r>
          </a:p>
          <a:p>
            <a:pPr>
              <a:spcAft>
                <a:spcPts val="600"/>
              </a:spcAft>
              <a:defRPr sz="1600">
                <a:solidFill>
                  <a:srgbClr val="FFFFFF"/>
                </a:solidFill>
              </a:defRPr>
            </a:pPr>
            <a:r>
              <a:t>TimescaleDB on PostgreSQL (not Azure-specific ADX)</a:t>
            </a:r>
          </a:p>
          <a:p>
            <a:pPr>
              <a:spcAft>
                <a:spcPts val="600"/>
              </a:spcAft>
              <a:defRPr sz="1600">
                <a:solidFill>
                  <a:srgbClr val="FFFFFF"/>
                </a:solidFill>
              </a:defRPr>
            </a:pPr>
          </a:p>
          <a:p>
            <a:pPr>
              <a:spcAft>
                <a:spcPts val="600"/>
              </a:spcAft>
              <a:defRPr sz="1600">
                <a:solidFill>
                  <a:srgbClr val="FFFFFF"/>
                </a:solidFill>
              </a:defRPr>
            </a:pPr>
            <a:r>
              <a:t>Year 1 cost: $8-75/month ($100-900/year)</a:t>
            </a:r>
          </a:p>
        </p:txBody>
      </p:sp>
      <p:sp>
        <p:nvSpPr>
          <p:cNvPr id="7" name="TextBox 6"/>
          <p:cNvSpPr txBox="1"/>
          <p:nvPr/>
        </p:nvSpPr>
        <p:spPr>
          <a:xfrm>
            <a:off x="11505895" y="6492240"/>
            <a:ext cx="457200" cy="274320"/>
          </a:xfrm>
          <a:prstGeom prst="rect">
            <a:avLst/>
          </a:prstGeom>
          <a:noFill/>
        </p:spPr>
        <p:txBody>
          <a:bodyPr wrap="square" anchor="t"/>
          <a:lstStyle/>
          <a:p>
            <a:pPr algn="r">
              <a:defRPr sz="1000" b="0" i="0">
                <a:solidFill>
                  <a:srgbClr val="B0BEC5"/>
                </a:solidFill>
              </a:defRPr>
            </a:pPr>
            <a:r>
              <a:t>25</a:t>
            </a:r>
          </a:p>
        </p:txBody>
      </p:sp>
      <p:sp>
        <p:nvSpPr>
          <p:cNvPr id="8" name="TextBox 7"/>
          <p:cNvSpPr txBox="1"/>
          <p:nvPr/>
        </p:nvSpPr>
        <p:spPr>
          <a:xfrm>
            <a:off x="685800" y="6400800"/>
            <a:ext cx="3657600" cy="274320"/>
          </a:xfrm>
          <a:prstGeom prst="rect">
            <a:avLst/>
          </a:prstGeom>
          <a:noFill/>
        </p:spPr>
        <p:txBody>
          <a:bodyPr wrap="square" anchor="t"/>
          <a:lstStyle/>
          <a:p>
            <a:pPr algn="l">
              <a:defRPr sz="1200" b="0" i="1">
                <a:solidFill>
                  <a:srgbClr val="78909C"/>
                </a:solidFill>
              </a:defRPr>
            </a:pPr>
            <a:r>
              <a:t>Deep dive: research/run2/cloud-platform-recommendation.md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685800" y="365760"/>
            <a:ext cx="10820095" cy="640080"/>
          </a:xfrm>
          <a:prstGeom prst="rect">
            <a:avLst/>
          </a:prstGeom>
          <a:noFill/>
        </p:spPr>
        <p:txBody>
          <a:bodyPr wrap="square" anchor="t"/>
          <a:lstStyle/>
          <a:p>
            <a:pPr algn="l">
              <a:defRPr sz="2800" b="1" i="0">
                <a:solidFill>
                  <a:srgbClr val="FFFFFF"/>
                </a:solidFill>
              </a:defRPr>
            </a:pPr>
            <a:r>
              <a:t>System Architecture Overview</a:t>
            </a:r>
          </a:p>
        </p:txBody>
      </p:sp>
      <p:sp>
        <p:nvSpPr>
          <p:cNvPr id="3" name="TextBox 2"/>
          <p:cNvSpPr txBox="1"/>
          <p:nvPr/>
        </p:nvSpPr>
        <p:spPr>
          <a:xfrm>
            <a:off x="685800" y="1005840"/>
            <a:ext cx="10820095" cy="457200"/>
          </a:xfrm>
          <a:prstGeom prst="rect">
            <a:avLst/>
          </a:prstGeom>
          <a:noFill/>
        </p:spPr>
        <p:txBody>
          <a:bodyPr wrap="square" anchor="t"/>
          <a:lstStyle/>
          <a:p>
            <a:pPr algn="l">
              <a:defRPr sz="2000" b="0" i="0">
                <a:solidFill>
                  <a:srgbClr val="B0BEC5"/>
                </a:solidFill>
              </a:defRPr>
            </a:pPr>
            <a:r>
              <a:t>End-to-end data flow from refinery floor to operator screen</a:t>
            </a:r>
          </a:p>
        </p:txBody>
      </p:sp>
      <p:sp>
        <p:nvSpPr>
          <p:cNvPr id="4" name="Rounded Rectangle 3"/>
          <p:cNvSpPr/>
          <p:nvPr/>
        </p:nvSpPr>
        <p:spPr>
          <a:xfrm>
            <a:off x="365760" y="1828800"/>
            <a:ext cx="2926080" cy="3474720"/>
          </a:xfrm>
          <a:prstGeom prst="roundRect">
            <a:avLst/>
          </a:prstGeom>
          <a:solidFill>
            <a:srgbClr val="1F3050"/>
          </a:solidFill>
          <a:ln w="25400">
            <a:solidFill>
              <a:srgbClr val="E67E22"/>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874520"/>
            <a:ext cx="2743200" cy="274320"/>
          </a:xfrm>
          <a:prstGeom prst="rect">
            <a:avLst/>
          </a:prstGeom>
          <a:noFill/>
        </p:spPr>
        <p:txBody>
          <a:bodyPr wrap="square" anchor="t"/>
          <a:lstStyle/>
          <a:p>
            <a:pPr algn="l">
              <a:defRPr sz="1000" b="1" i="0">
                <a:solidFill>
                  <a:srgbClr val="E67E22"/>
                </a:solidFill>
              </a:defRPr>
            </a:pPr>
            <a:r>
              <a:t>Refinery DMZ (Purdue 3.5)</a:t>
            </a:r>
          </a:p>
        </p:txBody>
      </p:sp>
      <p:sp>
        <p:nvSpPr>
          <p:cNvPr id="6" name="Rounded Rectangle 5"/>
          <p:cNvSpPr/>
          <p:nvPr/>
        </p:nvSpPr>
        <p:spPr>
          <a:xfrm>
            <a:off x="548640" y="2286000"/>
            <a:ext cx="2377440" cy="548640"/>
          </a:xfrm>
          <a:prstGeom prst="roundRect">
            <a:avLst/>
          </a:prstGeom>
          <a:solidFill>
            <a:srgbClr val="E67E22"/>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FFFFFF"/>
                </a:solidFill>
              </a:defRPr>
            </a:pPr>
            <a:r>
              <a:t>PI Web API Reader</a:t>
            </a:r>
          </a:p>
        </p:txBody>
      </p:sp>
      <p:sp>
        <p:nvSpPr>
          <p:cNvPr id="7" name="Rounded Rectangle 6"/>
          <p:cNvSpPr/>
          <p:nvPr/>
        </p:nvSpPr>
        <p:spPr>
          <a:xfrm>
            <a:off x="548640" y="3017520"/>
            <a:ext cx="2377440" cy="548640"/>
          </a:xfrm>
          <a:prstGeom prst="roundRect">
            <a:avLst/>
          </a:prstGeom>
          <a:solidFill>
            <a:srgbClr val="27AE6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FFFFFF"/>
                </a:solidFill>
              </a:defRPr>
            </a:pPr>
            <a:r>
              <a:t>Data Quality Gateway</a:t>
            </a:r>
          </a:p>
        </p:txBody>
      </p:sp>
      <p:sp>
        <p:nvSpPr>
          <p:cNvPr id="8" name="Rounded Rectangle 7"/>
          <p:cNvSpPr/>
          <p:nvPr/>
        </p:nvSpPr>
        <p:spPr>
          <a:xfrm>
            <a:off x="548640" y="3749040"/>
            <a:ext cx="2377440" cy="548640"/>
          </a:xfrm>
          <a:prstGeom prst="roundRect">
            <a:avLst/>
          </a:prstGeom>
          <a:solidFill>
            <a:srgbClr val="3498D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FFFFFF"/>
                </a:solidFill>
              </a:defRPr>
            </a:pPr>
            <a:r>
              <a:t>SQLite Buffer</a:t>
            </a:r>
          </a:p>
        </p:txBody>
      </p:sp>
      <p:sp>
        <p:nvSpPr>
          <p:cNvPr id="9" name="TextBox 8"/>
          <p:cNvSpPr txBox="1"/>
          <p:nvPr/>
        </p:nvSpPr>
        <p:spPr>
          <a:xfrm>
            <a:off x="640080" y="4480560"/>
            <a:ext cx="2194560" cy="274320"/>
          </a:xfrm>
          <a:prstGeom prst="rect">
            <a:avLst/>
          </a:prstGeom>
          <a:noFill/>
        </p:spPr>
        <p:txBody>
          <a:bodyPr wrap="square" anchor="t"/>
          <a:lstStyle/>
          <a:p>
            <a:pPr algn="ctr">
              <a:defRPr sz="900" b="0" i="1">
                <a:solidFill>
                  <a:srgbClr val="27AE60"/>
                </a:solidFill>
              </a:defRPr>
            </a:pPr>
            <a:r>
              <a:t>HTTPS outbound only</a:t>
            </a:r>
          </a:p>
        </p:txBody>
      </p:sp>
      <p:sp>
        <p:nvSpPr>
          <p:cNvPr id="10" name="Hexagon 9"/>
          <p:cNvSpPr/>
          <p:nvPr/>
        </p:nvSpPr>
        <p:spPr>
          <a:xfrm>
            <a:off x="3383280" y="2926080"/>
            <a:ext cx="457200" cy="1097280"/>
          </a:xfrm>
          <a:prstGeom prst="hexagon">
            <a:avLst/>
          </a:prstGeom>
          <a:solidFill>
            <a:srgbClr val="C0392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00">
                <a:solidFill>
                  <a:srgbClr val="FFFFFF"/>
                </a:solidFill>
              </a:defRPr>
            </a:pPr>
            <a:r>
              <a:t>FW</a:t>
            </a:r>
          </a:p>
        </p:txBody>
      </p:sp>
      <p:sp>
        <p:nvSpPr>
          <p:cNvPr id="11" name="Rounded Rectangle 10"/>
          <p:cNvSpPr/>
          <p:nvPr/>
        </p:nvSpPr>
        <p:spPr>
          <a:xfrm>
            <a:off x="4023360" y="1828800"/>
            <a:ext cx="4572000" cy="3474720"/>
          </a:xfrm>
          <a:prstGeom prst="roundRect">
            <a:avLst/>
          </a:prstGeom>
          <a:solidFill>
            <a:srgbClr val="1F3050"/>
          </a:solidFill>
          <a:ln w="25400">
            <a:solidFill>
              <a:srgbClr val="34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0" y="1874520"/>
            <a:ext cx="4389120" cy="274320"/>
          </a:xfrm>
          <a:prstGeom prst="rect">
            <a:avLst/>
          </a:prstGeom>
          <a:noFill/>
        </p:spPr>
        <p:txBody>
          <a:bodyPr wrap="square" anchor="t"/>
          <a:lstStyle/>
          <a:p>
            <a:pPr algn="l">
              <a:defRPr sz="1000" b="1" i="0">
                <a:solidFill>
                  <a:srgbClr val="3498DB"/>
                </a:solidFill>
              </a:defRPr>
            </a:pPr>
            <a:r>
              <a:t>Reflex Cloud (Azure)</a:t>
            </a:r>
          </a:p>
        </p:txBody>
      </p:sp>
      <p:sp>
        <p:nvSpPr>
          <p:cNvPr id="13" name="Rounded Rectangle 12"/>
          <p:cNvSpPr/>
          <p:nvPr/>
        </p:nvSpPr>
        <p:spPr>
          <a:xfrm>
            <a:off x="4206240" y="2286000"/>
            <a:ext cx="2011680" cy="502920"/>
          </a:xfrm>
          <a:prstGeom prst="roundRect">
            <a:avLst/>
          </a:prstGeom>
          <a:solidFill>
            <a:srgbClr val="27AE6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FFFFFF"/>
                </a:solidFill>
              </a:defRPr>
            </a:pPr>
            <a:r>
              <a:t>Data Ingestion</a:t>
            </a:r>
          </a:p>
        </p:txBody>
      </p:sp>
      <p:sp>
        <p:nvSpPr>
          <p:cNvPr id="14" name="Rounded Rectangle 13"/>
          <p:cNvSpPr/>
          <p:nvPr/>
        </p:nvSpPr>
        <p:spPr>
          <a:xfrm>
            <a:off x="4206240" y="2926080"/>
            <a:ext cx="2011680" cy="502920"/>
          </a:xfrm>
          <a:prstGeom prst="roundRect">
            <a:avLst/>
          </a:prstGeom>
          <a:solidFill>
            <a:srgbClr val="27AE6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FFFFFF"/>
                </a:solidFill>
              </a:defRPr>
            </a:pPr>
            <a:r>
              <a:t>Trigger Engine</a:t>
            </a:r>
          </a:p>
        </p:txBody>
      </p:sp>
      <p:sp>
        <p:nvSpPr>
          <p:cNvPr id="15" name="Rounded Rectangle 14"/>
          <p:cNvSpPr/>
          <p:nvPr/>
        </p:nvSpPr>
        <p:spPr>
          <a:xfrm>
            <a:off x="4206240" y="3566160"/>
            <a:ext cx="2011680" cy="502920"/>
          </a:xfrm>
          <a:prstGeom prst="roundRect">
            <a:avLst/>
          </a:prstGeom>
          <a:solidFill>
            <a:srgbClr val="27AE6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FFFFFF"/>
                </a:solidFill>
              </a:defRPr>
            </a:pPr>
            <a:r>
              <a:t>LP Orchestrator</a:t>
            </a:r>
          </a:p>
        </p:txBody>
      </p:sp>
      <p:sp>
        <p:nvSpPr>
          <p:cNvPr id="16" name="Rounded Rectangle 15"/>
          <p:cNvSpPr/>
          <p:nvPr/>
        </p:nvSpPr>
        <p:spPr>
          <a:xfrm>
            <a:off x="6400800" y="2286000"/>
            <a:ext cx="2011680" cy="502920"/>
          </a:xfrm>
          <a:prstGeom prst="roundRect">
            <a:avLst/>
          </a:prstGeom>
          <a:solidFill>
            <a:srgbClr val="27AE6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FFFFFF"/>
                </a:solidFill>
              </a:defRPr>
            </a:pPr>
            <a:r>
              <a:t>AI Translation</a:t>
            </a:r>
          </a:p>
        </p:txBody>
      </p:sp>
      <p:sp>
        <p:nvSpPr>
          <p:cNvPr id="17" name="Rounded Rectangle 16"/>
          <p:cNvSpPr/>
          <p:nvPr/>
        </p:nvSpPr>
        <p:spPr>
          <a:xfrm>
            <a:off x="6400800" y="2926080"/>
            <a:ext cx="2011680" cy="502920"/>
          </a:xfrm>
          <a:prstGeom prst="roundRect">
            <a:avLst/>
          </a:prstGeom>
          <a:solidFill>
            <a:srgbClr val="27AE6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FFFFFF"/>
                </a:solidFill>
              </a:defRPr>
            </a:pPr>
            <a:r>
              <a:t>Messaging Svc</a:t>
            </a:r>
          </a:p>
        </p:txBody>
      </p:sp>
      <p:sp>
        <p:nvSpPr>
          <p:cNvPr id="18" name="Rounded Rectangle 17"/>
          <p:cNvSpPr/>
          <p:nvPr/>
        </p:nvSpPr>
        <p:spPr>
          <a:xfrm>
            <a:off x="6400800" y="3566160"/>
            <a:ext cx="2011680" cy="502920"/>
          </a:xfrm>
          <a:prstGeom prst="roundRect">
            <a:avLst/>
          </a:prstGeom>
          <a:solidFill>
            <a:srgbClr val="27AE6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FFFFFF"/>
                </a:solidFill>
              </a:defRPr>
            </a:pPr>
            <a:r>
              <a:t>Constraint Reg.</a:t>
            </a:r>
          </a:p>
        </p:txBody>
      </p:sp>
      <p:sp>
        <p:nvSpPr>
          <p:cNvPr id="19" name="Magnetic Disk 18"/>
          <p:cNvSpPr/>
          <p:nvPr/>
        </p:nvSpPr>
        <p:spPr>
          <a:xfrm>
            <a:off x="5120640" y="4297680"/>
            <a:ext cx="2194560" cy="640080"/>
          </a:xfrm>
          <a:prstGeom prst="flowChartMagneticDisk">
            <a:avLst/>
          </a:prstGeom>
          <a:solidFill>
            <a:srgbClr val="E67E22"/>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FFFFFF"/>
                </a:solidFill>
              </a:defRPr>
            </a:pPr>
            <a:r>
              <a:t>PostgreSQL +</a:t>
            </a:r>
            <a:br/>
            <a:r>
              <a:t>TimescaleDB</a:t>
            </a:r>
          </a:p>
        </p:txBody>
      </p:sp>
      <p:sp>
        <p:nvSpPr>
          <p:cNvPr id="20" name="Rounded Rectangle 19"/>
          <p:cNvSpPr/>
          <p:nvPr/>
        </p:nvSpPr>
        <p:spPr>
          <a:xfrm>
            <a:off x="8778240" y="3200400"/>
            <a:ext cx="1371600" cy="731520"/>
          </a:xfrm>
          <a:prstGeom prst="roundRect">
            <a:avLst/>
          </a:prstGeom>
          <a:solidFill>
            <a:srgbClr val="C0392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FFFFFF"/>
                </a:solidFill>
              </a:defRPr>
            </a:pPr>
            <a:r>
              <a:t>Windows LP</a:t>
            </a:r>
            <a:br/>
            <a:r>
              <a:t>Worker (Excel)</a:t>
            </a:r>
          </a:p>
        </p:txBody>
      </p:sp>
      <p:sp>
        <p:nvSpPr>
          <p:cNvPr id="21" name="Rounded Rectangle 20"/>
          <p:cNvSpPr/>
          <p:nvPr/>
        </p:nvSpPr>
        <p:spPr>
          <a:xfrm>
            <a:off x="8869680" y="4389120"/>
            <a:ext cx="914400" cy="274320"/>
          </a:xfrm>
          <a:prstGeom prst="roundRect">
            <a:avLst/>
          </a:prstGeom>
          <a:solidFill>
            <a:srgbClr val="3498D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00">
                <a:solidFill>
                  <a:srgbClr val="FFFFFF"/>
                </a:solidFill>
              </a:defRPr>
            </a:pPr>
            <a:r>
              <a:t>Teams</a:t>
            </a:r>
          </a:p>
        </p:txBody>
      </p:sp>
      <p:sp>
        <p:nvSpPr>
          <p:cNvPr id="22" name="Rounded Rectangle 21"/>
          <p:cNvSpPr/>
          <p:nvPr/>
        </p:nvSpPr>
        <p:spPr>
          <a:xfrm>
            <a:off x="8869680" y="4709160"/>
            <a:ext cx="914400" cy="274320"/>
          </a:xfrm>
          <a:prstGeom prst="roundRect">
            <a:avLst/>
          </a:prstGeom>
          <a:solidFill>
            <a:srgbClr val="3498D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00">
                <a:solidFill>
                  <a:srgbClr val="FFFFFF"/>
                </a:solidFill>
              </a:defRPr>
            </a:pPr>
            <a:r>
              <a:t>Slack</a:t>
            </a:r>
          </a:p>
        </p:txBody>
      </p:sp>
      <p:sp>
        <p:nvSpPr>
          <p:cNvPr id="23" name="Rounded Rectangle 22"/>
          <p:cNvSpPr/>
          <p:nvPr/>
        </p:nvSpPr>
        <p:spPr>
          <a:xfrm>
            <a:off x="8869680" y="5029200"/>
            <a:ext cx="914400" cy="274320"/>
          </a:xfrm>
          <a:prstGeom prst="roundRect">
            <a:avLst/>
          </a:prstGeom>
          <a:solidFill>
            <a:srgbClr val="3498D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00">
                <a:solidFill>
                  <a:srgbClr val="FFFFFF"/>
                </a:solidFill>
              </a:defRPr>
            </a:pPr>
            <a:r>
              <a:t>Email</a:t>
            </a:r>
          </a:p>
        </p:txBody>
      </p:sp>
      <p:sp>
        <p:nvSpPr>
          <p:cNvPr id="24" name="TextBox 23"/>
          <p:cNvSpPr txBox="1"/>
          <p:nvPr/>
        </p:nvSpPr>
        <p:spPr>
          <a:xfrm>
            <a:off x="4480560" y="5029200"/>
            <a:ext cx="2743200" cy="228600"/>
          </a:xfrm>
          <a:prstGeom prst="rect">
            <a:avLst/>
          </a:prstGeom>
          <a:noFill/>
        </p:spPr>
        <p:txBody>
          <a:bodyPr wrap="square" anchor="t"/>
          <a:lstStyle/>
          <a:p>
            <a:pPr algn="l">
              <a:defRPr sz="900" b="0" i="1">
                <a:solidFill>
                  <a:srgbClr val="B0BEC5"/>
                </a:solidFill>
              </a:defRPr>
            </a:pPr>
            <a:r>
              <a:t>Next.js Dashboard: Operations | Analytics | Admin</a:t>
            </a:r>
          </a:p>
        </p:txBody>
      </p:sp>
      <p:sp>
        <p:nvSpPr>
          <p:cNvPr id="25" name="TextBox 24"/>
          <p:cNvSpPr txBox="1"/>
          <p:nvPr/>
        </p:nvSpPr>
        <p:spPr>
          <a:xfrm>
            <a:off x="11505895" y="6492240"/>
            <a:ext cx="457200" cy="274320"/>
          </a:xfrm>
          <a:prstGeom prst="rect">
            <a:avLst/>
          </a:prstGeom>
          <a:noFill/>
        </p:spPr>
        <p:txBody>
          <a:bodyPr wrap="square" anchor="t"/>
          <a:lstStyle/>
          <a:p>
            <a:pPr algn="r">
              <a:defRPr sz="1000" b="0" i="0">
                <a:solidFill>
                  <a:srgbClr val="B0BEC5"/>
                </a:solidFill>
              </a:defRPr>
            </a:pPr>
            <a:r>
              <a:t>26</a:t>
            </a:r>
          </a:p>
        </p:txBody>
      </p:sp>
      <p:sp>
        <p:nvSpPr>
          <p:cNvPr id="26" name="TextBox 25"/>
          <p:cNvSpPr txBox="1"/>
          <p:nvPr/>
        </p:nvSpPr>
        <p:spPr>
          <a:xfrm>
            <a:off x="685800" y="6400800"/>
            <a:ext cx="3657600" cy="274320"/>
          </a:xfrm>
          <a:prstGeom prst="rect">
            <a:avLst/>
          </a:prstGeom>
          <a:noFill/>
        </p:spPr>
        <p:txBody>
          <a:bodyPr wrap="square" anchor="t"/>
          <a:lstStyle/>
          <a:p>
            <a:pPr algn="l">
              <a:defRPr sz="1200" b="0" i="1">
                <a:solidFill>
                  <a:srgbClr val="78909C"/>
                </a:solidFill>
              </a:defRPr>
            </a:pPr>
            <a:r>
              <a:t>Deep dive: ENGINEERING-SPEC.md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685800" y="365760"/>
            <a:ext cx="10820095" cy="640080"/>
          </a:xfrm>
          <a:prstGeom prst="rect">
            <a:avLst/>
          </a:prstGeom>
          <a:noFill/>
        </p:spPr>
        <p:txBody>
          <a:bodyPr wrap="square" anchor="t"/>
          <a:lstStyle/>
          <a:p>
            <a:pPr algn="l">
              <a:defRPr sz="2800" b="1" i="0">
                <a:solidFill>
                  <a:srgbClr val="FFFFFF"/>
                </a:solidFill>
              </a:defRPr>
            </a:pPr>
            <a:r>
              <a:t>Technology Stack</a:t>
            </a:r>
          </a:p>
        </p:txBody>
      </p:sp>
      <p:sp>
        <p:nvSpPr>
          <p:cNvPr id="3" name="TextBox 2"/>
          <p:cNvSpPr txBox="1"/>
          <p:nvPr/>
        </p:nvSpPr>
        <p:spPr>
          <a:xfrm>
            <a:off x="685800" y="1005840"/>
            <a:ext cx="10820095" cy="457200"/>
          </a:xfrm>
          <a:prstGeom prst="rect">
            <a:avLst/>
          </a:prstGeom>
          <a:noFill/>
        </p:spPr>
        <p:txBody>
          <a:bodyPr wrap="square" anchor="t"/>
          <a:lstStyle/>
          <a:p>
            <a:pPr algn="l">
              <a:defRPr sz="2000" b="0" i="0">
                <a:solidFill>
                  <a:srgbClr val="B0BEC5"/>
                </a:solidFill>
              </a:defRPr>
            </a:pPr>
            <a:r>
              <a:t>Every choice traced to a reason — no resume-driven development</a:t>
            </a:r>
          </a:p>
        </p:txBody>
      </p:sp>
      <p:graphicFrame>
        <p:nvGraphicFramePr>
          <p:cNvPr id="4" name="Table 3"/>
          <p:cNvGraphicFramePr>
            <a:graphicFrameLocks noGrp="1"/>
          </p:cNvGraphicFramePr>
          <p:nvPr/>
        </p:nvGraphicFramePr>
        <p:xfrm>
          <a:off x="685800" y="1737360"/>
          <a:ext cx="10820095" cy="4389120.0"/>
        </p:xfrm>
        <a:graphic>
          <a:graphicData uri="http://schemas.openxmlformats.org/drawingml/2006/table">
            <a:tbl>
              <a:tblPr firstRow="1" bandRow="1">
                <a:tableStyleId>{5C22544A-7EE6-4342-B048-85BDC9FD1C3A}</a:tableStyleId>
              </a:tblPr>
              <a:tblGrid>
                <a:gridCol w="2705023"/>
                <a:gridCol w="2705023"/>
                <a:gridCol w="2705023"/>
                <a:gridCol w="2705026"/>
              </a:tblGrid>
              <a:tr h="487680">
                <a:tc>
                  <a:txBody>
                    <a:bodyPr/>
                    <a:lstStyle/>
                    <a:p>
                      <a:pPr>
                        <a:defRPr sz="1400" b="1">
                          <a:solidFill>
                            <a:srgbClr val="D4A843"/>
                          </a:solidFill>
                        </a:defRPr>
                      </a:pPr>
                      <a:r>
                        <a:t>Component</a:t>
                      </a:r>
                    </a:p>
                  </a:txBody>
                  <a:tcPr>
                    <a:solidFill>
                      <a:srgbClr val="15223A"/>
                    </a:solidFill>
                  </a:tcPr>
                </a:tc>
                <a:tc>
                  <a:txBody>
                    <a:bodyPr/>
                    <a:lstStyle/>
                    <a:p>
                      <a:pPr>
                        <a:defRPr sz="1400" b="1">
                          <a:solidFill>
                            <a:srgbClr val="D4A843"/>
                          </a:solidFill>
                        </a:defRPr>
                      </a:pPr>
                      <a:r>
                        <a:t>Technology</a:t>
                      </a:r>
                    </a:p>
                  </a:txBody>
                  <a:tcPr>
                    <a:solidFill>
                      <a:srgbClr val="15223A"/>
                    </a:solidFill>
                  </a:tcPr>
                </a:tc>
                <a:tc>
                  <a:txBody>
                    <a:bodyPr/>
                    <a:lstStyle/>
                    <a:p>
                      <a:pPr>
                        <a:defRPr sz="1400" b="1">
                          <a:solidFill>
                            <a:srgbClr val="D4A843"/>
                          </a:solidFill>
                        </a:defRPr>
                      </a:pPr>
                      <a:r>
                        <a:t>Why Chosen</a:t>
                      </a:r>
                    </a:p>
                  </a:txBody>
                  <a:tcPr>
                    <a:solidFill>
                      <a:srgbClr val="15223A"/>
                    </a:solidFill>
                  </a:tcPr>
                </a:tc>
                <a:tc>
                  <a:txBody>
                    <a:bodyPr/>
                    <a:lstStyle/>
                    <a:p>
                      <a:pPr>
                        <a:defRPr sz="1400" b="1">
                          <a:solidFill>
                            <a:srgbClr val="D4A843"/>
                          </a:solidFill>
                        </a:defRPr>
                      </a:pPr>
                      <a:r>
                        <a:t>Alternative Considered</a:t>
                      </a:r>
                    </a:p>
                  </a:txBody>
                  <a:tcPr>
                    <a:solidFill>
                      <a:srgbClr val="15223A"/>
                    </a:solidFill>
                  </a:tcPr>
                </a:tc>
              </a:tr>
              <a:tr h="487680">
                <a:tc>
                  <a:txBody>
                    <a:bodyPr/>
                    <a:lstStyle/>
                    <a:p>
                      <a:pPr>
                        <a:defRPr sz="1200">
                          <a:solidFill>
                            <a:srgbClr val="FFFFFF"/>
                          </a:solidFill>
                        </a:defRPr>
                      </a:pPr>
                      <a:r>
                        <a:t>Backend</a:t>
                      </a:r>
                    </a:p>
                  </a:txBody>
                  <a:tcPr>
                    <a:solidFill>
                      <a:srgbClr val="1B2A4A"/>
                    </a:solidFill>
                  </a:tcPr>
                </a:tc>
                <a:tc>
                  <a:txBody>
                    <a:bodyPr/>
                    <a:lstStyle/>
                    <a:p>
                      <a:pPr>
                        <a:defRPr sz="1200">
                          <a:solidFill>
                            <a:srgbClr val="FFFFFF"/>
                          </a:solidFill>
                        </a:defRPr>
                      </a:pPr>
                      <a:r>
                        <a:t>Python 3.12 + FastAPI</a:t>
                      </a:r>
                    </a:p>
                  </a:txBody>
                  <a:tcPr>
                    <a:solidFill>
                      <a:srgbClr val="1B2A4A"/>
                    </a:solidFill>
                  </a:tcPr>
                </a:tc>
                <a:tc>
                  <a:txBody>
                    <a:bodyPr/>
                    <a:lstStyle/>
                    <a:p>
                      <a:pPr>
                        <a:defRPr sz="1200">
                          <a:solidFill>
                            <a:srgbClr val="FFFFFF"/>
                          </a:solidFill>
                        </a:defRPr>
                      </a:pPr>
                      <a:r>
                        <a:t>Team knows Python; async native; Claude SDK first-class; pywin32 for Excel COM</a:t>
                      </a:r>
                    </a:p>
                  </a:txBody>
                  <a:tcPr>
                    <a:solidFill>
                      <a:srgbClr val="1B2A4A"/>
                    </a:solidFill>
                  </a:tcPr>
                </a:tc>
                <a:tc>
                  <a:txBody>
                    <a:bodyPr/>
                    <a:lstStyle/>
                    <a:p>
                      <a:pPr>
                        <a:defRPr sz="1200">
                          <a:solidFill>
                            <a:srgbClr val="FFFFFF"/>
                          </a:solidFill>
                        </a:defRPr>
                      </a:pPr>
                      <a:r>
                        <a:t>NestJS (new language), Go (no COM support)</a:t>
                      </a:r>
                    </a:p>
                  </a:txBody>
                  <a:tcPr>
                    <a:solidFill>
                      <a:srgbClr val="1B2A4A"/>
                    </a:solidFill>
                  </a:tcPr>
                </a:tc>
              </a:tr>
              <a:tr h="487680">
                <a:tc>
                  <a:txBody>
                    <a:bodyPr/>
                    <a:lstStyle/>
                    <a:p>
                      <a:pPr>
                        <a:defRPr sz="1200">
                          <a:solidFill>
                            <a:srgbClr val="FFFFFF"/>
                          </a:solidFill>
                        </a:defRPr>
                      </a:pPr>
                      <a:r>
                        <a:t>Frontend</a:t>
                      </a:r>
                    </a:p>
                  </a:txBody>
                  <a:tcPr>
                    <a:solidFill>
                      <a:srgbClr val="223656"/>
                    </a:solidFill>
                  </a:tcPr>
                </a:tc>
                <a:tc>
                  <a:txBody>
                    <a:bodyPr/>
                    <a:lstStyle/>
                    <a:p>
                      <a:pPr>
                        <a:defRPr sz="1200">
                          <a:solidFill>
                            <a:srgbClr val="FFFFFF"/>
                          </a:solidFill>
                        </a:defRPr>
                      </a:pPr>
                      <a:r>
                        <a:t>Next.js 15 + React 19 + TypeScript</a:t>
                      </a:r>
                    </a:p>
                  </a:txBody>
                  <a:tcPr>
                    <a:solidFill>
                      <a:srgbClr val="223656"/>
                    </a:solidFill>
                  </a:tcPr>
                </a:tc>
                <a:tc>
                  <a:txBody>
                    <a:bodyPr/>
                    <a:lstStyle/>
                    <a:p>
                      <a:pPr>
                        <a:defRPr sz="1200">
                          <a:solidFill>
                            <a:srgbClr val="FFFFFF"/>
                          </a:solidFill>
                        </a:defRPr>
                      </a:pPr>
                      <a:r>
                        <a:t>SSR for slow control-room networks; type safety prevents numerical display errors</a:t>
                      </a:r>
                    </a:p>
                  </a:txBody>
                  <a:tcPr>
                    <a:solidFill>
                      <a:srgbClr val="223656"/>
                    </a:solidFill>
                  </a:tcPr>
                </a:tc>
                <a:tc>
                  <a:txBody>
                    <a:bodyPr/>
                    <a:lstStyle/>
                    <a:p>
                      <a:pPr>
                        <a:defRPr sz="1200">
                          <a:solidFill>
                            <a:srgbClr val="FFFFFF"/>
                          </a:solidFill>
                        </a:defRPr>
                      </a:pPr>
                      <a:r>
                        <a:t>Vue/Nuxt (smaller industrial charting ecosystem)</a:t>
                      </a:r>
                    </a:p>
                  </a:txBody>
                  <a:tcPr>
                    <a:solidFill>
                      <a:srgbClr val="223656"/>
                    </a:solidFill>
                  </a:tcPr>
                </a:tc>
              </a:tr>
              <a:tr h="487680">
                <a:tc>
                  <a:txBody>
                    <a:bodyPr/>
                    <a:lstStyle/>
                    <a:p>
                      <a:pPr>
                        <a:defRPr sz="1200">
                          <a:solidFill>
                            <a:srgbClr val="FFFFFF"/>
                          </a:solidFill>
                        </a:defRPr>
                      </a:pPr>
                      <a:r>
                        <a:t>Database</a:t>
                      </a:r>
                    </a:p>
                  </a:txBody>
                  <a:tcPr>
                    <a:solidFill>
                      <a:srgbClr val="1B2A4A"/>
                    </a:solidFill>
                  </a:tcPr>
                </a:tc>
                <a:tc>
                  <a:txBody>
                    <a:bodyPr/>
                    <a:lstStyle/>
                    <a:p>
                      <a:pPr>
                        <a:defRPr sz="1200">
                          <a:solidFill>
                            <a:srgbClr val="FFFFFF"/>
                          </a:solidFill>
                        </a:defRPr>
                      </a:pPr>
                      <a:r>
                        <a:t>PostgreSQL 16 + TimescaleDB</a:t>
                      </a:r>
                    </a:p>
                  </a:txBody>
                  <a:tcPr>
                    <a:solidFill>
                      <a:srgbClr val="1B2A4A"/>
                    </a:solidFill>
                  </a:tcPr>
                </a:tc>
                <a:tc>
                  <a:txBody>
                    <a:bodyPr/>
                    <a:lstStyle/>
                    <a:p>
                      <a:pPr>
                        <a:defRPr sz="1200">
                          <a:solidFill>
                            <a:srgbClr val="FFFFFF"/>
                          </a:solidFill>
                        </a:defRPr>
                      </a:pPr>
                      <a:r>
                        <a:t>Single DB for relational + time-series; full SQL JOINs; 90%+ compression</a:t>
                      </a:r>
                    </a:p>
                  </a:txBody>
                  <a:tcPr>
                    <a:solidFill>
                      <a:srgbClr val="1B2A4A"/>
                    </a:solidFill>
                  </a:tcPr>
                </a:tc>
                <a:tc>
                  <a:txBody>
                    <a:bodyPr/>
                    <a:lstStyle/>
                    <a:p>
                      <a:pPr>
                        <a:defRPr sz="1200">
                          <a:solidFill>
                            <a:srgbClr val="FFFFFF"/>
                          </a:solidFill>
                        </a:defRPr>
                      </a:pPr>
                      <a:r>
                        <a:t>InfluxDB (separate DB, no JOINs)</a:t>
                      </a:r>
                    </a:p>
                  </a:txBody>
                  <a:tcPr>
                    <a:solidFill>
                      <a:srgbClr val="1B2A4A"/>
                    </a:solidFill>
                  </a:tcPr>
                </a:tc>
              </a:tr>
              <a:tr h="487680">
                <a:tc>
                  <a:txBody>
                    <a:bodyPr/>
                    <a:lstStyle/>
                    <a:p>
                      <a:pPr>
                        <a:defRPr sz="1200">
                          <a:solidFill>
                            <a:srgbClr val="FFFFFF"/>
                          </a:solidFill>
                        </a:defRPr>
                      </a:pPr>
                      <a:r>
                        <a:t>Cache/Broker</a:t>
                      </a:r>
                    </a:p>
                  </a:txBody>
                  <a:tcPr>
                    <a:solidFill>
                      <a:srgbClr val="223656"/>
                    </a:solidFill>
                  </a:tcPr>
                </a:tc>
                <a:tc>
                  <a:txBody>
                    <a:bodyPr/>
                    <a:lstStyle/>
                    <a:p>
                      <a:pPr>
                        <a:defRPr sz="1200">
                          <a:solidFill>
                            <a:srgbClr val="FFFFFF"/>
                          </a:solidFill>
                        </a:defRPr>
                      </a:pPr>
                      <a:r>
                        <a:t>Redis 7 + Celery</a:t>
                      </a:r>
                    </a:p>
                  </a:txBody>
                  <a:tcPr>
                    <a:solidFill>
                      <a:srgbClr val="223656"/>
                    </a:solidFill>
                  </a:tcPr>
                </a:tc>
                <a:tc>
                  <a:txBody>
                    <a:bodyPr/>
                    <a:lstStyle/>
                    <a:p>
                      <a:pPr>
                        <a:defRPr sz="1200">
                          <a:solidFill>
                            <a:srgbClr val="FFFFFF"/>
                          </a:solidFill>
                        </a:defRPr>
                      </a:pPr>
                      <a:r>
                        <a:t>Task queue for LP solves; pub/sub for module events; simple to operate</a:t>
                      </a:r>
                    </a:p>
                  </a:txBody>
                  <a:tcPr>
                    <a:solidFill>
                      <a:srgbClr val="223656"/>
                    </a:solidFill>
                  </a:tcPr>
                </a:tc>
                <a:tc>
                  <a:txBody>
                    <a:bodyPr/>
                    <a:lstStyle/>
                    <a:p>
                      <a:pPr>
                        <a:defRPr sz="1200">
                          <a:solidFill>
                            <a:srgbClr val="FFFFFF"/>
                          </a:solidFill>
                        </a:defRPr>
                      </a:pPr>
                      <a:r>
                        <a:t>RabbitMQ (more complex)</a:t>
                      </a:r>
                    </a:p>
                  </a:txBody>
                  <a:tcPr>
                    <a:solidFill>
                      <a:srgbClr val="223656"/>
                    </a:solidFill>
                  </a:tcPr>
                </a:tc>
              </a:tr>
              <a:tr h="487680">
                <a:tc>
                  <a:txBody>
                    <a:bodyPr/>
                    <a:lstStyle/>
                    <a:p>
                      <a:pPr>
                        <a:defRPr sz="1200">
                          <a:solidFill>
                            <a:srgbClr val="FFFFFF"/>
                          </a:solidFill>
                        </a:defRPr>
                      </a:pPr>
                      <a:r>
                        <a:t>Edge Agent</a:t>
                      </a:r>
                    </a:p>
                  </a:txBody>
                  <a:tcPr>
                    <a:solidFill>
                      <a:srgbClr val="1B2A4A"/>
                    </a:solidFill>
                  </a:tcPr>
                </a:tc>
                <a:tc>
                  <a:txBody>
                    <a:bodyPr/>
                    <a:lstStyle/>
                    <a:p>
                      <a:pPr>
                        <a:defRPr sz="1200">
                          <a:solidFill>
                            <a:srgbClr val="FFFFFF"/>
                          </a:solidFill>
                        </a:defRPr>
                      </a:pPr>
                      <a:r>
                        <a:t>Python Docker (~60 MB)</a:t>
                      </a:r>
                    </a:p>
                  </a:txBody>
                  <a:tcPr>
                    <a:solidFill>
                      <a:srgbClr val="1B2A4A"/>
                    </a:solidFill>
                  </a:tcPr>
                </a:tc>
                <a:tc>
                  <a:txBody>
                    <a:bodyPr/>
                    <a:lstStyle/>
                    <a:p>
                      <a:pPr>
                        <a:defRPr sz="1200">
                          <a:solidFill>
                            <a:srgbClr val="FFFFFF"/>
                          </a:solidFill>
                        </a:defRPr>
                      </a:pPr>
                      <a:r>
                        <a:t>Lightweight; store-and-forward; runs on Linux or Windows in DMZ</a:t>
                      </a:r>
                    </a:p>
                  </a:txBody>
                  <a:tcPr>
                    <a:solidFill>
                      <a:srgbClr val="1B2A4A"/>
                    </a:solidFill>
                  </a:tcPr>
                </a:tc>
                <a:tc>
                  <a:txBody>
                    <a:bodyPr/>
                    <a:lstStyle/>
                    <a:p>
                      <a:pPr>
                        <a:defRPr sz="1200">
                          <a:solidFill>
                            <a:srgbClr val="FFFFFF"/>
                          </a:solidFill>
                        </a:defRPr>
                      </a:pPr>
                      <a:r>
                        <a:t>Azure IoT Edge (overkill for MVP)</a:t>
                      </a:r>
                    </a:p>
                  </a:txBody>
                  <a:tcPr>
                    <a:solidFill>
                      <a:srgbClr val="1B2A4A"/>
                    </a:solidFill>
                  </a:tcPr>
                </a:tc>
              </a:tr>
              <a:tr h="487680">
                <a:tc>
                  <a:txBody>
                    <a:bodyPr/>
                    <a:lstStyle/>
                    <a:p>
                      <a:pPr>
                        <a:defRPr sz="1200">
                          <a:solidFill>
                            <a:srgbClr val="FFFFFF"/>
                          </a:solidFill>
                        </a:defRPr>
                      </a:pPr>
                      <a:r>
                        <a:t>LLM</a:t>
                      </a:r>
                    </a:p>
                  </a:txBody>
                  <a:tcPr>
                    <a:solidFill>
                      <a:srgbClr val="223656"/>
                    </a:solidFill>
                  </a:tcPr>
                </a:tc>
                <a:tc>
                  <a:txBody>
                    <a:bodyPr/>
                    <a:lstStyle/>
                    <a:p>
                      <a:pPr>
                        <a:defRPr sz="1200">
                          <a:solidFill>
                            <a:srgbClr val="FFFFFF"/>
                          </a:solidFill>
                        </a:defRPr>
                      </a:pPr>
                      <a:r>
                        <a:t>Claude API (direct Anthropic)</a:t>
                      </a:r>
                    </a:p>
                  </a:txBody>
                  <a:tcPr>
                    <a:solidFill>
                      <a:srgbClr val="223656"/>
                    </a:solidFill>
                  </a:tcPr>
                </a:tc>
                <a:tc>
                  <a:txBody>
                    <a:bodyPr/>
                    <a:lstStyle/>
                    <a:p>
                      <a:pPr>
                        <a:defRPr sz="1200">
                          <a:solidFill>
                            <a:srgbClr val="FFFFFF"/>
                          </a:solidFill>
                        </a:defRPr>
                      </a:pPr>
                      <a:r>
                        <a:t>Provider-agnostic; Haiku ~$3/mo routine, Sonnet for complex; no lock-in</a:t>
                      </a:r>
                    </a:p>
                  </a:txBody>
                  <a:tcPr>
                    <a:solidFill>
                      <a:srgbClr val="223656"/>
                    </a:solidFill>
                  </a:tcPr>
                </a:tc>
                <a:tc>
                  <a:txBody>
                    <a:bodyPr/>
                    <a:lstStyle/>
                    <a:p>
                      <a:pPr>
                        <a:defRPr sz="1200">
                          <a:solidFill>
                            <a:srgbClr val="FFFFFF"/>
                          </a:solidFill>
                        </a:defRPr>
                      </a:pPr>
                      <a:r>
                        <a:t>Azure OpenAI (adds complexity)</a:t>
                      </a:r>
                    </a:p>
                  </a:txBody>
                  <a:tcPr>
                    <a:solidFill>
                      <a:srgbClr val="223656"/>
                    </a:solidFill>
                  </a:tcPr>
                </a:tc>
              </a:tr>
              <a:tr h="487680">
                <a:tc>
                  <a:txBody>
                    <a:bodyPr/>
                    <a:lstStyle/>
                    <a:p>
                      <a:pPr>
                        <a:defRPr sz="1200">
                          <a:solidFill>
                            <a:srgbClr val="FFFFFF"/>
                          </a:solidFill>
                        </a:defRPr>
                      </a:pPr>
                      <a:r>
                        <a:t>Charting</a:t>
                      </a:r>
                    </a:p>
                  </a:txBody>
                  <a:tcPr>
                    <a:solidFill>
                      <a:srgbClr val="1B2A4A"/>
                    </a:solidFill>
                  </a:tcPr>
                </a:tc>
                <a:tc>
                  <a:txBody>
                    <a:bodyPr/>
                    <a:lstStyle/>
                    <a:p>
                      <a:pPr>
                        <a:defRPr sz="1200">
                          <a:solidFill>
                            <a:srgbClr val="FFFFFF"/>
                          </a:solidFill>
                        </a:defRPr>
                      </a:pPr>
                      <a:r>
                        <a:t>ECharts + Tremor</a:t>
                      </a:r>
                    </a:p>
                  </a:txBody>
                  <a:tcPr>
                    <a:solidFill>
                      <a:srgbClr val="1B2A4A"/>
                    </a:solidFill>
                  </a:tcPr>
                </a:tc>
                <a:tc>
                  <a:txBody>
                    <a:bodyPr/>
                    <a:lstStyle/>
                    <a:p>
                      <a:pPr>
                        <a:defRPr sz="1200">
                          <a:solidFill>
                            <a:srgbClr val="FFFFFF"/>
                          </a:solidFill>
                        </a:defRPr>
                      </a:pPr>
                      <a:r>
                        <a:t>60fps Canvas for analytics; Tremor for KPI cards; both dark-mode native</a:t>
                      </a:r>
                    </a:p>
                  </a:txBody>
                  <a:tcPr>
                    <a:solidFill>
                      <a:srgbClr val="1B2A4A"/>
                    </a:solidFill>
                  </a:tcPr>
                </a:tc>
                <a:tc>
                  <a:txBody>
                    <a:bodyPr/>
                    <a:lstStyle/>
                    <a:p>
                      <a:pPr>
                        <a:defRPr sz="1200">
                          <a:solidFill>
                            <a:srgbClr val="FFFFFF"/>
                          </a:solidFill>
                        </a:defRPr>
                      </a:pPr>
                      <a:r>
                        <a:t>D3 (too low-level), Plotly (heavier)</a:t>
                      </a:r>
                    </a:p>
                  </a:txBody>
                  <a:tcPr>
                    <a:solidFill>
                      <a:srgbClr val="1B2A4A"/>
                    </a:solidFill>
                  </a:tcPr>
                </a:tc>
              </a:tr>
              <a:tr h="487680">
                <a:tc>
                  <a:txBody>
                    <a:bodyPr/>
                    <a:lstStyle/>
                    <a:p>
                      <a:pPr>
                        <a:defRPr sz="1200">
                          <a:solidFill>
                            <a:srgbClr val="FFFFFF"/>
                          </a:solidFill>
                        </a:defRPr>
                      </a:pPr>
                      <a:r>
                        <a:t>Messaging</a:t>
                      </a:r>
                    </a:p>
                  </a:txBody>
                  <a:tcPr>
                    <a:solidFill>
                      <a:srgbClr val="223656"/>
                    </a:solidFill>
                  </a:tcPr>
                </a:tc>
                <a:tc>
                  <a:txBody>
                    <a:bodyPr/>
                    <a:lstStyle/>
                    <a:p>
                      <a:pPr>
                        <a:defRPr sz="1200">
                          <a:solidFill>
                            <a:srgbClr val="FFFFFF"/>
                          </a:solidFill>
                        </a:defRPr>
                      </a:pPr>
                      <a:r>
                        <a:t>Azure Bot Service + Adaptive Cards</a:t>
                      </a:r>
                    </a:p>
                  </a:txBody>
                  <a:tcPr>
                    <a:solidFill>
                      <a:srgbClr val="223656"/>
                    </a:solidFill>
                  </a:tcPr>
                </a:tc>
                <a:tc>
                  <a:txBody>
                    <a:bodyPr/>
                    <a:lstStyle/>
                    <a:p>
                      <a:pPr>
                        <a:defRPr sz="1200">
                          <a:solidFill>
                            <a:srgbClr val="FFFFFF"/>
                          </a:solidFill>
                        </a:defRPr>
                      </a:pPr>
                      <a:r>
                        <a:t>Teams-native structured input; 64px+ buttons for glove compatibility</a:t>
                      </a:r>
                    </a:p>
                  </a:txBody>
                  <a:tcPr>
                    <a:solidFill>
                      <a:srgbClr val="223656"/>
                    </a:solidFill>
                  </a:tcPr>
                </a:tc>
                <a:tc>
                  <a:txBody>
                    <a:bodyPr/>
                    <a:lstStyle/>
                    <a:p>
                      <a:pPr>
                        <a:defRPr sz="1200">
                          <a:solidFill>
                            <a:srgbClr val="FFFFFF"/>
                          </a:solidFill>
                        </a:defRPr>
                      </a:pPr>
                      <a:r>
                        <a:t>Custom webhooks (lose structured cards)</a:t>
                      </a:r>
                    </a:p>
                  </a:txBody>
                  <a:tcPr>
                    <a:solidFill>
                      <a:srgbClr val="223656"/>
                    </a:solidFill>
                  </a:tcPr>
                </a:tc>
              </a:tr>
            </a:tbl>
          </a:graphicData>
        </a:graphic>
      </p:graphicFrame>
      <p:sp>
        <p:nvSpPr>
          <p:cNvPr id="5" name="TextBox 4"/>
          <p:cNvSpPr txBox="1"/>
          <p:nvPr/>
        </p:nvSpPr>
        <p:spPr>
          <a:xfrm>
            <a:off x="11505895" y="6492240"/>
            <a:ext cx="457200" cy="274320"/>
          </a:xfrm>
          <a:prstGeom prst="rect">
            <a:avLst/>
          </a:prstGeom>
          <a:noFill/>
        </p:spPr>
        <p:txBody>
          <a:bodyPr wrap="square" anchor="t"/>
          <a:lstStyle/>
          <a:p>
            <a:pPr algn="r">
              <a:defRPr sz="1000" b="0" i="0">
                <a:solidFill>
                  <a:srgbClr val="B0BEC5"/>
                </a:solidFill>
              </a:defRPr>
            </a:pPr>
            <a:r>
              <a:t>27</a:t>
            </a:r>
          </a:p>
        </p:txBody>
      </p:sp>
      <p:sp>
        <p:nvSpPr>
          <p:cNvPr id="6" name="TextBox 5"/>
          <p:cNvSpPr txBox="1"/>
          <p:nvPr/>
        </p:nvSpPr>
        <p:spPr>
          <a:xfrm>
            <a:off x="685800" y="6400800"/>
            <a:ext cx="3657600" cy="274320"/>
          </a:xfrm>
          <a:prstGeom prst="rect">
            <a:avLst/>
          </a:prstGeom>
          <a:noFill/>
        </p:spPr>
        <p:txBody>
          <a:bodyPr wrap="square" anchor="t"/>
          <a:lstStyle/>
          <a:p>
            <a:pPr algn="l">
              <a:defRPr sz="1200" b="0" i="1">
                <a:solidFill>
                  <a:srgbClr val="78909C"/>
                </a:solidFill>
              </a:defRPr>
            </a:pPr>
            <a:r>
              <a:t>Deep dive: ENGINEERING-SPEC.md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685800" y="365760"/>
            <a:ext cx="10820095" cy="640080"/>
          </a:xfrm>
          <a:prstGeom prst="rect">
            <a:avLst/>
          </a:prstGeom>
          <a:noFill/>
        </p:spPr>
        <p:txBody>
          <a:bodyPr wrap="square" anchor="t"/>
          <a:lstStyle/>
          <a:p>
            <a:pPr algn="l">
              <a:defRPr sz="2800" b="1" i="0">
                <a:solidFill>
                  <a:srgbClr val="FFFFFF"/>
                </a:solidFill>
              </a:defRPr>
            </a:pPr>
            <a:r>
              <a:t>Data Architecture: PostgreSQL for Everything</a:t>
            </a:r>
          </a:p>
        </p:txBody>
      </p:sp>
      <p:sp>
        <p:nvSpPr>
          <p:cNvPr id="3" name="TextBox 2"/>
          <p:cNvSpPr txBox="1"/>
          <p:nvPr/>
        </p:nvSpPr>
        <p:spPr>
          <a:xfrm>
            <a:off x="685800" y="1005840"/>
            <a:ext cx="10820095" cy="457200"/>
          </a:xfrm>
          <a:prstGeom prst="rect">
            <a:avLst/>
          </a:prstGeom>
          <a:noFill/>
        </p:spPr>
        <p:txBody>
          <a:bodyPr wrap="square" anchor="t"/>
          <a:lstStyle/>
          <a:p>
            <a:pPr algn="l">
              <a:defRPr sz="2000" b="0" i="0">
                <a:solidFill>
                  <a:srgbClr val="B0BEC5"/>
                </a:solidFill>
              </a:defRPr>
            </a:pPr>
            <a:r>
              <a:t>One database, two data models, zero operational overhead</a:t>
            </a:r>
          </a:p>
        </p:txBody>
      </p:sp>
      <p:sp>
        <p:nvSpPr>
          <p:cNvPr id="4" name="TextBox 3"/>
          <p:cNvSpPr txBox="1"/>
          <p:nvPr/>
        </p:nvSpPr>
        <p:spPr>
          <a:xfrm>
            <a:off x="685800" y="1737360"/>
            <a:ext cx="10820095" cy="4389120"/>
          </a:xfrm>
          <a:prstGeom prst="rect">
            <a:avLst/>
          </a:prstGeom>
          <a:noFill/>
        </p:spPr>
        <p:txBody>
          <a:bodyPr wrap="square">
            <a:spAutoFit/>
          </a:bodyPr>
          <a:lstStyle/>
          <a:p>
            <a:pPr>
              <a:spcAft>
                <a:spcPts val="600"/>
              </a:spcAft>
              <a:defRPr sz="1800">
                <a:solidFill>
                  <a:srgbClr val="FFFFFF"/>
                </a:solidFill>
              </a:defRPr>
            </a:pPr>
            <a:r>
              <a:t>TimescaleDB hypertables for time-series: sensor readings, market prices, crack spreads</a:t>
            </a:r>
          </a:p>
          <a:p>
            <a:pPr>
              <a:spcAft>
                <a:spcPts val="600"/>
              </a:spcAft>
              <a:defRPr sz="1800">
                <a:solidFill>
                  <a:srgbClr val="FFFFFF"/>
                </a:solidFill>
              </a:defRPr>
            </a:pPr>
            <a:r>
              <a:t>Regular PostgreSQL tables for relational: constraints, overrides, audit logs, users, LP configs</a:t>
            </a:r>
          </a:p>
          <a:p>
            <a:pPr>
              <a:spcAft>
                <a:spcPts val="600"/>
              </a:spcAft>
              <a:defRPr sz="1800">
                <a:solidFill>
                  <a:srgbClr val="FFFFFF"/>
                </a:solidFill>
              </a:defRPr>
            </a:pPr>
            <a:r>
              <a:t>Continuous aggregates auto-compute 5-minute rollups for dashboards</a:t>
            </a:r>
          </a:p>
          <a:p>
            <a:pPr>
              <a:spcAft>
                <a:spcPts val="600"/>
              </a:spcAft>
              <a:defRPr sz="1800">
                <a:solidFill>
                  <a:srgbClr val="FFFFFF"/>
                </a:solidFill>
              </a:defRPr>
            </a:pPr>
            <a:r>
              <a:t>90%+ compression after 7 days; 2-year retention on raw data, 7 years on audit logs</a:t>
            </a:r>
          </a:p>
          <a:p>
            <a:pPr>
              <a:spcAft>
                <a:spcPts val="600"/>
              </a:spcAft>
              <a:defRPr sz="1800">
                <a:solidFill>
                  <a:srgbClr val="FFFFFF"/>
                </a:solidFill>
              </a:defRPr>
            </a:pPr>
            <a:r>
              <a:t>Storage estimate: ~140 MB/year per site at 1-minute intervals with compression</a:t>
            </a:r>
          </a:p>
          <a:p>
            <a:pPr>
              <a:spcAft>
                <a:spcPts val="600"/>
              </a:spcAft>
              <a:defRPr sz="1800">
                <a:solidFill>
                  <a:srgbClr val="FFFFFF"/>
                </a:solidFill>
              </a:defRPr>
            </a:pPr>
            <a:r>
              <a:t>Cost: $20-50/month managed PostgreSQL — sufficient for 5+ sites</a:t>
            </a:r>
          </a:p>
        </p:txBody>
      </p:sp>
      <p:sp>
        <p:nvSpPr>
          <p:cNvPr id="5" name="TextBox 4"/>
          <p:cNvSpPr txBox="1"/>
          <p:nvPr/>
        </p:nvSpPr>
        <p:spPr>
          <a:xfrm>
            <a:off x="11505895" y="6492240"/>
            <a:ext cx="457200" cy="274320"/>
          </a:xfrm>
          <a:prstGeom prst="rect">
            <a:avLst/>
          </a:prstGeom>
          <a:noFill/>
        </p:spPr>
        <p:txBody>
          <a:bodyPr wrap="square" anchor="t"/>
          <a:lstStyle/>
          <a:p>
            <a:pPr algn="r">
              <a:defRPr sz="1000" b="0" i="0">
                <a:solidFill>
                  <a:srgbClr val="B0BEC5"/>
                </a:solidFill>
              </a:defRPr>
            </a:pPr>
            <a:r>
              <a:t>28</a:t>
            </a:r>
          </a:p>
        </p:txBody>
      </p:sp>
      <p:sp>
        <p:nvSpPr>
          <p:cNvPr id="6" name="TextBox 5"/>
          <p:cNvSpPr txBox="1"/>
          <p:nvPr/>
        </p:nvSpPr>
        <p:spPr>
          <a:xfrm>
            <a:off x="685800" y="6400800"/>
            <a:ext cx="3657600" cy="274320"/>
          </a:xfrm>
          <a:prstGeom prst="rect">
            <a:avLst/>
          </a:prstGeom>
          <a:noFill/>
        </p:spPr>
        <p:txBody>
          <a:bodyPr wrap="square" anchor="t"/>
          <a:lstStyle/>
          <a:p>
            <a:pPr algn="l">
              <a:defRPr sz="1200" b="0" i="1">
                <a:solidFill>
                  <a:srgbClr val="78909C"/>
                </a:solidFill>
              </a:defRPr>
            </a:pPr>
            <a:r>
              <a:t>Deep dive: research/run2/data-architecture.md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685800" y="365760"/>
            <a:ext cx="10820095" cy="640080"/>
          </a:xfrm>
          <a:prstGeom prst="rect">
            <a:avLst/>
          </a:prstGeom>
          <a:noFill/>
        </p:spPr>
        <p:txBody>
          <a:bodyPr wrap="square" anchor="t"/>
          <a:lstStyle/>
          <a:p>
            <a:pPr algn="l">
              <a:defRPr sz="2800" b="1" i="0">
                <a:solidFill>
                  <a:srgbClr val="FFFFFF"/>
                </a:solidFill>
              </a:defRPr>
            </a:pPr>
            <a:r>
              <a:t>Service Architecture: Modular Monolith</a:t>
            </a:r>
          </a:p>
        </p:txBody>
      </p:sp>
      <p:sp>
        <p:nvSpPr>
          <p:cNvPr id="3" name="TextBox 2"/>
          <p:cNvSpPr txBox="1"/>
          <p:nvPr/>
        </p:nvSpPr>
        <p:spPr>
          <a:xfrm>
            <a:off x="685800" y="1005840"/>
            <a:ext cx="10820095" cy="457200"/>
          </a:xfrm>
          <a:prstGeom prst="rect">
            <a:avLst/>
          </a:prstGeom>
          <a:noFill/>
        </p:spPr>
        <p:txBody>
          <a:bodyPr wrap="square" anchor="t"/>
          <a:lstStyle/>
          <a:p>
            <a:pPr algn="l">
              <a:defRPr sz="2000" b="0" i="0">
                <a:solidFill>
                  <a:srgbClr val="B0BEC5"/>
                </a:solidFill>
              </a:defRPr>
            </a:pPr>
            <a:r>
              <a:t>Right-sized for a student team with 1-5 customers</a:t>
            </a:r>
          </a:p>
        </p:txBody>
      </p:sp>
      <p:sp>
        <p:nvSpPr>
          <p:cNvPr id="4" name="TextBox 3"/>
          <p:cNvSpPr txBox="1"/>
          <p:nvPr/>
        </p:nvSpPr>
        <p:spPr>
          <a:xfrm>
            <a:off x="685800" y="1737360"/>
            <a:ext cx="10820095" cy="4389120"/>
          </a:xfrm>
          <a:prstGeom prst="rect">
            <a:avLst/>
          </a:prstGeom>
          <a:noFill/>
        </p:spPr>
        <p:txBody>
          <a:bodyPr wrap="square">
            <a:spAutoFit/>
          </a:bodyPr>
          <a:lstStyle/>
          <a:p>
            <a:pPr>
              <a:spcAft>
                <a:spcPts val="600"/>
              </a:spcAft>
              <a:defRPr sz="1800">
                <a:solidFill>
                  <a:srgbClr val="FFFFFF"/>
                </a:solidFill>
              </a:defRPr>
            </a:pPr>
            <a:r>
              <a:t>Single FastAPI application with 11 internal modules, clean boundaries</a:t>
            </a:r>
          </a:p>
          <a:p>
            <a:pPr>
              <a:spcAft>
                <a:spcPts val="600"/>
              </a:spcAft>
              <a:defRPr sz="1800">
                <a:solidFill>
                  <a:srgbClr val="FFFFFF"/>
                </a:solidFill>
              </a:defRPr>
            </a:pPr>
            <a:r>
              <a:t>Only external process: Windows LP Worker (Excel COM can't run on Linux)</a:t>
            </a:r>
          </a:p>
          <a:p>
            <a:pPr>
              <a:spcAft>
                <a:spcPts val="600"/>
              </a:spcAft>
              <a:defRPr sz="1800">
                <a:solidFill>
                  <a:srgbClr val="FFFFFF"/>
                </a:solidFill>
              </a:defRPr>
            </a:pPr>
            <a:r>
              <a:t>Modules communicate via defined Python interfaces — never reach into each other's internals</a:t>
            </a:r>
          </a:p>
          <a:p>
            <a:pPr>
              <a:spcAft>
                <a:spcPts val="600"/>
              </a:spcAft>
              <a:defRPr sz="1800">
                <a:solidFill>
                  <a:srgbClr val="FFFFFF"/>
                </a:solidFill>
              </a:defRPr>
            </a:pPr>
            <a:r>
              <a:t>Each module owns its database tables — no cross-module direct table access</a:t>
            </a:r>
          </a:p>
          <a:p>
            <a:pPr>
              <a:spcAft>
                <a:spcPts val="600"/>
              </a:spcAft>
              <a:defRPr sz="1800">
                <a:solidFill>
                  <a:srgbClr val="FFFFFF"/>
                </a:solidFill>
              </a:defRPr>
            </a:pPr>
            <a:r>
              <a:t>Internal event bus (Redis pub/sub) for loose coupling between modules</a:t>
            </a:r>
          </a:p>
          <a:p>
            <a:pPr>
              <a:spcAft>
                <a:spcPts val="600"/>
              </a:spcAft>
              <a:defRPr sz="1800">
                <a:solidFill>
                  <a:srgbClr val="FFFFFF"/>
                </a:solidFill>
              </a:defRPr>
            </a:pPr>
            <a:r>
              <a:t>ACID transactions across modules — no saga patterns or eventual consistency</a:t>
            </a:r>
          </a:p>
        </p:txBody>
      </p:sp>
      <p:sp>
        <p:nvSpPr>
          <p:cNvPr id="5" name="TextBox 4"/>
          <p:cNvSpPr txBox="1"/>
          <p:nvPr/>
        </p:nvSpPr>
        <p:spPr>
          <a:xfrm>
            <a:off x="11505895" y="6492240"/>
            <a:ext cx="457200" cy="274320"/>
          </a:xfrm>
          <a:prstGeom prst="rect">
            <a:avLst/>
          </a:prstGeom>
          <a:noFill/>
        </p:spPr>
        <p:txBody>
          <a:bodyPr wrap="square" anchor="t"/>
          <a:lstStyle/>
          <a:p>
            <a:pPr algn="r">
              <a:defRPr sz="1000" b="0" i="0">
                <a:solidFill>
                  <a:srgbClr val="B0BEC5"/>
                </a:solidFill>
              </a:defRPr>
            </a:pPr>
            <a:r>
              <a:t>29</a:t>
            </a:r>
          </a:p>
        </p:txBody>
      </p:sp>
      <p:sp>
        <p:nvSpPr>
          <p:cNvPr id="6" name="TextBox 5"/>
          <p:cNvSpPr txBox="1"/>
          <p:nvPr/>
        </p:nvSpPr>
        <p:spPr>
          <a:xfrm>
            <a:off x="685800" y="6400800"/>
            <a:ext cx="3657600" cy="274320"/>
          </a:xfrm>
          <a:prstGeom prst="rect">
            <a:avLst/>
          </a:prstGeom>
          <a:noFill/>
        </p:spPr>
        <p:txBody>
          <a:bodyPr wrap="square" anchor="t"/>
          <a:lstStyle/>
          <a:p>
            <a:pPr algn="l">
              <a:defRPr sz="1200" b="0" i="1">
                <a:solidFill>
                  <a:srgbClr val="78909C"/>
                </a:solidFill>
              </a:defRPr>
            </a:pPr>
            <a:r>
              <a:t>Deep dive: research/run2/api-backend-architecture.md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685800" y="365760"/>
            <a:ext cx="10820095" cy="640080"/>
          </a:xfrm>
          <a:prstGeom prst="rect">
            <a:avLst/>
          </a:prstGeom>
          <a:noFill/>
        </p:spPr>
        <p:txBody>
          <a:bodyPr wrap="square" anchor="t"/>
          <a:lstStyle/>
          <a:p>
            <a:pPr algn="l">
              <a:defRPr sz="2800" b="1" i="0">
                <a:solidFill>
                  <a:srgbClr val="FFFFFF"/>
                </a:solidFill>
              </a:defRPr>
            </a:pPr>
            <a:r>
              <a:t>AI/LLM Integration: Claude as Translator, Not Calculator</a:t>
            </a:r>
          </a:p>
        </p:txBody>
      </p:sp>
      <p:sp>
        <p:nvSpPr>
          <p:cNvPr id="3" name="TextBox 2"/>
          <p:cNvSpPr txBox="1"/>
          <p:nvPr/>
        </p:nvSpPr>
        <p:spPr>
          <a:xfrm>
            <a:off x="685800" y="1005840"/>
            <a:ext cx="10820095" cy="457200"/>
          </a:xfrm>
          <a:prstGeom prst="rect">
            <a:avLst/>
          </a:prstGeom>
          <a:noFill/>
        </p:spPr>
        <p:txBody>
          <a:bodyPr wrap="square" anchor="t"/>
          <a:lstStyle/>
          <a:p>
            <a:pPr algn="l">
              <a:defRPr sz="2000" b="0" i="0">
                <a:solidFill>
                  <a:srgbClr val="B0BEC5"/>
                </a:solidFill>
              </a:defRPr>
            </a:pPr>
            <a:r>
              <a:t>Numbers are sacred — the LLM never touches them</a:t>
            </a:r>
          </a:p>
        </p:txBody>
      </p:sp>
      <p:sp>
        <p:nvSpPr>
          <p:cNvPr id="4" name="TextBox 3"/>
          <p:cNvSpPr txBox="1"/>
          <p:nvPr/>
        </p:nvSpPr>
        <p:spPr>
          <a:xfrm>
            <a:off x="685800" y="1737360"/>
            <a:ext cx="10820095" cy="4389120"/>
          </a:xfrm>
          <a:prstGeom prst="rect">
            <a:avLst/>
          </a:prstGeom>
          <a:noFill/>
        </p:spPr>
        <p:txBody>
          <a:bodyPr wrap="square">
            <a:spAutoFit/>
          </a:bodyPr>
          <a:lstStyle/>
          <a:p>
            <a:pPr>
              <a:spcAft>
                <a:spcPts val="600"/>
              </a:spcAft>
              <a:defRPr sz="1800">
                <a:solidFill>
                  <a:srgbClr val="FFFFFF"/>
                </a:solidFill>
              </a:defRPr>
            </a:pPr>
            <a:r>
              <a:t>Pipeline: LP Output -&gt; Python extracts numbers -&gt; Delta calculation -&gt; Claude formats English -&gt; Cross-validate -&gt; Deliver</a:t>
            </a:r>
          </a:p>
          <a:p>
            <a:pPr>
              <a:spcAft>
                <a:spcPts val="600"/>
              </a:spcAft>
              <a:defRPr sz="1800">
                <a:solidFill>
                  <a:srgbClr val="FFFFFF"/>
                </a:solidFill>
              </a:defRPr>
            </a:pPr>
            <a:r>
              <a:t>Routine translation: Claude Haiku (~$0.001/call, 50-100 calls/day)</a:t>
            </a:r>
          </a:p>
          <a:p>
            <a:pPr>
              <a:spcAft>
                <a:spcPts val="600"/>
              </a:spcAft>
              <a:defRPr sz="1800">
                <a:solidFill>
                  <a:srgbClr val="FFFFFF"/>
                </a:solidFill>
              </a:defRPr>
            </a:pPr>
            <a:r>
              <a:t>Complex constraint interpretation: Claude Sonnet (~$0.005/call, 10-20 calls/day)</a:t>
            </a:r>
          </a:p>
          <a:p>
            <a:pPr>
              <a:spcAft>
                <a:spcPts val="600"/>
              </a:spcAft>
              <a:defRPr sz="1800">
                <a:solidFill>
                  <a:srgbClr val="FFFFFF"/>
                </a:solidFill>
              </a:defRPr>
            </a:pPr>
            <a:r>
              <a:t>Total cost: $7-18/month per site; $350-900/month at 50 sites (&lt;0.03% of revenue)</a:t>
            </a:r>
          </a:p>
          <a:p>
            <a:pPr>
              <a:spcAft>
                <a:spcPts val="600"/>
              </a:spcAft>
              <a:defRPr sz="1800">
                <a:solidFill>
                  <a:srgbClr val="FFFFFF"/>
                </a:solidFill>
              </a:defRPr>
            </a:pPr>
            <a:r>
              <a:t>Every number cross-validated against source data before delivery</a:t>
            </a:r>
          </a:p>
          <a:p>
            <a:pPr>
              <a:spcAft>
                <a:spcPts val="600"/>
              </a:spcAft>
              <a:defRPr sz="1800">
                <a:solidFill>
                  <a:srgbClr val="FFFFFF"/>
                </a:solidFill>
              </a:defRPr>
            </a:pPr>
            <a:r>
              <a:t>Deterministic template fallback if Claude is down or validation fails</a:t>
            </a:r>
          </a:p>
        </p:txBody>
      </p:sp>
      <p:sp>
        <p:nvSpPr>
          <p:cNvPr id="5" name="TextBox 4"/>
          <p:cNvSpPr txBox="1"/>
          <p:nvPr/>
        </p:nvSpPr>
        <p:spPr>
          <a:xfrm>
            <a:off x="11505895" y="6492240"/>
            <a:ext cx="457200" cy="274320"/>
          </a:xfrm>
          <a:prstGeom prst="rect">
            <a:avLst/>
          </a:prstGeom>
          <a:noFill/>
        </p:spPr>
        <p:txBody>
          <a:bodyPr wrap="square" anchor="t"/>
          <a:lstStyle/>
          <a:p>
            <a:pPr algn="r">
              <a:defRPr sz="1000" b="0" i="0">
                <a:solidFill>
                  <a:srgbClr val="B0BEC5"/>
                </a:solidFill>
              </a:defRPr>
            </a:pPr>
            <a:r>
              <a:t>30</a:t>
            </a:r>
          </a:p>
        </p:txBody>
      </p:sp>
      <p:sp>
        <p:nvSpPr>
          <p:cNvPr id="6" name="TextBox 5"/>
          <p:cNvSpPr txBox="1"/>
          <p:nvPr/>
        </p:nvSpPr>
        <p:spPr>
          <a:xfrm>
            <a:off x="685800" y="6400800"/>
            <a:ext cx="3657600" cy="274320"/>
          </a:xfrm>
          <a:prstGeom prst="rect">
            <a:avLst/>
          </a:prstGeom>
          <a:noFill/>
        </p:spPr>
        <p:txBody>
          <a:bodyPr wrap="square" anchor="t"/>
          <a:lstStyle/>
          <a:p>
            <a:pPr algn="l">
              <a:defRPr sz="1200" b="0" i="1">
                <a:solidFill>
                  <a:srgbClr val="78909C"/>
                </a:solidFill>
              </a:defRPr>
            </a:pPr>
            <a:r>
              <a:t>Deep dive: ENGINEERING-SPEC.md</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685800" y="365760"/>
            <a:ext cx="10820095" cy="640080"/>
          </a:xfrm>
          <a:prstGeom prst="rect">
            <a:avLst/>
          </a:prstGeom>
          <a:noFill/>
        </p:spPr>
        <p:txBody>
          <a:bodyPr wrap="square" anchor="t"/>
          <a:lstStyle/>
          <a:p>
            <a:pPr algn="l">
              <a:defRPr sz="2800" b="1" i="0">
                <a:solidFill>
                  <a:srgbClr val="FFFFFF"/>
                </a:solidFill>
              </a:defRPr>
            </a:pPr>
            <a:r>
              <a:t>Frontend &amp; Operator UX</a:t>
            </a:r>
          </a:p>
        </p:txBody>
      </p:sp>
      <p:sp>
        <p:nvSpPr>
          <p:cNvPr id="3" name="TextBox 2"/>
          <p:cNvSpPr txBox="1"/>
          <p:nvPr/>
        </p:nvSpPr>
        <p:spPr>
          <a:xfrm>
            <a:off x="685800" y="1005840"/>
            <a:ext cx="10820095" cy="457200"/>
          </a:xfrm>
          <a:prstGeom prst="rect">
            <a:avLst/>
          </a:prstGeom>
          <a:noFill/>
        </p:spPr>
        <p:txBody>
          <a:bodyPr wrap="square" anchor="t"/>
          <a:lstStyle/>
          <a:p>
            <a:pPr algn="l">
              <a:defRPr sz="2000" b="0" i="0">
                <a:solidFill>
                  <a:srgbClr val="B0BEC5"/>
                </a:solidFill>
              </a:defRPr>
            </a:pPr>
            <a:r>
              <a:t>Designed for 2AM, 12-hour shifts, fatigued supervisors, upset conditions</a:t>
            </a:r>
          </a:p>
        </p:txBody>
      </p:sp>
      <p:sp>
        <p:nvSpPr>
          <p:cNvPr id="4" name="TextBox 3"/>
          <p:cNvSpPr txBox="1"/>
          <p:nvPr/>
        </p:nvSpPr>
        <p:spPr>
          <a:xfrm>
            <a:off x="685800" y="1737360"/>
            <a:ext cx="10820095" cy="4389120"/>
          </a:xfrm>
          <a:prstGeom prst="rect">
            <a:avLst/>
          </a:prstGeom>
          <a:noFill/>
        </p:spPr>
        <p:txBody>
          <a:bodyPr wrap="square">
            <a:spAutoFit/>
          </a:bodyPr>
          <a:lstStyle/>
          <a:p>
            <a:pPr>
              <a:spcAft>
                <a:spcPts val="600"/>
              </a:spcAft>
              <a:defRPr sz="1800">
                <a:solidFill>
                  <a:srgbClr val="FFFFFF"/>
                </a:solidFill>
              </a:defRPr>
            </a:pPr>
            <a:r>
              <a:t>ISA-101 High Performance HMI: greyscale backgrounds, color for deviation only (green/amber/red)</a:t>
            </a:r>
          </a:p>
          <a:p>
            <a:pPr>
              <a:spcAft>
                <a:spcPts val="600"/>
              </a:spcAft>
              <a:defRPr sz="1800">
                <a:solidFill>
                  <a:srgbClr val="FFFFFF"/>
                </a:solidFill>
              </a:defRPr>
            </a:pPr>
            <a:r>
              <a:t>3-second rule: any screen conveys primary status without reading text</a:t>
            </a:r>
          </a:p>
          <a:p>
            <a:pPr>
              <a:spcAft>
                <a:spcPts val="600"/>
              </a:spcAft>
              <a:defRPr sz="1800">
                <a:solidFill>
                  <a:srgbClr val="FFFFFF"/>
                </a:solidFill>
              </a:defRPr>
            </a:pPr>
            <a:r>
              <a:t>5-tap constraint wizard: 64px+ touch targets, glove-compatible, 15-30 seconds</a:t>
            </a:r>
          </a:p>
          <a:p>
            <a:pPr>
              <a:spcAft>
                <a:spcPts val="600"/>
              </a:spcAft>
              <a:defRPr sz="1800">
                <a:solidFill>
                  <a:srgbClr val="FFFFFF"/>
                </a:solidFill>
              </a:defRPr>
            </a:pPr>
            <a:r>
              <a:t>Audience-separated dashboards: operators see 'value captured', management sees equipment-level financials</a:t>
            </a:r>
          </a:p>
          <a:p>
            <a:pPr>
              <a:spcAft>
                <a:spcPts val="600"/>
              </a:spcAft>
              <a:defRPr sz="1800">
                <a:solidFill>
                  <a:srgbClr val="FFFFFF"/>
                </a:solidFill>
              </a:defRPr>
            </a:pPr>
            <a:r>
              <a:t>Shadow mode UX for first 2-4 weeks: 'Note Agreement/Disagreement' not 'Acknowledge/Dismiss'</a:t>
            </a:r>
          </a:p>
          <a:p>
            <a:pPr>
              <a:spcAft>
                <a:spcPts val="600"/>
              </a:spcAft>
              <a:defRPr sz="1800">
                <a:solidFill>
                  <a:srgbClr val="FFFFFF"/>
                </a:solidFill>
              </a:defRPr>
            </a:pPr>
            <a:r>
              <a:t>SSE for real-time recommendations; HTTP polling for analytics — works through corporate proxies</a:t>
            </a:r>
          </a:p>
        </p:txBody>
      </p:sp>
      <p:sp>
        <p:nvSpPr>
          <p:cNvPr id="5" name="TextBox 4"/>
          <p:cNvSpPr txBox="1"/>
          <p:nvPr/>
        </p:nvSpPr>
        <p:spPr>
          <a:xfrm>
            <a:off x="11505895" y="6492240"/>
            <a:ext cx="457200" cy="274320"/>
          </a:xfrm>
          <a:prstGeom prst="rect">
            <a:avLst/>
          </a:prstGeom>
          <a:noFill/>
        </p:spPr>
        <p:txBody>
          <a:bodyPr wrap="square" anchor="t"/>
          <a:lstStyle/>
          <a:p>
            <a:pPr algn="r">
              <a:defRPr sz="1000" b="0" i="0">
                <a:solidFill>
                  <a:srgbClr val="B0BEC5"/>
                </a:solidFill>
              </a:defRPr>
            </a:pPr>
            <a:r>
              <a:t>31</a:t>
            </a:r>
          </a:p>
        </p:txBody>
      </p:sp>
      <p:sp>
        <p:nvSpPr>
          <p:cNvPr id="6" name="TextBox 5"/>
          <p:cNvSpPr txBox="1"/>
          <p:nvPr/>
        </p:nvSpPr>
        <p:spPr>
          <a:xfrm>
            <a:off x="685800" y="6400800"/>
            <a:ext cx="3657600" cy="274320"/>
          </a:xfrm>
          <a:prstGeom prst="rect">
            <a:avLst/>
          </a:prstGeom>
          <a:noFill/>
        </p:spPr>
        <p:txBody>
          <a:bodyPr wrap="square" anchor="t"/>
          <a:lstStyle/>
          <a:p>
            <a:pPr algn="l">
              <a:defRPr sz="1200" b="0" i="1">
                <a:solidFill>
                  <a:srgbClr val="78909C"/>
                </a:solidFill>
              </a:defRPr>
            </a:pPr>
            <a:r>
              <a:t>Deep dive: research/run2/frontend-ux-architecture.md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685800" y="365760"/>
            <a:ext cx="10820095" cy="640080"/>
          </a:xfrm>
          <a:prstGeom prst="rect">
            <a:avLst/>
          </a:prstGeom>
          <a:noFill/>
        </p:spPr>
        <p:txBody>
          <a:bodyPr wrap="square" anchor="t"/>
          <a:lstStyle/>
          <a:p>
            <a:pPr algn="l">
              <a:defRPr sz="2800" b="1" i="0">
                <a:solidFill>
                  <a:srgbClr val="FFFFFF"/>
                </a:solidFill>
              </a:defRPr>
            </a:pPr>
            <a:r>
              <a:t>Security Architecture: OT/IT Boundary</a:t>
            </a:r>
          </a:p>
        </p:txBody>
      </p:sp>
      <p:sp>
        <p:nvSpPr>
          <p:cNvPr id="3" name="TextBox 2"/>
          <p:cNvSpPr txBox="1"/>
          <p:nvPr/>
        </p:nvSpPr>
        <p:spPr>
          <a:xfrm>
            <a:off x="685800" y="1005840"/>
            <a:ext cx="10820095" cy="457200"/>
          </a:xfrm>
          <a:prstGeom prst="rect">
            <a:avLst/>
          </a:prstGeom>
          <a:noFill/>
        </p:spPr>
        <p:txBody>
          <a:bodyPr wrap="square" anchor="t"/>
          <a:lstStyle/>
          <a:p>
            <a:pPr algn="l">
              <a:defRPr sz="2000" b="0" i="0">
                <a:solidFill>
                  <a:srgbClr val="B0BEC5"/>
                </a:solidFill>
              </a:defRPr>
            </a:pPr>
            <a:r>
              <a:t>Read-only, outbound-only, never touch the control system</a:t>
            </a:r>
          </a:p>
        </p:txBody>
      </p:sp>
      <p:sp>
        <p:nvSpPr>
          <p:cNvPr id="4" name="TextBox 3"/>
          <p:cNvSpPr txBox="1"/>
          <p:nvPr/>
        </p:nvSpPr>
        <p:spPr>
          <a:xfrm>
            <a:off x="685800" y="1737360"/>
            <a:ext cx="10820095" cy="4389120"/>
          </a:xfrm>
          <a:prstGeom prst="rect">
            <a:avLst/>
          </a:prstGeom>
          <a:noFill/>
        </p:spPr>
        <p:txBody>
          <a:bodyPr wrap="square">
            <a:spAutoFit/>
          </a:bodyPr>
          <a:lstStyle/>
          <a:p>
            <a:pPr>
              <a:spcAft>
                <a:spcPts val="600"/>
              </a:spcAft>
              <a:defRPr sz="1800">
                <a:solidFill>
                  <a:srgbClr val="FFFFFF"/>
                </a:solidFill>
              </a:defRPr>
            </a:pPr>
            <a:r>
              <a:t>Edge Agent in DMZ (Purdue Level 3.5) — reads from PI Data Archive replica, never the primary</a:t>
            </a:r>
          </a:p>
          <a:p>
            <a:pPr>
              <a:spcAft>
                <a:spcPts val="600"/>
              </a:spcAft>
              <a:defRPr sz="1800">
                <a:solidFill>
                  <a:srgbClr val="FFFFFF"/>
                </a:solidFill>
              </a:defRPr>
            </a:pPr>
            <a:r>
              <a:t>All communication outbound HTTPS only — no inbound firewall rules, ever</a:t>
            </a:r>
          </a:p>
          <a:p>
            <a:pPr>
              <a:spcAft>
                <a:spcPts val="600"/>
              </a:spcAft>
              <a:defRPr sz="1800">
                <a:solidFill>
                  <a:srgbClr val="FFFFFF"/>
                </a:solidFill>
              </a:defRPr>
            </a:pPr>
            <a:r>
              <a:t>Read-only: Reflex never writes to any OT system</a:t>
            </a:r>
          </a:p>
          <a:p>
            <a:pPr>
              <a:spcAft>
                <a:spcPts val="600"/>
              </a:spcAft>
              <a:defRPr sz="1800">
                <a:solidFill>
                  <a:srgbClr val="FFFFFF"/>
                </a:solidFill>
              </a:defRPr>
            </a:pPr>
            <a:r>
              <a:t>Data diode compatible (physically one-way communication)</a:t>
            </a:r>
          </a:p>
          <a:p>
            <a:pPr>
              <a:spcAft>
                <a:spcPts val="600"/>
              </a:spcAft>
              <a:defRPr sz="1800">
                <a:solidFill>
                  <a:srgbClr val="FFFFFF"/>
                </a:solidFill>
              </a:defRPr>
            </a:pPr>
            <a:r>
              <a:t>Auth: API keys for edge agents, JWT for users, Entra ID for Teams bots</a:t>
            </a:r>
          </a:p>
          <a:p>
            <a:pPr>
              <a:spcAft>
                <a:spcPts val="600"/>
              </a:spcAft>
              <a:defRPr sz="1800">
                <a:solidFill>
                  <a:srgbClr val="FFFFFF"/>
                </a:solidFill>
              </a:defRPr>
            </a:pPr>
            <a:r>
              <a:t>Encryption: TDE at rest (PostgreSQL), TLS 1.2+ in transit, certificate pinning on edge</a:t>
            </a:r>
          </a:p>
        </p:txBody>
      </p:sp>
      <p:sp>
        <p:nvSpPr>
          <p:cNvPr id="5" name="TextBox 4"/>
          <p:cNvSpPr txBox="1"/>
          <p:nvPr/>
        </p:nvSpPr>
        <p:spPr>
          <a:xfrm>
            <a:off x="11505895" y="6492240"/>
            <a:ext cx="457200" cy="274320"/>
          </a:xfrm>
          <a:prstGeom prst="rect">
            <a:avLst/>
          </a:prstGeom>
          <a:noFill/>
        </p:spPr>
        <p:txBody>
          <a:bodyPr wrap="square" anchor="t"/>
          <a:lstStyle/>
          <a:p>
            <a:pPr algn="r">
              <a:defRPr sz="1000" b="0" i="0">
                <a:solidFill>
                  <a:srgbClr val="B0BEC5"/>
                </a:solidFill>
              </a:defRPr>
            </a:pPr>
            <a:r>
              <a:t>32</a:t>
            </a:r>
          </a:p>
        </p:txBody>
      </p:sp>
      <p:sp>
        <p:nvSpPr>
          <p:cNvPr id="6" name="TextBox 5"/>
          <p:cNvSpPr txBox="1"/>
          <p:nvPr/>
        </p:nvSpPr>
        <p:spPr>
          <a:xfrm>
            <a:off x="685800" y="6400800"/>
            <a:ext cx="3657600" cy="274320"/>
          </a:xfrm>
          <a:prstGeom prst="rect">
            <a:avLst/>
          </a:prstGeom>
          <a:noFill/>
        </p:spPr>
        <p:txBody>
          <a:bodyPr wrap="square" anchor="t"/>
          <a:lstStyle/>
          <a:p>
            <a:pPr algn="l">
              <a:defRPr sz="1200" b="0" i="1">
                <a:solidFill>
                  <a:srgbClr val="78909C"/>
                </a:solidFill>
              </a:defRPr>
            </a:pPr>
            <a:r>
              <a:t>Deep dive: ENGINEERING-SPEC.md</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685800" y="365760"/>
            <a:ext cx="10820095" cy="640080"/>
          </a:xfrm>
          <a:prstGeom prst="rect">
            <a:avLst/>
          </a:prstGeom>
          <a:noFill/>
        </p:spPr>
        <p:txBody>
          <a:bodyPr wrap="square" anchor="t"/>
          <a:lstStyle/>
          <a:p>
            <a:pPr algn="l">
              <a:defRPr sz="2800" b="1" i="0">
                <a:solidFill>
                  <a:srgbClr val="FFFFFF"/>
                </a:solidFill>
              </a:defRPr>
            </a:pPr>
            <a:r>
              <a:t>Risk Mitigations Built Into Architecture</a:t>
            </a:r>
          </a:p>
        </p:txBody>
      </p:sp>
      <p:sp>
        <p:nvSpPr>
          <p:cNvPr id="3" name="TextBox 2"/>
          <p:cNvSpPr txBox="1"/>
          <p:nvPr/>
        </p:nvSpPr>
        <p:spPr>
          <a:xfrm>
            <a:off x="685800" y="1005840"/>
            <a:ext cx="10820095" cy="457200"/>
          </a:xfrm>
          <a:prstGeom prst="rect">
            <a:avLst/>
          </a:prstGeom>
          <a:noFill/>
        </p:spPr>
        <p:txBody>
          <a:bodyPr wrap="square" anchor="t"/>
          <a:lstStyle/>
          <a:p>
            <a:pPr algn="l">
              <a:defRPr sz="2000" b="0" i="0">
                <a:solidFill>
                  <a:srgbClr val="B0BEC5"/>
                </a:solidFill>
              </a:defRPr>
            </a:pPr>
            <a:r>
              <a:t>Top risks mapped to specific architectural decisions</a:t>
            </a:r>
          </a:p>
        </p:txBody>
      </p:sp>
      <p:graphicFrame>
        <p:nvGraphicFramePr>
          <p:cNvPr id="4" name="Table 3"/>
          <p:cNvGraphicFramePr>
            <a:graphicFrameLocks noGrp="1"/>
          </p:cNvGraphicFramePr>
          <p:nvPr/>
        </p:nvGraphicFramePr>
        <p:xfrm>
          <a:off x="685800" y="1737360"/>
          <a:ext cx="10820095" cy="4023360"/>
        </p:xfrm>
        <a:graphic>
          <a:graphicData uri="http://schemas.openxmlformats.org/drawingml/2006/table">
            <a:tbl>
              <a:tblPr firstRow="1" bandRow="1">
                <a:tableStyleId>{5C22544A-7EE6-4342-B048-85BDC9FD1C3A}</a:tableStyleId>
              </a:tblPr>
              <a:tblGrid>
                <a:gridCol w="3606698"/>
                <a:gridCol w="3606698"/>
                <a:gridCol w="3606699"/>
              </a:tblGrid>
              <a:tr h="502920">
                <a:tc>
                  <a:txBody>
                    <a:bodyPr/>
                    <a:lstStyle/>
                    <a:p>
                      <a:pPr>
                        <a:defRPr sz="1400" b="1">
                          <a:solidFill>
                            <a:srgbClr val="D4A843"/>
                          </a:solidFill>
                        </a:defRPr>
                      </a:pPr>
                      <a:r>
                        <a:t>Risk</a:t>
                      </a:r>
                    </a:p>
                  </a:txBody>
                  <a:tcPr>
                    <a:solidFill>
                      <a:srgbClr val="15223A"/>
                    </a:solidFill>
                  </a:tcPr>
                </a:tc>
                <a:tc>
                  <a:txBody>
                    <a:bodyPr/>
                    <a:lstStyle/>
                    <a:p>
                      <a:pPr>
                        <a:defRPr sz="1400" b="1">
                          <a:solidFill>
                            <a:srgbClr val="D4A843"/>
                          </a:solidFill>
                        </a:defRPr>
                      </a:pPr>
                      <a:r>
                        <a:t>Score</a:t>
                      </a:r>
                    </a:p>
                  </a:txBody>
                  <a:tcPr>
                    <a:solidFill>
                      <a:srgbClr val="15223A"/>
                    </a:solidFill>
                  </a:tcPr>
                </a:tc>
                <a:tc>
                  <a:txBody>
                    <a:bodyPr/>
                    <a:lstStyle/>
                    <a:p>
                      <a:pPr>
                        <a:defRPr sz="1400" b="1">
                          <a:solidFill>
                            <a:srgbClr val="D4A843"/>
                          </a:solidFill>
                        </a:defRPr>
                      </a:pPr>
                      <a:r>
                        <a:t>Architectural Mitigation</a:t>
                      </a:r>
                    </a:p>
                  </a:txBody>
                  <a:tcPr>
                    <a:solidFill>
                      <a:srgbClr val="15223A"/>
                    </a:solidFill>
                  </a:tcPr>
                </a:tc>
              </a:tr>
              <a:tr h="502920">
                <a:tc>
                  <a:txBody>
                    <a:bodyPr/>
                    <a:lstStyle/>
                    <a:p>
                      <a:pPr>
                        <a:defRPr sz="1200">
                          <a:solidFill>
                            <a:srgbClr val="FFFFFF"/>
                          </a:solidFill>
                        </a:defRPr>
                      </a:pPr>
                      <a:r>
                        <a:t>R1: Excel COM unsupported</a:t>
                      </a:r>
                    </a:p>
                  </a:txBody>
                  <a:tcPr>
                    <a:solidFill>
                      <a:srgbClr val="1B2A4A"/>
                    </a:solidFill>
                  </a:tcPr>
                </a:tc>
                <a:tc>
                  <a:txBody>
                    <a:bodyPr/>
                    <a:lstStyle/>
                    <a:p>
                      <a:pPr>
                        <a:defRPr sz="1200">
                          <a:solidFill>
                            <a:srgbClr val="FFFFFF"/>
                          </a:solidFill>
                        </a:defRPr>
                      </a:pPr>
                      <a:r>
                        <a:t>125</a:t>
                      </a:r>
                    </a:p>
                  </a:txBody>
                  <a:tcPr>
                    <a:solidFill>
                      <a:srgbClr val="1B2A4A"/>
                    </a:solidFill>
                  </a:tcPr>
                </a:tc>
                <a:tc>
                  <a:txBody>
                    <a:bodyPr/>
                    <a:lstStyle/>
                    <a:p>
                      <a:pPr>
                        <a:defRPr sz="1200">
                          <a:solidFill>
                            <a:srgbClr val="FFFFFF"/>
                          </a:solidFill>
                        </a:defRPr>
                      </a:pPr>
                      <a:r>
                        <a:t>safexl/pywin32 with watchdog, 5-min timeout, zombie cleanup. Separate Windows VM via Celery. Migration path to PuLP + HiGHS.</a:t>
                      </a:r>
                    </a:p>
                  </a:txBody>
                  <a:tcPr>
                    <a:solidFill>
                      <a:srgbClr val="1B2A4A"/>
                    </a:solidFill>
                  </a:tcPr>
                </a:tc>
              </a:tr>
              <a:tr h="502920">
                <a:tc>
                  <a:txBody>
                    <a:bodyPr/>
                    <a:lstStyle/>
                    <a:p>
                      <a:pPr>
                        <a:defRPr sz="1200">
                          <a:solidFill>
                            <a:srgbClr val="FFFFFF"/>
                          </a:solidFill>
                        </a:defRPr>
                      </a:pPr>
                      <a:r>
                        <a:t>R2: Delivery channel fails</a:t>
                      </a:r>
                    </a:p>
                  </a:txBody>
                  <a:tcPr>
                    <a:solidFill>
                      <a:srgbClr val="223656"/>
                    </a:solidFill>
                  </a:tcPr>
                </a:tc>
                <a:tc>
                  <a:txBody>
                    <a:bodyPr/>
                    <a:lstStyle/>
                    <a:p>
                      <a:pPr>
                        <a:defRPr sz="1200">
                          <a:solidFill>
                            <a:srgbClr val="FFFFFF"/>
                          </a:solidFill>
                        </a:defRPr>
                      </a:pPr>
                      <a:r>
                        <a:t>125</a:t>
                      </a:r>
                    </a:p>
                  </a:txBody>
                  <a:tcPr>
                    <a:solidFill>
                      <a:srgbClr val="223656"/>
                    </a:solidFill>
                  </a:tcPr>
                </a:tc>
                <a:tc>
                  <a:txBody>
                    <a:bodyPr/>
                    <a:lstStyle/>
                    <a:p>
                      <a:pPr>
                        <a:defRPr sz="1200">
                          <a:solidFill>
                            <a:srgbClr val="FFFFFF"/>
                          </a:solidFill>
                        </a:defRPr>
                      </a:pPr>
                      <a:r>
                        <a:t>Redefined user to desk-based supervisor. 5-tap structured input. Three channels: Teams, Slack, email fallback.</a:t>
                      </a:r>
                    </a:p>
                  </a:txBody>
                  <a:tcPr>
                    <a:solidFill>
                      <a:srgbClr val="223656"/>
                    </a:solidFill>
                  </a:tcPr>
                </a:tc>
              </a:tr>
              <a:tr h="502920">
                <a:tc>
                  <a:txBody>
                    <a:bodyPr/>
                    <a:lstStyle/>
                    <a:p>
                      <a:pPr>
                        <a:defRPr sz="1200">
                          <a:solidFill>
                            <a:srgbClr val="FFFFFF"/>
                          </a:solidFill>
                        </a:defRPr>
                      </a:pPr>
                      <a:r>
                        <a:t>R4: Team credibility gap</a:t>
                      </a:r>
                    </a:p>
                  </a:txBody>
                  <a:tcPr>
                    <a:solidFill>
                      <a:srgbClr val="1B2A4A"/>
                    </a:solidFill>
                  </a:tcPr>
                </a:tc>
                <a:tc>
                  <a:txBody>
                    <a:bodyPr/>
                    <a:lstStyle/>
                    <a:p>
                      <a:pPr>
                        <a:defRPr sz="1200">
                          <a:solidFill>
                            <a:srgbClr val="FFFFFF"/>
                          </a:solidFill>
                        </a:defRPr>
                      </a:pPr>
                      <a:r>
                        <a:t>100</a:t>
                      </a:r>
                    </a:p>
                  </a:txBody>
                  <a:tcPr>
                    <a:solidFill>
                      <a:srgbClr val="1B2A4A"/>
                    </a:solidFill>
                  </a:tcPr>
                </a:tc>
                <a:tc>
                  <a:txBody>
                    <a:bodyPr/>
                    <a:lstStyle/>
                    <a:p>
                      <a:pPr>
                        <a:defRPr sz="1200">
                          <a:solidFill>
                            <a:srgbClr val="FFFFFF"/>
                          </a:solidFill>
                        </a:defRPr>
                      </a:pPr>
                      <a:r>
                        <a:t>Non-negotiable: recruit industry veteran. Advisor-led sales. Advisory board with former refinery managers.</a:t>
                      </a:r>
                    </a:p>
                  </a:txBody>
                  <a:tcPr>
                    <a:solidFill>
                      <a:srgbClr val="1B2A4A"/>
                    </a:solidFill>
                  </a:tcPr>
                </a:tc>
              </a:tr>
              <a:tr h="502920">
                <a:tc>
                  <a:txBody>
                    <a:bodyPr/>
                    <a:lstStyle/>
                    <a:p>
                      <a:pPr>
                        <a:defRPr sz="1200">
                          <a:solidFill>
                            <a:srgbClr val="FFFFFF"/>
                          </a:solidFill>
                        </a:defRPr>
                      </a:pPr>
                      <a:r>
                        <a:t>R5: LLM hallucination</a:t>
                      </a:r>
                    </a:p>
                  </a:txBody>
                  <a:tcPr>
                    <a:solidFill>
                      <a:srgbClr val="223656"/>
                    </a:solidFill>
                  </a:tcPr>
                </a:tc>
                <a:tc>
                  <a:txBody>
                    <a:bodyPr/>
                    <a:lstStyle/>
                    <a:p>
                      <a:pPr>
                        <a:defRPr sz="1200">
                          <a:solidFill>
                            <a:srgbClr val="FFFFFF"/>
                          </a:solidFill>
                        </a:defRPr>
                      </a:pPr>
                      <a:r>
                        <a:t>80</a:t>
                      </a:r>
                    </a:p>
                  </a:txBody>
                  <a:tcPr>
                    <a:solidFill>
                      <a:srgbClr val="223656"/>
                    </a:solidFill>
                  </a:tcPr>
                </a:tc>
                <a:tc>
                  <a:txBody>
                    <a:bodyPr/>
                    <a:lstStyle/>
                    <a:p>
                      <a:pPr>
                        <a:defRPr sz="1200">
                          <a:solidFill>
                            <a:srgbClr val="FFFFFF"/>
                          </a:solidFill>
                        </a:defRPr>
                      </a:pPr>
                      <a:r>
                        <a:t>Numbers extracted by code, not AI. Cross-validation on every output. Deterministic template fallback.</a:t>
                      </a:r>
                    </a:p>
                  </a:txBody>
                  <a:tcPr>
                    <a:solidFill>
                      <a:srgbClr val="223656"/>
                    </a:solidFill>
                  </a:tcPr>
                </a:tc>
              </a:tr>
              <a:tr h="502920">
                <a:tc>
                  <a:txBody>
                    <a:bodyPr/>
                    <a:lstStyle/>
                    <a:p>
                      <a:pPr>
                        <a:defRPr sz="1200">
                          <a:solidFill>
                            <a:srgbClr val="FFFFFF"/>
                          </a:solidFill>
                        </a:defRPr>
                      </a:pPr>
                      <a:r>
                        <a:t>R6: OT network security</a:t>
                      </a:r>
                    </a:p>
                  </a:txBody>
                  <a:tcPr>
                    <a:solidFill>
                      <a:srgbClr val="1B2A4A"/>
                    </a:solidFill>
                  </a:tcPr>
                </a:tc>
                <a:tc>
                  <a:txBody>
                    <a:bodyPr/>
                    <a:lstStyle/>
                    <a:p>
                      <a:pPr>
                        <a:defRPr sz="1200">
                          <a:solidFill>
                            <a:srgbClr val="FFFFFF"/>
                          </a:solidFill>
                        </a:defRPr>
                      </a:pPr>
                      <a:r>
                        <a:t>80</a:t>
                      </a:r>
                    </a:p>
                  </a:txBody>
                  <a:tcPr>
                    <a:solidFill>
                      <a:srgbClr val="1B2A4A"/>
                    </a:solidFill>
                  </a:tcPr>
                </a:tc>
                <a:tc>
                  <a:txBody>
                    <a:bodyPr/>
                    <a:lstStyle/>
                    <a:p>
                      <a:pPr>
                        <a:defRPr sz="1200">
                          <a:solidFill>
                            <a:srgbClr val="FFFFFF"/>
                          </a:solidFill>
                        </a:defRPr>
                      </a:pPr>
                      <a:r>
                        <a:t>Edge in DMZ, outbound-only HTTPS, read-only access, Defender for IoT, data diode compatible.</a:t>
                      </a:r>
                    </a:p>
                  </a:txBody>
                  <a:tcPr>
                    <a:solidFill>
                      <a:srgbClr val="1B2A4A"/>
                    </a:solidFill>
                  </a:tcPr>
                </a:tc>
              </a:tr>
              <a:tr h="502920">
                <a:tc>
                  <a:txBody>
                    <a:bodyPr/>
                    <a:lstStyle/>
                    <a:p>
                      <a:pPr>
                        <a:defRPr sz="1200">
                          <a:solidFill>
                            <a:srgbClr val="FFFFFF"/>
                          </a:solidFill>
                        </a:defRPr>
                      </a:pPr>
                      <a:r>
                        <a:t>R8: Dashboard blame / union</a:t>
                      </a:r>
                    </a:p>
                  </a:txBody>
                  <a:tcPr>
                    <a:solidFill>
                      <a:srgbClr val="223656"/>
                    </a:solidFill>
                  </a:tcPr>
                </a:tc>
                <a:tc>
                  <a:txBody>
                    <a:bodyPr/>
                    <a:lstStyle/>
                    <a:p>
                      <a:pPr>
                        <a:defRPr sz="1200">
                          <a:solidFill>
                            <a:srgbClr val="FFFFFF"/>
                          </a:solidFill>
                        </a:defRPr>
                      </a:pPr>
                      <a:r>
                        <a:t>64</a:t>
                      </a:r>
                    </a:p>
                  </a:txBody>
                  <a:tcPr>
                    <a:solidFill>
                      <a:srgbClr val="223656"/>
                    </a:solidFill>
                  </a:tcPr>
                </a:tc>
                <a:tc>
                  <a:txBody>
                    <a:bodyPr/>
                    <a:lstStyle/>
                    <a:p>
                      <a:pPr>
                        <a:defRPr sz="1200">
                          <a:solidFill>
                            <a:srgbClr val="FFFFFF"/>
                          </a:solidFill>
                        </a:defRPr>
                      </a:pPr>
                      <a:r>
                        <a:t>Overrides by equipment NEVER by operator. Gain framing. API prevents operator-level data for management role.</a:t>
                      </a:r>
                    </a:p>
                  </a:txBody>
                  <a:tcPr>
                    <a:solidFill>
                      <a:srgbClr val="223656"/>
                    </a:solidFill>
                  </a:tcPr>
                </a:tc>
              </a:tr>
              <a:tr h="502920">
                <a:tc>
                  <a:txBody>
                    <a:bodyPr/>
                    <a:lstStyle/>
                    <a:p>
                      <a:pPr>
                        <a:defRPr sz="1200">
                          <a:solidFill>
                            <a:srgbClr val="FFFFFF"/>
                          </a:solidFill>
                        </a:defRPr>
                      </a:pPr>
                      <a:r>
                        <a:t>R9: Alert fatigue</a:t>
                      </a:r>
                    </a:p>
                  </a:txBody>
                  <a:tcPr>
                    <a:solidFill>
                      <a:srgbClr val="1B2A4A"/>
                    </a:solidFill>
                  </a:tcPr>
                </a:tc>
                <a:tc>
                  <a:txBody>
                    <a:bodyPr/>
                    <a:lstStyle/>
                    <a:p>
                      <a:pPr>
                        <a:defRPr sz="1200">
                          <a:solidFill>
                            <a:srgbClr val="FFFFFF"/>
                          </a:solidFill>
                        </a:defRPr>
                      </a:pPr>
                      <a:r>
                        <a:t>64</a:t>
                      </a:r>
                    </a:p>
                  </a:txBody>
                  <a:tcPr>
                    <a:solidFill>
                      <a:srgbClr val="1B2A4A"/>
                    </a:solidFill>
                  </a:tcPr>
                </a:tc>
                <a:tc>
                  <a:txBody>
                    <a:bodyPr/>
                    <a:lstStyle/>
                    <a:p>
                      <a:pPr>
                        <a:defRPr sz="1200">
                          <a:solidFill>
                            <a:srgbClr val="FFFFFF"/>
                          </a:solidFill>
                        </a:defRPr>
                      </a:pPr>
                      <a:r>
                        <a:t>6-mode operating state machine. Suppression during non-Normal. Percentage thresholds. Max 3 triggers per 12-hr shift.</a:t>
                      </a:r>
                    </a:p>
                  </a:txBody>
                  <a:tcPr>
                    <a:solidFill>
                      <a:srgbClr val="1B2A4A"/>
                    </a:solidFill>
                  </a:tcPr>
                </a:tc>
              </a:tr>
            </a:tbl>
          </a:graphicData>
        </a:graphic>
      </p:graphicFrame>
      <p:sp>
        <p:nvSpPr>
          <p:cNvPr id="5" name="TextBox 4"/>
          <p:cNvSpPr txBox="1"/>
          <p:nvPr/>
        </p:nvSpPr>
        <p:spPr>
          <a:xfrm>
            <a:off x="11505895" y="6492240"/>
            <a:ext cx="457200" cy="274320"/>
          </a:xfrm>
          <a:prstGeom prst="rect">
            <a:avLst/>
          </a:prstGeom>
          <a:noFill/>
        </p:spPr>
        <p:txBody>
          <a:bodyPr wrap="square" anchor="t"/>
          <a:lstStyle/>
          <a:p>
            <a:pPr algn="r">
              <a:defRPr sz="1000" b="0" i="0">
                <a:solidFill>
                  <a:srgbClr val="B0BEC5"/>
                </a:solidFill>
              </a:defRPr>
            </a:pPr>
            <a:r>
              <a:t>33</a:t>
            </a:r>
          </a:p>
        </p:txBody>
      </p:sp>
      <p:sp>
        <p:nvSpPr>
          <p:cNvPr id="6" name="TextBox 5"/>
          <p:cNvSpPr txBox="1"/>
          <p:nvPr/>
        </p:nvSpPr>
        <p:spPr>
          <a:xfrm>
            <a:off x="685800" y="6400800"/>
            <a:ext cx="3657600" cy="274320"/>
          </a:xfrm>
          <a:prstGeom prst="rect">
            <a:avLst/>
          </a:prstGeom>
          <a:noFill/>
        </p:spPr>
        <p:txBody>
          <a:bodyPr wrap="square" anchor="t"/>
          <a:lstStyle/>
          <a:p>
            <a:pPr algn="l">
              <a:defRPr sz="1200" b="0" i="1">
                <a:solidFill>
                  <a:srgbClr val="78909C"/>
                </a:solidFill>
              </a:defRPr>
            </a:pPr>
            <a:r>
              <a:t>Deep dive: ENGINEERING-SPEC.md</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685800" y="365760"/>
            <a:ext cx="10820095" cy="640080"/>
          </a:xfrm>
          <a:prstGeom prst="rect">
            <a:avLst/>
          </a:prstGeom>
          <a:noFill/>
        </p:spPr>
        <p:txBody>
          <a:bodyPr wrap="square" anchor="t"/>
          <a:lstStyle/>
          <a:p>
            <a:pPr algn="l">
              <a:defRPr sz="2800" b="1" i="0">
                <a:solidFill>
                  <a:srgbClr val="FFFFFF"/>
                </a:solidFill>
              </a:defRPr>
            </a:pPr>
            <a:r>
              <a:t>Cost Projections: Infrastructure</a:t>
            </a:r>
          </a:p>
        </p:txBody>
      </p:sp>
      <p:sp>
        <p:nvSpPr>
          <p:cNvPr id="3" name="TextBox 2"/>
          <p:cNvSpPr txBox="1"/>
          <p:nvPr/>
        </p:nvSpPr>
        <p:spPr>
          <a:xfrm>
            <a:off x="685800" y="1005840"/>
            <a:ext cx="10820095" cy="457200"/>
          </a:xfrm>
          <a:prstGeom prst="rect">
            <a:avLst/>
          </a:prstGeom>
          <a:noFill/>
        </p:spPr>
        <p:txBody>
          <a:bodyPr wrap="square" anchor="t"/>
          <a:lstStyle/>
          <a:p>
            <a:pPr algn="l">
              <a:defRPr sz="2000" b="0" i="0">
                <a:solidFill>
                  <a:srgbClr val="B0BEC5"/>
                </a:solidFill>
              </a:defRPr>
            </a:pPr>
            <a:r>
              <a:t>Year 1 costs covered by student credits</a:t>
            </a:r>
          </a:p>
        </p:txBody>
      </p:sp>
      <p:sp>
        <p:nvSpPr>
          <p:cNvPr id="4" name="TextBox 3"/>
          <p:cNvSpPr txBox="1"/>
          <p:nvPr/>
        </p:nvSpPr>
        <p:spPr>
          <a:xfrm>
            <a:off x="685800" y="1737360"/>
            <a:ext cx="10820095" cy="4389120"/>
          </a:xfrm>
          <a:prstGeom prst="rect">
            <a:avLst/>
          </a:prstGeom>
          <a:noFill/>
        </p:spPr>
        <p:txBody>
          <a:bodyPr wrap="square">
            <a:spAutoFit/>
          </a:bodyPr>
          <a:lstStyle/>
          <a:p>
            <a:pPr>
              <a:spcAft>
                <a:spcPts val="600"/>
              </a:spcAft>
              <a:defRPr sz="1800">
                <a:solidFill>
                  <a:srgbClr val="FFFFFF"/>
                </a:solidFill>
              </a:defRPr>
            </a:pPr>
            <a:r>
              <a:t>Year 1 (1 pilot site, ~100 tags): $8-75/month ($100-900/year)</a:t>
            </a:r>
          </a:p>
          <a:p>
            <a:pPr>
              <a:spcAft>
                <a:spcPts val="600"/>
              </a:spcAft>
              <a:defRPr sz="1800">
                <a:solidFill>
                  <a:srgbClr val="FFFFFF"/>
                </a:solidFill>
              </a:defRPr>
            </a:pPr>
            <a:r>
              <a:t>Azure Container Apps, Functions, Bot Service, Key Vault: all $0 (free tiers)</a:t>
            </a:r>
          </a:p>
          <a:p>
            <a:pPr>
              <a:spcAft>
                <a:spcPts val="600"/>
              </a:spcAft>
              <a:defRPr sz="1800">
                <a:solidFill>
                  <a:srgbClr val="FFFFFF"/>
                </a:solidFill>
              </a:defRPr>
            </a:pPr>
            <a:r>
              <a:t>PostgreSQL + TimescaleDB: $0 (12 months free with student credits)</a:t>
            </a:r>
          </a:p>
          <a:p>
            <a:pPr>
              <a:spcAft>
                <a:spcPts val="600"/>
              </a:spcAft>
              <a:defRPr sz="1800">
                <a:solidFill>
                  <a:srgbClr val="FFFFFF"/>
                </a:solidFill>
              </a:defRPr>
            </a:pPr>
            <a:r>
              <a:t>Claude API: $7-18/month (blended Haiku + Sonnet)</a:t>
            </a:r>
          </a:p>
          <a:p>
            <a:pPr>
              <a:spcAft>
                <a:spcPts val="600"/>
              </a:spcAft>
              <a:defRPr sz="1800">
                <a:solidFill>
                  <a:srgbClr val="FFFFFF"/>
                </a:solidFill>
              </a:defRPr>
            </a:pPr>
            <a:r>
              <a:t>Covered by: Azure for Students ($100/yr) + Microsoft for Startups (up to $150K)</a:t>
            </a:r>
          </a:p>
          <a:p>
            <a:pPr>
              <a:spcAft>
                <a:spcPts val="600"/>
              </a:spcAft>
              <a:defRPr sz="1800">
                <a:solidFill>
                  <a:srgbClr val="FFFFFF"/>
                </a:solidFill>
              </a:defRPr>
            </a:pPr>
          </a:p>
        </p:txBody>
      </p:sp>
      <p:sp>
        <p:nvSpPr>
          <p:cNvPr id="5" name="TextBox 4"/>
          <p:cNvSpPr txBox="1"/>
          <p:nvPr/>
        </p:nvSpPr>
        <p:spPr>
          <a:xfrm>
            <a:off x="11505895" y="6492240"/>
            <a:ext cx="457200" cy="274320"/>
          </a:xfrm>
          <a:prstGeom prst="rect">
            <a:avLst/>
          </a:prstGeom>
          <a:noFill/>
        </p:spPr>
        <p:txBody>
          <a:bodyPr wrap="square" anchor="t"/>
          <a:lstStyle/>
          <a:p>
            <a:pPr algn="r">
              <a:defRPr sz="1000" b="0" i="0">
                <a:solidFill>
                  <a:srgbClr val="B0BEC5"/>
                </a:solidFill>
              </a:defRPr>
            </a:pPr>
            <a:r>
              <a:t>34</a:t>
            </a:r>
          </a:p>
        </p:txBody>
      </p:sp>
      <p:sp>
        <p:nvSpPr>
          <p:cNvPr id="6" name="TextBox 5"/>
          <p:cNvSpPr txBox="1"/>
          <p:nvPr/>
        </p:nvSpPr>
        <p:spPr>
          <a:xfrm>
            <a:off x="685800" y="6400800"/>
            <a:ext cx="3657600" cy="274320"/>
          </a:xfrm>
          <a:prstGeom prst="rect">
            <a:avLst/>
          </a:prstGeom>
          <a:noFill/>
        </p:spPr>
        <p:txBody>
          <a:bodyPr wrap="square" anchor="t"/>
          <a:lstStyle/>
          <a:p>
            <a:pPr algn="l">
              <a:defRPr sz="1200" b="0" i="1">
                <a:solidFill>
                  <a:srgbClr val="78909C"/>
                </a:solidFill>
              </a:defRPr>
            </a:pPr>
            <a:r>
              <a:t>Deep dive: research/run2/cloud-platform-recommendation.md</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685800" y="365760"/>
            <a:ext cx="10820095" cy="640080"/>
          </a:xfrm>
          <a:prstGeom prst="rect">
            <a:avLst/>
          </a:prstGeom>
          <a:noFill/>
        </p:spPr>
        <p:txBody>
          <a:bodyPr wrap="square" anchor="t"/>
          <a:lstStyle/>
          <a:p>
            <a:pPr algn="l">
              <a:defRPr sz="2800" b="1" i="0">
                <a:solidFill>
                  <a:srgbClr val="FFFFFF"/>
                </a:solidFill>
              </a:defRPr>
            </a:pPr>
            <a:r>
              <a:t>Full Specification Reference</a:t>
            </a:r>
          </a:p>
        </p:txBody>
      </p:sp>
      <p:sp>
        <p:nvSpPr>
          <p:cNvPr id="3" name="TextBox 2"/>
          <p:cNvSpPr txBox="1"/>
          <p:nvPr/>
        </p:nvSpPr>
        <p:spPr>
          <a:xfrm>
            <a:off x="685800" y="1005840"/>
            <a:ext cx="10820095" cy="457200"/>
          </a:xfrm>
          <a:prstGeom prst="rect">
            <a:avLst/>
          </a:prstGeom>
          <a:noFill/>
        </p:spPr>
        <p:txBody>
          <a:bodyPr wrap="square" anchor="t"/>
          <a:lstStyle/>
          <a:p>
            <a:pPr algn="l">
              <a:defRPr sz="2000" b="0" i="0">
                <a:solidFill>
                  <a:srgbClr val="B0BEC5"/>
                </a:solidFill>
              </a:defRPr>
            </a:pPr>
            <a:r>
              <a:t>Everything documented, everything traceable</a:t>
            </a:r>
          </a:p>
        </p:txBody>
      </p:sp>
      <p:sp>
        <p:nvSpPr>
          <p:cNvPr id="4" name="TextBox 3"/>
          <p:cNvSpPr txBox="1"/>
          <p:nvPr/>
        </p:nvSpPr>
        <p:spPr>
          <a:xfrm>
            <a:off x="685800" y="1737360"/>
            <a:ext cx="10820095" cy="4389120"/>
          </a:xfrm>
          <a:prstGeom prst="rect">
            <a:avLst/>
          </a:prstGeom>
          <a:noFill/>
        </p:spPr>
        <p:txBody>
          <a:bodyPr wrap="square">
            <a:spAutoFit/>
          </a:bodyPr>
          <a:lstStyle/>
          <a:p>
            <a:pPr>
              <a:spcAft>
                <a:spcPts val="600"/>
              </a:spcAft>
              <a:defRPr sz="1800">
                <a:solidFill>
                  <a:srgbClr val="FFFFFF"/>
                </a:solidFill>
              </a:defRPr>
            </a:pPr>
            <a:r>
              <a:t>ENGINEERING-SPEC.md — Complete engineering specification (synthesizes all research)</a:t>
            </a:r>
          </a:p>
          <a:p>
            <a:pPr>
              <a:spcAft>
                <a:spcPts val="600"/>
              </a:spcAft>
              <a:defRPr sz="1800">
                <a:solidFill>
                  <a:srgbClr val="FFFFFF"/>
                </a:solidFill>
              </a:defRPr>
            </a:pPr>
            <a:r>
              <a:t>research/run1/EXECUTIVE-SUMMARY.md — Risk analysis and feasibility assessment</a:t>
            </a:r>
          </a:p>
          <a:p>
            <a:pPr>
              <a:spcAft>
                <a:spcPts val="600"/>
              </a:spcAft>
              <a:defRPr sz="1800">
                <a:solidFill>
                  <a:srgbClr val="FFFFFF"/>
                </a:solidFill>
              </a:defRPr>
            </a:pPr>
            <a:r>
              <a:t>research/run2/cloud-platform-recommendation.md — Azure vs AWS detailed comparison</a:t>
            </a:r>
          </a:p>
          <a:p>
            <a:pPr>
              <a:spcAft>
                <a:spcPts val="600"/>
              </a:spcAft>
              <a:defRPr sz="1800">
                <a:solidFill>
                  <a:srgbClr val="FFFFFF"/>
                </a:solidFill>
              </a:defRPr>
            </a:pPr>
            <a:r>
              <a:t>research/run2/data-architecture.md — Database design, schemas, data flows</a:t>
            </a:r>
          </a:p>
          <a:p>
            <a:pPr>
              <a:spcAft>
                <a:spcPts val="600"/>
              </a:spcAft>
              <a:defRPr sz="1800">
                <a:solidFill>
                  <a:srgbClr val="FFFFFF"/>
                </a:solidFill>
              </a:defRPr>
            </a:pPr>
            <a:r>
              <a:t>research/run2/api-backend-architecture.md — Service boundaries, API contracts, module design</a:t>
            </a:r>
          </a:p>
          <a:p>
            <a:pPr>
              <a:spcAft>
                <a:spcPts val="600"/>
              </a:spcAft>
              <a:defRPr sz="1800">
                <a:solidFill>
                  <a:srgbClr val="FFFFFF"/>
                </a:solidFill>
              </a:defRPr>
            </a:pPr>
            <a:r>
              <a:t>research/run2/frontend-ux-architecture.md — Dashboard specs, ISA-101 compliance, component hierarchy</a:t>
            </a:r>
          </a:p>
        </p:txBody>
      </p:sp>
      <p:sp>
        <p:nvSpPr>
          <p:cNvPr id="5" name="TextBox 4"/>
          <p:cNvSpPr txBox="1"/>
          <p:nvPr/>
        </p:nvSpPr>
        <p:spPr>
          <a:xfrm>
            <a:off x="11505895" y="6492240"/>
            <a:ext cx="457200" cy="274320"/>
          </a:xfrm>
          <a:prstGeom prst="rect">
            <a:avLst/>
          </a:prstGeom>
          <a:noFill/>
        </p:spPr>
        <p:txBody>
          <a:bodyPr wrap="square" anchor="t"/>
          <a:lstStyle/>
          <a:p>
            <a:pPr algn="r">
              <a:defRPr sz="1000" b="0" i="0">
                <a:solidFill>
                  <a:srgbClr val="B0BEC5"/>
                </a:solidFill>
              </a:defRPr>
            </a:pPr>
            <a:r>
              <a:t>35</a:t>
            </a:r>
          </a:p>
        </p:txBody>
      </p:sp>
      <p:sp>
        <p:nvSpPr>
          <p:cNvPr id="6" name="TextBox 5"/>
          <p:cNvSpPr txBox="1"/>
          <p:nvPr/>
        </p:nvSpPr>
        <p:spPr>
          <a:xfrm>
            <a:off x="685800" y="6400800"/>
            <a:ext cx="3657600" cy="274320"/>
          </a:xfrm>
          <a:prstGeom prst="rect">
            <a:avLst/>
          </a:prstGeom>
          <a:noFill/>
        </p:spPr>
        <p:txBody>
          <a:bodyPr wrap="square" anchor="t"/>
          <a:lstStyle/>
          <a:p>
            <a:pPr algn="l">
              <a:defRPr sz="1200" b="0" i="1">
                <a:solidFill>
                  <a:srgbClr val="78909C"/>
                </a:solidFill>
              </a:defRPr>
            </a:pPr>
            <a:r>
              <a:t>Deep dive: ENGINEERING-SPEC.md</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243B5E"/>
        </a:solidFill>
        <a:effectLst/>
      </p:bgPr>
    </p:bg>
    <p:spTree>
      <p:nvGrpSpPr>
        <p:cNvPr id="1" name=""/>
        <p:cNvGrpSpPr/>
        <p:nvPr/>
      </p:nvGrpSpPr>
      <p:grpSpPr/>
      <p:sp>
        <p:nvSpPr>
          <p:cNvPr id="2" name="TextBox 1"/>
          <p:cNvSpPr txBox="1"/>
          <p:nvPr/>
        </p:nvSpPr>
        <p:spPr>
          <a:xfrm>
            <a:off x="914400" y="2286000"/>
            <a:ext cx="10362895" cy="914400"/>
          </a:xfrm>
          <a:prstGeom prst="rect">
            <a:avLst/>
          </a:prstGeom>
          <a:noFill/>
        </p:spPr>
        <p:txBody>
          <a:bodyPr wrap="square" anchor="ctr"/>
          <a:lstStyle/>
          <a:p>
            <a:pPr algn="ctr">
              <a:defRPr sz="3200" b="1" i="0">
                <a:solidFill>
                  <a:srgbClr val="D4A843"/>
                </a:solidFill>
              </a:defRPr>
            </a:pPr>
            <a:r>
              <a:t>Architecture Diagrams</a:t>
            </a:r>
          </a:p>
        </p:txBody>
      </p:sp>
      <p:sp>
        <p:nvSpPr>
          <p:cNvPr id="3" name="TextBox 2"/>
          <p:cNvSpPr txBox="1"/>
          <p:nvPr/>
        </p:nvSpPr>
        <p:spPr>
          <a:xfrm>
            <a:off x="914400" y="3383280"/>
            <a:ext cx="10362895" cy="548640"/>
          </a:xfrm>
          <a:prstGeom prst="rect">
            <a:avLst/>
          </a:prstGeom>
          <a:noFill/>
        </p:spPr>
        <p:txBody>
          <a:bodyPr wrap="square" anchor="t"/>
          <a:lstStyle/>
          <a:p>
            <a:pPr algn="ctr">
              <a:defRPr sz="2000" b="0" i="0">
                <a:solidFill>
                  <a:srgbClr val="B0BEC5"/>
                </a:solidFill>
              </a:defRPr>
            </a:pPr>
            <a:r>
              <a:t>How the pieces fit together</a:t>
            </a:r>
          </a:p>
        </p:txBody>
      </p:sp>
      <p:sp>
        <p:nvSpPr>
          <p:cNvPr id="4" name="TextBox 3"/>
          <p:cNvSpPr txBox="1"/>
          <p:nvPr/>
        </p:nvSpPr>
        <p:spPr>
          <a:xfrm>
            <a:off x="11505895" y="6492240"/>
            <a:ext cx="457200" cy="274320"/>
          </a:xfrm>
          <a:prstGeom prst="rect">
            <a:avLst/>
          </a:prstGeom>
          <a:noFill/>
        </p:spPr>
        <p:txBody>
          <a:bodyPr wrap="square" anchor="t"/>
          <a:lstStyle/>
          <a:p>
            <a:pPr algn="r">
              <a:defRPr sz="1000" b="0" i="0">
                <a:solidFill>
                  <a:srgbClr val="B0BEC5"/>
                </a:solidFill>
              </a:defRPr>
            </a:pPr>
            <a: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685800" y="365760"/>
            <a:ext cx="10820095" cy="640080"/>
          </a:xfrm>
          <a:prstGeom prst="rect">
            <a:avLst/>
          </a:prstGeom>
          <a:noFill/>
        </p:spPr>
        <p:txBody>
          <a:bodyPr wrap="square" anchor="t"/>
          <a:lstStyle/>
          <a:p>
            <a:pPr algn="l">
              <a:defRPr sz="2800" b="1" i="0">
                <a:solidFill>
                  <a:srgbClr val="FFFFFF"/>
                </a:solidFill>
              </a:defRPr>
            </a:pPr>
            <a:r>
              <a:t>System Context — Who Talks to Reflex</a:t>
            </a:r>
          </a:p>
        </p:txBody>
      </p:sp>
      <p:sp>
        <p:nvSpPr>
          <p:cNvPr id="3" name="TextBox 2"/>
          <p:cNvSpPr txBox="1"/>
          <p:nvPr/>
        </p:nvSpPr>
        <p:spPr>
          <a:xfrm>
            <a:off x="685800" y="1005840"/>
            <a:ext cx="10820095" cy="457200"/>
          </a:xfrm>
          <a:prstGeom prst="rect">
            <a:avLst/>
          </a:prstGeom>
          <a:noFill/>
        </p:spPr>
        <p:txBody>
          <a:bodyPr wrap="square" anchor="t"/>
          <a:lstStyle/>
          <a:p>
            <a:pPr algn="l">
              <a:defRPr sz="2000" b="0" i="0">
                <a:solidFill>
                  <a:srgbClr val="B0BEC5"/>
                </a:solidFill>
              </a:defRPr>
            </a:pPr>
            <a:r>
              <a:t>C4 Level 1</a:t>
            </a:r>
          </a:p>
        </p:txBody>
      </p:sp>
      <p:sp>
        <p:nvSpPr>
          <p:cNvPr id="4" name="TextBox 3"/>
          <p:cNvSpPr txBox="1"/>
          <p:nvPr/>
        </p:nvSpPr>
        <p:spPr>
          <a:xfrm>
            <a:off x="457200" y="1645920"/>
            <a:ext cx="1645920" cy="274320"/>
          </a:xfrm>
          <a:prstGeom prst="rect">
            <a:avLst/>
          </a:prstGeom>
          <a:noFill/>
        </p:spPr>
        <p:txBody>
          <a:bodyPr wrap="square" anchor="t"/>
          <a:lstStyle/>
          <a:p>
            <a:pPr algn="ctr">
              <a:defRPr sz="1000" b="0" i="0">
                <a:solidFill>
                  <a:srgbClr val="B0BEC5"/>
                </a:solidFill>
              </a:defRPr>
            </a:pPr>
            <a:r>
              <a:t>Data Sources</a:t>
            </a:r>
          </a:p>
        </p:txBody>
      </p:sp>
      <p:sp>
        <p:nvSpPr>
          <p:cNvPr id="5" name="Magnetic Disk 4"/>
          <p:cNvSpPr/>
          <p:nvPr/>
        </p:nvSpPr>
        <p:spPr>
          <a:xfrm>
            <a:off x="457200" y="2011680"/>
            <a:ext cx="1371600" cy="731520"/>
          </a:xfrm>
          <a:prstGeom prst="flowChartMagneticDisk">
            <a:avLst/>
          </a:prstGeom>
          <a:solidFill>
            <a:srgbClr val="E67E22"/>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FFFFFF"/>
                </a:solidFill>
              </a:defRPr>
            </a:pPr>
            <a:r>
              <a:t>PI Historian</a:t>
            </a:r>
            <a:br/>
            <a:r>
              <a:t>Process Data</a:t>
            </a:r>
          </a:p>
        </p:txBody>
      </p:sp>
      <p:sp>
        <p:nvSpPr>
          <p:cNvPr id="6" name="Diamond 5"/>
          <p:cNvSpPr/>
          <p:nvPr/>
        </p:nvSpPr>
        <p:spPr>
          <a:xfrm>
            <a:off x="457200" y="3017520"/>
            <a:ext cx="1371600" cy="731520"/>
          </a:xfrm>
          <a:prstGeom prst="diamond">
            <a:avLst/>
          </a:prstGeom>
          <a:solidFill>
            <a:srgbClr val="3498D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FFFFFF"/>
                </a:solidFill>
              </a:defRPr>
            </a:pPr>
            <a:r>
              <a:t>Market Data</a:t>
            </a:r>
            <a:br/>
            <a:r>
              <a:t>EIA / OPIS</a:t>
            </a:r>
          </a:p>
        </p:txBody>
      </p:sp>
      <p:sp>
        <p:nvSpPr>
          <p:cNvPr id="7" name="Diamond 6"/>
          <p:cNvSpPr/>
          <p:nvPr/>
        </p:nvSpPr>
        <p:spPr>
          <a:xfrm>
            <a:off x="457200" y="4023360"/>
            <a:ext cx="1371600" cy="731520"/>
          </a:xfrm>
          <a:prstGeom prst="diamond">
            <a:avLst/>
          </a:prstGeom>
          <a:solidFill>
            <a:srgbClr val="3498D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FFFFFF"/>
                </a:solidFill>
              </a:defRPr>
            </a:pPr>
            <a:r>
              <a:t>Excel LP</a:t>
            </a:r>
            <a:br/>
            <a:r>
              <a:t>Models</a:t>
            </a:r>
          </a:p>
        </p:txBody>
      </p:sp>
      <p:sp>
        <p:nvSpPr>
          <p:cNvPr id="8" name="Rounded Rectangle 7"/>
          <p:cNvSpPr/>
          <p:nvPr/>
        </p:nvSpPr>
        <p:spPr>
          <a:xfrm>
            <a:off x="3840480" y="2560320"/>
            <a:ext cx="2011680" cy="1280160"/>
          </a:xfrm>
          <a:prstGeom prst="roundRect">
            <a:avLst/>
          </a:prstGeom>
          <a:solidFill>
            <a:srgbClr val="27AE60"/>
          </a:solidFill>
          <a:ln w="381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FFFFFF"/>
                </a:solidFill>
              </a:defRPr>
            </a:pPr>
            <a:r>
              <a:t>Reflex</a:t>
            </a:r>
            <a:br/>
            <a:r>
              <a:t>Platform</a:t>
            </a:r>
          </a:p>
        </p:txBody>
      </p:sp>
      <p:sp>
        <p:nvSpPr>
          <p:cNvPr id="9" name="Right Arrow 8"/>
          <p:cNvSpPr/>
          <p:nvPr/>
        </p:nvSpPr>
        <p:spPr>
          <a:xfrm>
            <a:off x="1920240" y="2286000"/>
            <a:ext cx="1828800" cy="182880"/>
          </a:xfrm>
          <a:prstGeom prst="rightArrow">
            <a:avLst/>
          </a:prstGeom>
          <a:solidFill>
            <a:srgbClr val="B0BE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ight Arrow 9"/>
          <p:cNvSpPr/>
          <p:nvPr/>
        </p:nvSpPr>
        <p:spPr>
          <a:xfrm>
            <a:off x="1920240" y="3291840"/>
            <a:ext cx="1828800" cy="182880"/>
          </a:xfrm>
          <a:prstGeom prst="rightArrow">
            <a:avLst/>
          </a:prstGeom>
          <a:solidFill>
            <a:srgbClr val="B0BE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ight Arrow 10"/>
          <p:cNvSpPr/>
          <p:nvPr/>
        </p:nvSpPr>
        <p:spPr>
          <a:xfrm>
            <a:off x="1920240" y="4297680"/>
            <a:ext cx="1828800" cy="182880"/>
          </a:xfrm>
          <a:prstGeom prst="rightArrow">
            <a:avLst/>
          </a:prstGeom>
          <a:solidFill>
            <a:srgbClr val="B0BE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0" y="1645920"/>
            <a:ext cx="1645920" cy="274320"/>
          </a:xfrm>
          <a:prstGeom prst="rect">
            <a:avLst/>
          </a:prstGeom>
          <a:noFill/>
        </p:spPr>
        <p:txBody>
          <a:bodyPr wrap="square" anchor="t"/>
          <a:lstStyle/>
          <a:p>
            <a:pPr algn="ctr">
              <a:defRPr sz="1000" b="0" i="0">
                <a:solidFill>
                  <a:srgbClr val="B0BEC5"/>
                </a:solidFill>
              </a:defRPr>
            </a:pPr>
            <a:r>
              <a:t>Delivery Channels</a:t>
            </a:r>
          </a:p>
        </p:txBody>
      </p:sp>
      <p:sp>
        <p:nvSpPr>
          <p:cNvPr id="13" name="Rounded Rectangle 12"/>
          <p:cNvSpPr/>
          <p:nvPr/>
        </p:nvSpPr>
        <p:spPr>
          <a:xfrm>
            <a:off x="7315200" y="2011680"/>
            <a:ext cx="1371600" cy="731520"/>
          </a:xfrm>
          <a:prstGeom prst="roundRect">
            <a:avLst/>
          </a:prstGeom>
          <a:solidFill>
            <a:srgbClr val="3498D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FFFFFF"/>
                </a:solidFill>
              </a:defRPr>
            </a:pPr>
            <a:r>
              <a:t>Microsoft</a:t>
            </a:r>
            <a:br/>
            <a:r>
              <a:t>Teams</a:t>
            </a:r>
          </a:p>
        </p:txBody>
      </p:sp>
      <p:sp>
        <p:nvSpPr>
          <p:cNvPr id="14" name="Rounded Rectangle 13"/>
          <p:cNvSpPr/>
          <p:nvPr/>
        </p:nvSpPr>
        <p:spPr>
          <a:xfrm>
            <a:off x="7315200" y="3017520"/>
            <a:ext cx="1371600" cy="731520"/>
          </a:xfrm>
          <a:prstGeom prst="roundRect">
            <a:avLst/>
          </a:prstGeom>
          <a:solidFill>
            <a:srgbClr val="3498D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FFFFFF"/>
                </a:solidFill>
              </a:defRPr>
            </a:pPr>
            <a:r>
              <a:t>Slack</a:t>
            </a:r>
          </a:p>
        </p:txBody>
      </p:sp>
      <p:sp>
        <p:nvSpPr>
          <p:cNvPr id="15" name="Rounded Rectangle 14"/>
          <p:cNvSpPr/>
          <p:nvPr/>
        </p:nvSpPr>
        <p:spPr>
          <a:xfrm>
            <a:off x="7315200" y="4023360"/>
            <a:ext cx="1371600" cy="731520"/>
          </a:xfrm>
          <a:prstGeom prst="roundRect">
            <a:avLst/>
          </a:prstGeom>
          <a:solidFill>
            <a:srgbClr val="3498D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FFFFFF"/>
                </a:solidFill>
              </a:defRPr>
            </a:pPr>
            <a:r>
              <a:t>Email</a:t>
            </a:r>
          </a:p>
        </p:txBody>
      </p:sp>
      <p:sp>
        <p:nvSpPr>
          <p:cNvPr id="16" name="Right Arrow 15"/>
          <p:cNvSpPr/>
          <p:nvPr/>
        </p:nvSpPr>
        <p:spPr>
          <a:xfrm>
            <a:off x="5943600" y="2286000"/>
            <a:ext cx="1280160" cy="182880"/>
          </a:xfrm>
          <a:prstGeom prst="rightArrow">
            <a:avLst/>
          </a:prstGeom>
          <a:solidFill>
            <a:srgbClr val="B0BE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ight Arrow 16"/>
          <p:cNvSpPr/>
          <p:nvPr/>
        </p:nvSpPr>
        <p:spPr>
          <a:xfrm>
            <a:off x="5943600" y="3291840"/>
            <a:ext cx="1280160" cy="182880"/>
          </a:xfrm>
          <a:prstGeom prst="rightArrow">
            <a:avLst/>
          </a:prstGeom>
          <a:solidFill>
            <a:srgbClr val="B0BE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ight Arrow 17"/>
          <p:cNvSpPr/>
          <p:nvPr/>
        </p:nvSpPr>
        <p:spPr>
          <a:xfrm>
            <a:off x="5943600" y="4297680"/>
            <a:ext cx="1280160" cy="182880"/>
          </a:xfrm>
          <a:prstGeom prst="rightArrow">
            <a:avLst/>
          </a:prstGeom>
          <a:solidFill>
            <a:srgbClr val="B0BE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572000" y="4389120"/>
            <a:ext cx="1371600" cy="548640"/>
          </a:xfrm>
          <a:prstGeom prst="roundRect">
            <a:avLst/>
          </a:prstGeom>
          <a:solidFill>
            <a:srgbClr val="9B59B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FFFFFF"/>
                </a:solidFill>
              </a:defRPr>
            </a:pPr>
            <a:r>
              <a:t>Claude API</a:t>
            </a:r>
            <a:br/>
            <a:r>
              <a:t>(formatting only)</a:t>
            </a:r>
          </a:p>
        </p:txBody>
      </p:sp>
      <p:sp>
        <p:nvSpPr>
          <p:cNvPr id="20" name="Oval 19"/>
          <p:cNvSpPr/>
          <p:nvPr/>
        </p:nvSpPr>
        <p:spPr>
          <a:xfrm>
            <a:off x="9601200" y="2011680"/>
            <a:ext cx="1188720" cy="731520"/>
          </a:xfrm>
          <a:prstGeom prst="ellipse">
            <a:avLst/>
          </a:prstGeom>
          <a:solidFill>
            <a:srgbClr val="B0BEC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FFFFFF"/>
                </a:solidFill>
              </a:defRPr>
            </a:pPr>
            <a:r>
              <a:t>Shift</a:t>
            </a:r>
            <a:br/>
            <a:r>
              <a:t>Supervisors</a:t>
            </a:r>
          </a:p>
        </p:txBody>
      </p:sp>
      <p:sp>
        <p:nvSpPr>
          <p:cNvPr id="21" name="Oval 20"/>
          <p:cNvSpPr/>
          <p:nvPr/>
        </p:nvSpPr>
        <p:spPr>
          <a:xfrm>
            <a:off x="9601200" y="3017520"/>
            <a:ext cx="1188720" cy="731520"/>
          </a:xfrm>
          <a:prstGeom prst="ellipse">
            <a:avLst/>
          </a:prstGeom>
          <a:solidFill>
            <a:srgbClr val="B0BEC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FFFFFF"/>
                </a:solidFill>
              </a:defRPr>
            </a:pPr>
            <a:r>
              <a:t>LP</a:t>
            </a:r>
            <a:br/>
            <a:r>
              <a:t>Planners</a:t>
            </a:r>
          </a:p>
        </p:txBody>
      </p:sp>
      <p:sp>
        <p:nvSpPr>
          <p:cNvPr id="22" name="Oval 21"/>
          <p:cNvSpPr/>
          <p:nvPr/>
        </p:nvSpPr>
        <p:spPr>
          <a:xfrm>
            <a:off x="9601200" y="4023360"/>
            <a:ext cx="1188720" cy="731520"/>
          </a:xfrm>
          <a:prstGeom prst="ellipse">
            <a:avLst/>
          </a:prstGeom>
          <a:solidFill>
            <a:srgbClr val="B0BEC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FFFFFF"/>
                </a:solidFill>
              </a:defRPr>
            </a:pPr>
            <a:r>
              <a:t>Plant</a:t>
            </a:r>
            <a:br/>
            <a:r>
              <a:t>Management</a:t>
            </a:r>
          </a:p>
        </p:txBody>
      </p:sp>
      <p:sp>
        <p:nvSpPr>
          <p:cNvPr id="23" name="Right Arrow 22"/>
          <p:cNvSpPr/>
          <p:nvPr/>
        </p:nvSpPr>
        <p:spPr>
          <a:xfrm>
            <a:off x="8778240" y="2286000"/>
            <a:ext cx="731520" cy="182880"/>
          </a:xfrm>
          <a:prstGeom prst="rightArrow">
            <a:avLst/>
          </a:prstGeom>
          <a:solidFill>
            <a:srgbClr val="B0BE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ight Arrow 23"/>
          <p:cNvSpPr/>
          <p:nvPr/>
        </p:nvSpPr>
        <p:spPr>
          <a:xfrm>
            <a:off x="8778240" y="3291840"/>
            <a:ext cx="731520" cy="182880"/>
          </a:xfrm>
          <a:prstGeom prst="rightArrow">
            <a:avLst/>
          </a:prstGeom>
          <a:solidFill>
            <a:srgbClr val="B0BE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ight Arrow 24"/>
          <p:cNvSpPr/>
          <p:nvPr/>
        </p:nvSpPr>
        <p:spPr>
          <a:xfrm>
            <a:off x="8778240" y="4297680"/>
            <a:ext cx="731520" cy="182880"/>
          </a:xfrm>
          <a:prstGeom prst="rightArrow">
            <a:avLst/>
          </a:prstGeom>
          <a:solidFill>
            <a:srgbClr val="B0BE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5303520"/>
            <a:ext cx="10820095" cy="1097280"/>
          </a:xfrm>
          <a:prstGeom prst="rect">
            <a:avLst/>
          </a:prstGeom>
          <a:noFill/>
        </p:spPr>
        <p:txBody>
          <a:bodyPr wrap="square">
            <a:spAutoFit/>
          </a:bodyPr>
          <a:lstStyle/>
          <a:p>
            <a:pPr>
              <a:spcAft>
                <a:spcPts val="600"/>
              </a:spcAft>
              <a:defRPr sz="1200">
                <a:solidFill>
                  <a:srgbClr val="B0BEC5"/>
                </a:solidFill>
              </a:defRPr>
            </a:pPr>
            <a:r>
              <a:t>Reflex sits between three existing pillars: historian data, LP models, and operators</a:t>
            </a:r>
          </a:p>
          <a:p>
            <a:pPr>
              <a:spcAft>
                <a:spcPts val="600"/>
              </a:spcAft>
              <a:defRPr sz="1200">
                <a:solidFill>
                  <a:srgbClr val="B0BEC5"/>
                </a:solidFill>
              </a:defRPr>
            </a:pPr>
            <a:r>
              <a:t>It acts as an automated data-entry clerk and translator — not a controller</a:t>
            </a:r>
          </a:p>
          <a:p>
            <a:pPr>
              <a:spcAft>
                <a:spcPts val="600"/>
              </a:spcAft>
              <a:defRPr sz="1200">
                <a:solidFill>
                  <a:srgbClr val="B0BEC5"/>
                </a:solidFill>
              </a:defRPr>
            </a:pPr>
            <a:r>
              <a:t>Three actor types, three data sources, four delivery channels</a:t>
            </a:r>
          </a:p>
        </p:txBody>
      </p:sp>
      <p:sp>
        <p:nvSpPr>
          <p:cNvPr id="27" name="TextBox 26"/>
          <p:cNvSpPr txBox="1"/>
          <p:nvPr/>
        </p:nvSpPr>
        <p:spPr>
          <a:xfrm>
            <a:off x="11505895" y="6492240"/>
            <a:ext cx="457200" cy="274320"/>
          </a:xfrm>
          <a:prstGeom prst="rect">
            <a:avLst/>
          </a:prstGeom>
          <a:noFill/>
        </p:spPr>
        <p:txBody>
          <a:bodyPr wrap="square" anchor="t"/>
          <a:lstStyle/>
          <a:p>
            <a:pPr algn="r">
              <a:defRPr sz="1000" b="0" i="0">
                <a:solidFill>
                  <a:srgbClr val="B0BEC5"/>
                </a:solidFill>
              </a:defRPr>
            </a:pPr>
            <a:r>
              <a:t>37</a:t>
            </a:r>
          </a:p>
        </p:txBody>
      </p:sp>
      <p:sp>
        <p:nvSpPr>
          <p:cNvPr id="28" name="TextBox 27"/>
          <p:cNvSpPr txBox="1"/>
          <p:nvPr/>
        </p:nvSpPr>
        <p:spPr>
          <a:xfrm>
            <a:off x="685800" y="6400800"/>
            <a:ext cx="3657600" cy="274320"/>
          </a:xfrm>
          <a:prstGeom prst="rect">
            <a:avLst/>
          </a:prstGeom>
          <a:noFill/>
        </p:spPr>
        <p:txBody>
          <a:bodyPr wrap="square" anchor="t"/>
          <a:lstStyle/>
          <a:p>
            <a:pPr algn="l">
              <a:defRPr sz="1200" b="0" i="1">
                <a:solidFill>
                  <a:srgbClr val="78909C"/>
                </a:solidFill>
              </a:defRPr>
            </a:pPr>
            <a:r>
              <a:t>Deep dive: docs/architecture-diagrams.md</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685800" y="365760"/>
            <a:ext cx="10820095" cy="640080"/>
          </a:xfrm>
          <a:prstGeom prst="rect">
            <a:avLst/>
          </a:prstGeom>
          <a:noFill/>
        </p:spPr>
        <p:txBody>
          <a:bodyPr wrap="square" anchor="t"/>
          <a:lstStyle/>
          <a:p>
            <a:pPr algn="l">
              <a:defRPr sz="2800" b="1" i="0">
                <a:solidFill>
                  <a:srgbClr val="FFFFFF"/>
                </a:solidFill>
              </a:defRPr>
            </a:pPr>
            <a:r>
              <a:t>Data Flow — Happy Path</a:t>
            </a:r>
          </a:p>
        </p:txBody>
      </p:sp>
      <p:sp>
        <p:nvSpPr>
          <p:cNvPr id="3" name="TextBox 2"/>
          <p:cNvSpPr txBox="1"/>
          <p:nvPr/>
        </p:nvSpPr>
        <p:spPr>
          <a:xfrm>
            <a:off x="685800" y="1005840"/>
            <a:ext cx="10820095" cy="457200"/>
          </a:xfrm>
          <a:prstGeom prst="rect">
            <a:avLst/>
          </a:prstGeom>
          <a:noFill/>
        </p:spPr>
        <p:txBody>
          <a:bodyPr wrap="square" anchor="t"/>
          <a:lstStyle/>
          <a:p>
            <a:pPr algn="l">
              <a:defRPr sz="2000" b="0" i="0">
                <a:solidFill>
                  <a:srgbClr val="B0BEC5"/>
                </a:solidFill>
              </a:defRPr>
            </a:pPr>
            <a:r>
              <a:t>From sensor change to recommendation delivered</a:t>
            </a:r>
          </a:p>
        </p:txBody>
      </p:sp>
      <p:sp>
        <p:nvSpPr>
          <p:cNvPr id="4" name="Rounded Rectangle 3"/>
          <p:cNvSpPr/>
          <p:nvPr/>
        </p:nvSpPr>
        <p:spPr>
          <a:xfrm>
            <a:off x="365760" y="2286000"/>
            <a:ext cx="1554480" cy="914400"/>
          </a:xfrm>
          <a:prstGeom prst="roundRect">
            <a:avLst/>
          </a:prstGeom>
          <a:solidFill>
            <a:srgbClr val="E67E22"/>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FFFFFF"/>
                </a:solidFill>
              </a:defRPr>
            </a:pPr>
            <a:r>
              <a:t>PI Historian</a:t>
            </a:r>
            <a:br/>
            <a:r>
              <a:t>+ Edge Agent</a:t>
            </a:r>
          </a:p>
        </p:txBody>
      </p:sp>
      <p:sp>
        <p:nvSpPr>
          <p:cNvPr id="5" name="TextBox 4"/>
          <p:cNvSpPr txBox="1"/>
          <p:nvPr/>
        </p:nvSpPr>
        <p:spPr>
          <a:xfrm>
            <a:off x="365760" y="3246120"/>
            <a:ext cx="1554480" cy="457200"/>
          </a:xfrm>
          <a:prstGeom prst="rect">
            <a:avLst/>
          </a:prstGeom>
          <a:noFill/>
        </p:spPr>
        <p:txBody>
          <a:bodyPr wrap="square" anchor="t"/>
          <a:lstStyle/>
          <a:p>
            <a:pPr algn="ctr">
              <a:defRPr sz="800" b="0" i="0">
                <a:solidFill>
                  <a:srgbClr val="B0BEC5"/>
                </a:solidFill>
              </a:defRPr>
            </a:pPr>
            <a:r>
              <a:t>sensor data</a:t>
            </a:r>
            <a:br/>
            <a:r>
              <a:t>+ quality check</a:t>
            </a:r>
          </a:p>
        </p:txBody>
      </p:sp>
      <p:sp>
        <p:nvSpPr>
          <p:cNvPr id="6" name="Right Arrow 5"/>
          <p:cNvSpPr/>
          <p:nvPr/>
        </p:nvSpPr>
        <p:spPr>
          <a:xfrm>
            <a:off x="1920240" y="2651760"/>
            <a:ext cx="274320" cy="182880"/>
          </a:xfrm>
          <a:prstGeom prst="rightArrow">
            <a:avLst/>
          </a:prstGeom>
          <a:solidFill>
            <a:srgbClr val="B0BE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194560" y="2286000"/>
            <a:ext cx="1554480" cy="914400"/>
          </a:xfrm>
          <a:prstGeom prst="roundRect">
            <a:avLst/>
          </a:prstGeom>
          <a:solidFill>
            <a:srgbClr val="27AE6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FFFFFF"/>
                </a:solidFill>
              </a:defRPr>
            </a:pPr>
            <a:r>
              <a:t>Data Quality</a:t>
            </a:r>
            <a:br/>
            <a:r>
              <a:t>Gateway</a:t>
            </a:r>
          </a:p>
        </p:txBody>
      </p:sp>
      <p:sp>
        <p:nvSpPr>
          <p:cNvPr id="8" name="TextBox 7"/>
          <p:cNvSpPr txBox="1"/>
          <p:nvPr/>
        </p:nvSpPr>
        <p:spPr>
          <a:xfrm>
            <a:off x="2194560" y="3246120"/>
            <a:ext cx="1554480" cy="457200"/>
          </a:xfrm>
          <a:prstGeom prst="rect">
            <a:avLst/>
          </a:prstGeom>
          <a:noFill/>
        </p:spPr>
        <p:txBody>
          <a:bodyPr wrap="square" anchor="t"/>
          <a:lstStyle/>
          <a:p>
            <a:pPr algn="ctr">
              <a:defRPr sz="800" b="0" i="0">
                <a:solidFill>
                  <a:srgbClr val="B0BEC5"/>
                </a:solidFill>
              </a:defRPr>
            </a:pPr>
            <a:r>
              <a:t>staleness, range,</a:t>
            </a:r>
            <a:br/>
            <a:r>
              <a:t>mode detection</a:t>
            </a:r>
          </a:p>
        </p:txBody>
      </p:sp>
      <p:sp>
        <p:nvSpPr>
          <p:cNvPr id="9" name="Right Arrow 8"/>
          <p:cNvSpPr/>
          <p:nvPr/>
        </p:nvSpPr>
        <p:spPr>
          <a:xfrm>
            <a:off x="3749040" y="2651760"/>
            <a:ext cx="274320" cy="182880"/>
          </a:xfrm>
          <a:prstGeom prst="rightArrow">
            <a:avLst/>
          </a:prstGeom>
          <a:solidFill>
            <a:srgbClr val="B0BE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023360" y="2286000"/>
            <a:ext cx="1554480" cy="914400"/>
          </a:xfrm>
          <a:prstGeom prst="roundRect">
            <a:avLst/>
          </a:prstGeom>
          <a:solidFill>
            <a:srgbClr val="27AE6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FFFFFF"/>
                </a:solidFill>
              </a:defRPr>
            </a:pPr>
            <a:r>
              <a:t>Trigger Engine</a:t>
            </a:r>
            <a:br/>
            <a:r>
              <a:t>~200 rules</a:t>
            </a:r>
          </a:p>
        </p:txBody>
      </p:sp>
      <p:sp>
        <p:nvSpPr>
          <p:cNvPr id="11" name="TextBox 10"/>
          <p:cNvSpPr txBox="1"/>
          <p:nvPr/>
        </p:nvSpPr>
        <p:spPr>
          <a:xfrm>
            <a:off x="4023360" y="3246120"/>
            <a:ext cx="1554480" cy="457200"/>
          </a:xfrm>
          <a:prstGeom prst="rect">
            <a:avLst/>
          </a:prstGeom>
          <a:noFill/>
        </p:spPr>
        <p:txBody>
          <a:bodyPr wrap="square" anchor="t"/>
          <a:lstStyle/>
          <a:p>
            <a:pPr algn="ctr">
              <a:defRPr sz="800" b="0" i="0">
                <a:solidFill>
                  <a:srgbClr val="B0BEC5"/>
                </a:solidFill>
              </a:defRPr>
            </a:pPr>
            <a:r>
              <a:t>mode-gated,</a:t>
            </a:r>
            <a:br/>
            <a:r>
              <a:t>debounced</a:t>
            </a:r>
          </a:p>
        </p:txBody>
      </p:sp>
      <p:sp>
        <p:nvSpPr>
          <p:cNvPr id="12" name="Right Arrow 11"/>
          <p:cNvSpPr/>
          <p:nvPr/>
        </p:nvSpPr>
        <p:spPr>
          <a:xfrm>
            <a:off x="5577840" y="2651760"/>
            <a:ext cx="274320" cy="182880"/>
          </a:xfrm>
          <a:prstGeom prst="rightArrow">
            <a:avLst/>
          </a:prstGeom>
          <a:solidFill>
            <a:srgbClr val="B0BE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852160" y="2286000"/>
            <a:ext cx="1554480" cy="914400"/>
          </a:xfrm>
          <a:prstGeom prst="roundRect">
            <a:avLst/>
          </a:prstGeom>
          <a:solidFill>
            <a:srgbClr val="3498D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FFFFFF"/>
                </a:solidFill>
              </a:defRPr>
            </a:pPr>
            <a:r>
              <a:t>LP Orchestrator</a:t>
            </a:r>
            <a:br/>
            <a:r>
              <a:t>+ Excel Worker</a:t>
            </a:r>
          </a:p>
        </p:txBody>
      </p:sp>
      <p:sp>
        <p:nvSpPr>
          <p:cNvPr id="14" name="TextBox 13"/>
          <p:cNvSpPr txBox="1"/>
          <p:nvPr/>
        </p:nvSpPr>
        <p:spPr>
          <a:xfrm>
            <a:off x="5852160" y="3246120"/>
            <a:ext cx="1554480" cy="457200"/>
          </a:xfrm>
          <a:prstGeom prst="rect">
            <a:avLst/>
          </a:prstGeom>
          <a:noFill/>
        </p:spPr>
        <p:txBody>
          <a:bodyPr wrap="square" anchor="t"/>
          <a:lstStyle/>
          <a:p>
            <a:pPr algn="ctr">
              <a:defRPr sz="800" b="0" i="0">
                <a:solidFill>
                  <a:srgbClr val="B0BEC5"/>
                </a:solidFill>
              </a:defRPr>
            </a:pPr>
            <a:r>
              <a:t>5-min timeout</a:t>
            </a:r>
            <a:br/>
            <a:r>
              <a:t>watchdog</a:t>
            </a:r>
          </a:p>
        </p:txBody>
      </p:sp>
      <p:sp>
        <p:nvSpPr>
          <p:cNvPr id="15" name="Right Arrow 14"/>
          <p:cNvSpPr/>
          <p:nvPr/>
        </p:nvSpPr>
        <p:spPr>
          <a:xfrm>
            <a:off x="7406640" y="2651760"/>
            <a:ext cx="274320" cy="182880"/>
          </a:xfrm>
          <a:prstGeom prst="rightArrow">
            <a:avLst/>
          </a:prstGeom>
          <a:solidFill>
            <a:srgbClr val="B0BE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680960" y="2286000"/>
            <a:ext cx="1554480" cy="914400"/>
          </a:xfrm>
          <a:prstGeom prst="roundRect">
            <a:avLst/>
          </a:prstGeom>
          <a:solidFill>
            <a:srgbClr val="9B59B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FFFFFF"/>
                </a:solidFill>
              </a:defRPr>
            </a:pPr>
            <a:r>
              <a:t>AI Translation</a:t>
            </a:r>
            <a:br/>
            <a:r>
              <a:t>+ Claude API</a:t>
            </a:r>
          </a:p>
        </p:txBody>
      </p:sp>
      <p:sp>
        <p:nvSpPr>
          <p:cNvPr id="17" name="TextBox 16"/>
          <p:cNvSpPr txBox="1"/>
          <p:nvPr/>
        </p:nvSpPr>
        <p:spPr>
          <a:xfrm>
            <a:off x="7680960" y="3246120"/>
            <a:ext cx="1554480" cy="457200"/>
          </a:xfrm>
          <a:prstGeom prst="rect">
            <a:avLst/>
          </a:prstGeom>
          <a:noFill/>
        </p:spPr>
        <p:txBody>
          <a:bodyPr wrap="square" anchor="t"/>
          <a:lstStyle/>
          <a:p>
            <a:pPr algn="ctr">
              <a:defRPr sz="800" b="0" i="0">
                <a:solidFill>
                  <a:srgbClr val="B0BEC5"/>
                </a:solidFill>
              </a:defRPr>
            </a:pPr>
            <a:r>
              <a:t>numbers by code</a:t>
            </a:r>
            <a:br/>
            <a:r>
              <a:t>words by Claude</a:t>
            </a:r>
          </a:p>
        </p:txBody>
      </p:sp>
      <p:sp>
        <p:nvSpPr>
          <p:cNvPr id="18" name="Right Arrow 17"/>
          <p:cNvSpPr/>
          <p:nvPr/>
        </p:nvSpPr>
        <p:spPr>
          <a:xfrm>
            <a:off x="9235440" y="2651760"/>
            <a:ext cx="274320" cy="182880"/>
          </a:xfrm>
          <a:prstGeom prst="rightArrow">
            <a:avLst/>
          </a:prstGeom>
          <a:solidFill>
            <a:srgbClr val="B0BE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509760" y="2286000"/>
            <a:ext cx="1554480" cy="914400"/>
          </a:xfrm>
          <a:prstGeom prst="roundRect">
            <a:avLst/>
          </a:prstGeom>
          <a:solidFill>
            <a:srgbClr val="27AE6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FFFFFF"/>
                </a:solidFill>
              </a:defRPr>
            </a:pPr>
            <a:r>
              <a:t>Messaging</a:t>
            </a:r>
            <a:br/>
            <a:r>
              <a:t>Service</a:t>
            </a:r>
          </a:p>
        </p:txBody>
      </p:sp>
      <p:sp>
        <p:nvSpPr>
          <p:cNvPr id="20" name="TextBox 19"/>
          <p:cNvSpPr txBox="1"/>
          <p:nvPr/>
        </p:nvSpPr>
        <p:spPr>
          <a:xfrm>
            <a:off x="9509760" y="3246120"/>
            <a:ext cx="1554480" cy="457200"/>
          </a:xfrm>
          <a:prstGeom prst="rect">
            <a:avLst/>
          </a:prstGeom>
          <a:noFill/>
        </p:spPr>
        <p:txBody>
          <a:bodyPr wrap="square" anchor="t"/>
          <a:lstStyle/>
          <a:p>
            <a:pPr algn="ctr">
              <a:defRPr sz="800" b="0" i="0">
                <a:solidFill>
                  <a:srgbClr val="B0BEC5"/>
                </a:solidFill>
              </a:defRPr>
            </a:pPr>
            <a:r>
              <a:t>Teams / Slack</a:t>
            </a:r>
            <a:br/>
            <a:r>
              <a:t>/ Email</a:t>
            </a:r>
          </a:p>
        </p:txBody>
      </p:sp>
      <p:sp>
        <p:nvSpPr>
          <p:cNvPr id="21" name="Oval 20"/>
          <p:cNvSpPr/>
          <p:nvPr/>
        </p:nvSpPr>
        <p:spPr>
          <a:xfrm>
            <a:off x="11064240" y="2377440"/>
            <a:ext cx="1005840" cy="731520"/>
          </a:xfrm>
          <a:prstGeom prst="ellipse">
            <a:avLst/>
          </a:prstGeom>
          <a:solidFill>
            <a:srgbClr val="B0BEC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FFFFFF"/>
                </a:solidFill>
              </a:defRPr>
            </a:pPr>
            <a:r>
              <a:t>Shift</a:t>
            </a:r>
            <a:br/>
            <a:r>
              <a:t>Supervisor</a:t>
            </a:r>
          </a:p>
        </p:txBody>
      </p:sp>
      <p:sp>
        <p:nvSpPr>
          <p:cNvPr id="22" name="TextBox 21"/>
          <p:cNvSpPr txBox="1"/>
          <p:nvPr/>
        </p:nvSpPr>
        <p:spPr>
          <a:xfrm>
            <a:off x="914400" y="4114800"/>
            <a:ext cx="9144000" cy="365760"/>
          </a:xfrm>
          <a:prstGeom prst="rect">
            <a:avLst/>
          </a:prstGeom>
          <a:noFill/>
        </p:spPr>
        <p:txBody>
          <a:bodyPr wrap="square" anchor="t"/>
          <a:lstStyle/>
          <a:p>
            <a:pPr algn="ctr">
              <a:defRPr sz="1200" b="1" i="0">
                <a:solidFill>
                  <a:srgbClr val="D4A843"/>
                </a:solidFill>
              </a:defRPr>
            </a:pPr>
            <a:r>
              <a:t>End-to-end: ~2-5 minutes from sensor shift to supervisor notification. Numbers NEVER generated by LLM.</a:t>
            </a:r>
          </a:p>
        </p:txBody>
      </p:sp>
      <p:sp>
        <p:nvSpPr>
          <p:cNvPr id="23" name="TextBox 22"/>
          <p:cNvSpPr txBox="1"/>
          <p:nvPr/>
        </p:nvSpPr>
        <p:spPr>
          <a:xfrm>
            <a:off x="685800" y="4663440"/>
            <a:ext cx="10820095" cy="1371600"/>
          </a:xfrm>
          <a:prstGeom prst="rect">
            <a:avLst/>
          </a:prstGeom>
          <a:noFill/>
        </p:spPr>
        <p:txBody>
          <a:bodyPr wrap="square">
            <a:spAutoFit/>
          </a:bodyPr>
          <a:lstStyle/>
          <a:p>
            <a:pPr>
              <a:spcAft>
                <a:spcPts val="600"/>
              </a:spcAft>
              <a:defRPr sz="1200">
                <a:solidFill>
                  <a:srgbClr val="B0BEC5"/>
                </a:solidFill>
              </a:defRPr>
            </a:pPr>
            <a:r>
              <a:t>End-to-end: ~2-5 minutes from sensor shift to supervisor notification</a:t>
            </a:r>
          </a:p>
          <a:p>
            <a:pPr>
              <a:spcAft>
                <a:spcPts val="600"/>
              </a:spcAft>
              <a:defRPr sz="1200">
                <a:solidFill>
                  <a:srgbClr val="B0BEC5"/>
                </a:solidFill>
              </a:defRPr>
            </a:pPr>
            <a:r>
              <a:t>Numbers are NEVER generated by the LLM — programmatically extracted and cross-validated</a:t>
            </a:r>
          </a:p>
          <a:p>
            <a:pPr>
              <a:spcAft>
                <a:spcPts val="600"/>
              </a:spcAft>
              <a:defRPr sz="1200">
                <a:solidFill>
                  <a:srgbClr val="B0BEC5"/>
                </a:solidFill>
              </a:defRPr>
            </a:pPr>
            <a:r>
              <a:t>Deterministic template fallback if Claude is down or validation fails</a:t>
            </a:r>
          </a:p>
        </p:txBody>
      </p:sp>
      <p:sp>
        <p:nvSpPr>
          <p:cNvPr id="24" name="TextBox 23"/>
          <p:cNvSpPr txBox="1"/>
          <p:nvPr/>
        </p:nvSpPr>
        <p:spPr>
          <a:xfrm>
            <a:off x="11505895" y="6492240"/>
            <a:ext cx="457200" cy="274320"/>
          </a:xfrm>
          <a:prstGeom prst="rect">
            <a:avLst/>
          </a:prstGeom>
          <a:noFill/>
        </p:spPr>
        <p:txBody>
          <a:bodyPr wrap="square" anchor="t"/>
          <a:lstStyle/>
          <a:p>
            <a:pPr algn="r">
              <a:defRPr sz="1000" b="0" i="0">
                <a:solidFill>
                  <a:srgbClr val="B0BEC5"/>
                </a:solidFill>
              </a:defRPr>
            </a:pPr>
            <a:r>
              <a:t>38</a:t>
            </a:r>
          </a:p>
        </p:txBody>
      </p:sp>
      <p:sp>
        <p:nvSpPr>
          <p:cNvPr id="25" name="TextBox 24"/>
          <p:cNvSpPr txBox="1"/>
          <p:nvPr/>
        </p:nvSpPr>
        <p:spPr>
          <a:xfrm>
            <a:off x="685800" y="6400800"/>
            <a:ext cx="3657600" cy="274320"/>
          </a:xfrm>
          <a:prstGeom prst="rect">
            <a:avLst/>
          </a:prstGeom>
          <a:noFill/>
        </p:spPr>
        <p:txBody>
          <a:bodyPr wrap="square" anchor="t"/>
          <a:lstStyle/>
          <a:p>
            <a:pPr algn="l">
              <a:defRPr sz="1200" b="0" i="1">
                <a:solidFill>
                  <a:srgbClr val="78909C"/>
                </a:solidFill>
              </a:defRPr>
            </a:pPr>
            <a:r>
              <a:t>Deep dive: docs/architecture-diagrams.md</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685800" y="365760"/>
            <a:ext cx="10820095" cy="640080"/>
          </a:xfrm>
          <a:prstGeom prst="rect">
            <a:avLst/>
          </a:prstGeom>
          <a:noFill/>
        </p:spPr>
        <p:txBody>
          <a:bodyPr wrap="square" anchor="t"/>
          <a:lstStyle/>
          <a:p>
            <a:pPr algn="l">
              <a:defRPr sz="2800" b="1" i="0">
                <a:solidFill>
                  <a:srgbClr val="FFFFFF"/>
                </a:solidFill>
              </a:defRPr>
            </a:pPr>
            <a:r>
              <a:t>Data Flow — Feedback Path</a:t>
            </a:r>
          </a:p>
        </p:txBody>
      </p:sp>
      <p:sp>
        <p:nvSpPr>
          <p:cNvPr id="3" name="TextBox 2"/>
          <p:cNvSpPr txBox="1"/>
          <p:nvPr/>
        </p:nvSpPr>
        <p:spPr>
          <a:xfrm>
            <a:off x="685800" y="1005840"/>
            <a:ext cx="10820095" cy="457200"/>
          </a:xfrm>
          <a:prstGeom prst="rect">
            <a:avLst/>
          </a:prstGeom>
          <a:noFill/>
        </p:spPr>
        <p:txBody>
          <a:bodyPr wrap="square" anchor="t"/>
          <a:lstStyle/>
          <a:p>
            <a:pPr algn="l">
              <a:defRPr sz="2000" b="0" i="0">
                <a:solidFill>
                  <a:srgbClr val="B0BEC5"/>
                </a:solidFill>
              </a:defRPr>
            </a:pPr>
            <a:r>
              <a:t>When a supervisor disagrees with a recommendation</a:t>
            </a:r>
          </a:p>
        </p:txBody>
      </p:sp>
      <p:sp>
        <p:nvSpPr>
          <p:cNvPr id="4" name="Oval 3"/>
          <p:cNvSpPr/>
          <p:nvPr/>
        </p:nvSpPr>
        <p:spPr>
          <a:xfrm>
            <a:off x="457200" y="2011680"/>
            <a:ext cx="1188720" cy="822960"/>
          </a:xfrm>
          <a:prstGeom prst="ellipse">
            <a:avLst/>
          </a:prstGeom>
          <a:solidFill>
            <a:srgbClr val="B0BEC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FFFFFF"/>
                </a:solidFill>
              </a:defRPr>
            </a:pPr>
            <a:r>
              <a:t>Shift</a:t>
            </a:r>
            <a:br/>
            <a:r>
              <a:t>Supervisor</a:t>
            </a:r>
          </a:p>
        </p:txBody>
      </p:sp>
      <p:sp>
        <p:nvSpPr>
          <p:cNvPr id="5" name="Right Arrow 4"/>
          <p:cNvSpPr/>
          <p:nvPr/>
        </p:nvSpPr>
        <p:spPr>
          <a:xfrm>
            <a:off x="1691640" y="2331720"/>
            <a:ext cx="274320" cy="182880"/>
          </a:xfrm>
          <a:prstGeom prst="rightArrow">
            <a:avLst/>
          </a:prstGeom>
          <a:solidFill>
            <a:srgbClr val="B0BE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011680" y="2011680"/>
            <a:ext cx="2286000" cy="822960"/>
          </a:xfrm>
          <a:prstGeom prst="roundRect">
            <a:avLst/>
          </a:prstGeom>
          <a:solidFill>
            <a:srgbClr val="27AE6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FFFFFF"/>
                </a:solidFill>
              </a:defRPr>
            </a:pPr>
            <a:r>
              <a:t>5-Tap Wizard</a:t>
            </a:r>
            <a:br/>
            <a:r>
              <a:t>1. Unit  2. Type  3. Constraint</a:t>
            </a:r>
            <a:br/>
            <a:r>
              <a:t>4. Severity  5. Confirm</a:t>
            </a:r>
          </a:p>
        </p:txBody>
      </p:sp>
      <p:sp>
        <p:nvSpPr>
          <p:cNvPr id="7" name="Right Arrow 6"/>
          <p:cNvSpPr/>
          <p:nvPr/>
        </p:nvSpPr>
        <p:spPr>
          <a:xfrm>
            <a:off x="4343400" y="2331720"/>
            <a:ext cx="274320" cy="182880"/>
          </a:xfrm>
          <a:prstGeom prst="rightArrow">
            <a:avLst/>
          </a:prstGeom>
          <a:solidFill>
            <a:srgbClr val="B0BE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663440" y="2011680"/>
            <a:ext cx="1645920" cy="822960"/>
          </a:xfrm>
          <a:prstGeom prst="roundRect">
            <a:avLst/>
          </a:prstGeom>
          <a:solidFill>
            <a:srgbClr val="27AE6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FFFFFF"/>
                </a:solidFill>
              </a:defRPr>
            </a:pPr>
            <a:r>
              <a:t>Feedback</a:t>
            </a:r>
            <a:br/>
            <a:r>
              <a:t>Processor</a:t>
            </a:r>
          </a:p>
        </p:txBody>
      </p:sp>
      <p:sp>
        <p:nvSpPr>
          <p:cNvPr id="9" name="Right Arrow 8"/>
          <p:cNvSpPr/>
          <p:nvPr/>
        </p:nvSpPr>
        <p:spPr>
          <a:xfrm>
            <a:off x="6355080" y="2331720"/>
            <a:ext cx="274320" cy="182880"/>
          </a:xfrm>
          <a:prstGeom prst="rightArrow">
            <a:avLst/>
          </a:prstGeom>
          <a:solidFill>
            <a:srgbClr val="B0BE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Magnetic Disk 9"/>
          <p:cNvSpPr/>
          <p:nvPr/>
        </p:nvSpPr>
        <p:spPr>
          <a:xfrm>
            <a:off x="6675120" y="2011680"/>
            <a:ext cx="2011680" cy="822960"/>
          </a:xfrm>
          <a:prstGeom prst="flowChartMagneticDisk">
            <a:avLst/>
          </a:prstGeom>
          <a:solidFill>
            <a:srgbClr val="E67E22"/>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FFFFFF"/>
                </a:solidFill>
              </a:defRPr>
            </a:pPr>
            <a:r>
              <a:t>Constraint Registry</a:t>
            </a:r>
            <a:br/>
            <a:r>
              <a:t>(by equipment, 72h expiry)</a:t>
            </a:r>
          </a:p>
        </p:txBody>
      </p:sp>
      <p:sp>
        <p:nvSpPr>
          <p:cNvPr id="11" name="TextBox 10"/>
          <p:cNvSpPr txBox="1"/>
          <p:nvPr/>
        </p:nvSpPr>
        <p:spPr>
          <a:xfrm>
            <a:off x="6858000" y="2880360"/>
            <a:ext cx="1645920" cy="274320"/>
          </a:xfrm>
          <a:prstGeom prst="rect">
            <a:avLst/>
          </a:prstGeom>
          <a:noFill/>
        </p:spPr>
        <p:txBody>
          <a:bodyPr wrap="square" anchor="t"/>
          <a:lstStyle/>
          <a:p>
            <a:pPr algn="ctr">
              <a:defRPr sz="900" b="0" i="1">
                <a:solidFill>
                  <a:srgbClr val="D4A843"/>
                </a:solidFill>
              </a:defRPr>
            </a:pPr>
            <a:r>
              <a:t>Re-solve triggered</a:t>
            </a:r>
          </a:p>
        </p:txBody>
      </p:sp>
      <p:sp>
        <p:nvSpPr>
          <p:cNvPr id="12" name="Rounded Rectangle 11"/>
          <p:cNvSpPr/>
          <p:nvPr/>
        </p:nvSpPr>
        <p:spPr>
          <a:xfrm>
            <a:off x="2011680" y="3474720"/>
            <a:ext cx="1645920" cy="822960"/>
          </a:xfrm>
          <a:prstGeom prst="roundRect">
            <a:avLst/>
          </a:prstGeom>
          <a:solidFill>
            <a:srgbClr val="3498D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FFFFFF"/>
                </a:solidFill>
              </a:defRPr>
            </a:pPr>
            <a:r>
              <a:t>LP Orchestrator</a:t>
            </a:r>
            <a:br/>
            <a:r>
              <a:t>(with new bounds)</a:t>
            </a:r>
          </a:p>
        </p:txBody>
      </p:sp>
      <p:sp>
        <p:nvSpPr>
          <p:cNvPr id="13" name="Right Arrow 12"/>
          <p:cNvSpPr/>
          <p:nvPr/>
        </p:nvSpPr>
        <p:spPr>
          <a:xfrm>
            <a:off x="3703320" y="3794760"/>
            <a:ext cx="274320" cy="182880"/>
          </a:xfrm>
          <a:prstGeom prst="rightArrow">
            <a:avLst/>
          </a:prstGeom>
          <a:solidFill>
            <a:srgbClr val="B0BE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023360" y="3474720"/>
            <a:ext cx="1645920" cy="822960"/>
          </a:xfrm>
          <a:prstGeom prst="roundRect">
            <a:avLst/>
          </a:prstGeom>
          <a:solidFill>
            <a:srgbClr val="9B59B6"/>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FFFFFF"/>
                </a:solidFill>
              </a:defRPr>
            </a:pPr>
            <a:r>
              <a:t>AI Translation</a:t>
            </a:r>
            <a:br/>
            <a:r>
              <a:t>Service</a:t>
            </a:r>
          </a:p>
        </p:txBody>
      </p:sp>
      <p:sp>
        <p:nvSpPr>
          <p:cNvPr id="15" name="Right Arrow 14"/>
          <p:cNvSpPr/>
          <p:nvPr/>
        </p:nvSpPr>
        <p:spPr>
          <a:xfrm>
            <a:off x="5715000" y="3794760"/>
            <a:ext cx="274320" cy="182880"/>
          </a:xfrm>
          <a:prstGeom prst="rightArrow">
            <a:avLst/>
          </a:prstGeom>
          <a:solidFill>
            <a:srgbClr val="B0BE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035040" y="3474720"/>
            <a:ext cx="1645920" cy="822960"/>
          </a:xfrm>
          <a:prstGeom prst="roundRect">
            <a:avLst/>
          </a:prstGeom>
          <a:solidFill>
            <a:srgbClr val="27AE6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FFFFFF"/>
                </a:solidFill>
              </a:defRPr>
            </a:pPr>
            <a:r>
              <a:t>Messaging</a:t>
            </a:r>
            <a:br/>
            <a:r>
              <a:t>Service</a:t>
            </a:r>
          </a:p>
        </p:txBody>
      </p:sp>
      <p:sp>
        <p:nvSpPr>
          <p:cNvPr id="17" name="Right Arrow 16"/>
          <p:cNvSpPr/>
          <p:nvPr/>
        </p:nvSpPr>
        <p:spPr>
          <a:xfrm>
            <a:off x="7726679" y="3794760"/>
            <a:ext cx="274320" cy="182880"/>
          </a:xfrm>
          <a:prstGeom prst="rightArrow">
            <a:avLst/>
          </a:prstGeom>
          <a:solidFill>
            <a:srgbClr val="B0BE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046720" y="3474720"/>
            <a:ext cx="1371600" cy="822960"/>
          </a:xfrm>
          <a:prstGeom prst="ellipse">
            <a:avLst/>
          </a:prstGeom>
          <a:solidFill>
            <a:srgbClr val="B0BEC5"/>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FFFFFF"/>
                </a:solidFill>
              </a:defRPr>
            </a:pPr>
            <a:r>
              <a:t>Supervisor</a:t>
            </a:r>
            <a:br/>
            <a:r>
              <a:t>(revised rec)</a:t>
            </a:r>
          </a:p>
        </p:txBody>
      </p:sp>
      <p:sp>
        <p:nvSpPr>
          <p:cNvPr id="19" name="Rounded Rectangle 18"/>
          <p:cNvSpPr/>
          <p:nvPr/>
        </p:nvSpPr>
        <p:spPr>
          <a:xfrm>
            <a:off x="1828800" y="4663440"/>
            <a:ext cx="7315200" cy="548640"/>
          </a:xfrm>
          <a:prstGeom prst="roundRect">
            <a:avLst/>
          </a:prstGeom>
          <a:solidFill>
            <a:srgbClr val="301515"/>
          </a:solidFill>
          <a:ln w="25400">
            <a:solidFill>
              <a:srgbClr val="C0392B"/>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C0392B"/>
                </a:solidFill>
              </a:defRPr>
            </a:pPr>
            <a:r>
              <a:t>System will NOT re-recommend Unit 2 until constraint expires or is manually cleared</a:t>
            </a:r>
          </a:p>
        </p:txBody>
      </p:sp>
      <p:sp>
        <p:nvSpPr>
          <p:cNvPr id="20" name="TextBox 19"/>
          <p:cNvSpPr txBox="1"/>
          <p:nvPr/>
        </p:nvSpPr>
        <p:spPr>
          <a:xfrm>
            <a:off x="685800" y="5394960"/>
            <a:ext cx="10820095" cy="914400"/>
          </a:xfrm>
          <a:prstGeom prst="rect">
            <a:avLst/>
          </a:prstGeom>
          <a:noFill/>
        </p:spPr>
        <p:txBody>
          <a:bodyPr wrap="square">
            <a:spAutoFit/>
          </a:bodyPr>
          <a:lstStyle/>
          <a:p>
            <a:pPr>
              <a:spcAft>
                <a:spcPts val="600"/>
              </a:spcAft>
              <a:defRPr sz="1200">
                <a:solidFill>
                  <a:srgbClr val="B0BEC5"/>
                </a:solidFill>
              </a:defRPr>
            </a:pPr>
            <a:r>
              <a:t>5-tap structured wizard: unit -&gt; type -&gt; constraint -&gt; severity -&gt; confirm (15-30 seconds)</a:t>
            </a:r>
          </a:p>
          <a:p>
            <a:pPr>
              <a:spcAft>
                <a:spcPts val="600"/>
              </a:spcAft>
              <a:defRPr sz="1200">
                <a:solidFill>
                  <a:srgbClr val="B0BEC5"/>
                </a:solidFill>
              </a:defRPr>
            </a:pPr>
            <a:r>
              <a:t>Constraints stored by equipment ID, never by individual operator</a:t>
            </a:r>
          </a:p>
          <a:p>
            <a:pPr>
              <a:spcAft>
                <a:spcPts val="600"/>
              </a:spcAft>
              <a:defRPr sz="1200">
                <a:solidFill>
                  <a:srgbClr val="B0BEC5"/>
                </a:solidFill>
              </a:defRPr>
            </a:pPr>
            <a:r>
              <a:t>System never nags — conflicting recommendations suppressed until constraint expires or is cleared</a:t>
            </a:r>
          </a:p>
        </p:txBody>
      </p:sp>
      <p:sp>
        <p:nvSpPr>
          <p:cNvPr id="21" name="TextBox 20"/>
          <p:cNvSpPr txBox="1"/>
          <p:nvPr/>
        </p:nvSpPr>
        <p:spPr>
          <a:xfrm>
            <a:off x="11505895" y="6492240"/>
            <a:ext cx="457200" cy="274320"/>
          </a:xfrm>
          <a:prstGeom prst="rect">
            <a:avLst/>
          </a:prstGeom>
          <a:noFill/>
        </p:spPr>
        <p:txBody>
          <a:bodyPr wrap="square" anchor="t"/>
          <a:lstStyle/>
          <a:p>
            <a:pPr algn="r">
              <a:defRPr sz="1000" b="0" i="0">
                <a:solidFill>
                  <a:srgbClr val="B0BEC5"/>
                </a:solidFill>
              </a:defRPr>
            </a:pPr>
            <a:r>
              <a:t>39</a:t>
            </a:r>
          </a:p>
        </p:txBody>
      </p:sp>
      <p:sp>
        <p:nvSpPr>
          <p:cNvPr id="22" name="TextBox 21"/>
          <p:cNvSpPr txBox="1"/>
          <p:nvPr/>
        </p:nvSpPr>
        <p:spPr>
          <a:xfrm>
            <a:off x="685800" y="6400800"/>
            <a:ext cx="3657600" cy="274320"/>
          </a:xfrm>
          <a:prstGeom prst="rect">
            <a:avLst/>
          </a:prstGeom>
          <a:noFill/>
        </p:spPr>
        <p:txBody>
          <a:bodyPr wrap="square" anchor="t"/>
          <a:lstStyle/>
          <a:p>
            <a:pPr algn="l">
              <a:defRPr sz="1200" b="0" i="1">
                <a:solidFill>
                  <a:srgbClr val="78909C"/>
                </a:solidFill>
              </a:defRPr>
            </a:pPr>
            <a:r>
              <a:t>Deep dive: docs/architecture-diagrams.md</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685800" y="365760"/>
            <a:ext cx="10820095" cy="640080"/>
          </a:xfrm>
          <a:prstGeom prst="rect">
            <a:avLst/>
          </a:prstGeom>
          <a:noFill/>
        </p:spPr>
        <p:txBody>
          <a:bodyPr wrap="square" anchor="t"/>
          <a:lstStyle/>
          <a:p>
            <a:pPr algn="l">
              <a:defRPr sz="2800" b="1" i="0">
                <a:solidFill>
                  <a:srgbClr val="FFFFFF"/>
                </a:solidFill>
              </a:defRPr>
            </a:pPr>
            <a:r>
              <a:t>Network Architecture — OT/IT Boundary</a:t>
            </a:r>
          </a:p>
        </p:txBody>
      </p:sp>
      <p:sp>
        <p:nvSpPr>
          <p:cNvPr id="3" name="TextBox 2"/>
          <p:cNvSpPr txBox="1"/>
          <p:nvPr/>
        </p:nvSpPr>
        <p:spPr>
          <a:xfrm>
            <a:off x="685800" y="1005840"/>
            <a:ext cx="10820095" cy="457200"/>
          </a:xfrm>
          <a:prstGeom prst="rect">
            <a:avLst/>
          </a:prstGeom>
          <a:noFill/>
        </p:spPr>
        <p:txBody>
          <a:bodyPr wrap="square" anchor="t"/>
          <a:lstStyle/>
          <a:p>
            <a:pPr algn="l">
              <a:defRPr sz="2000" b="0" i="0">
                <a:solidFill>
                  <a:srgbClr val="B0BEC5"/>
                </a:solidFill>
              </a:defRPr>
            </a:pPr>
            <a:r>
              <a:t>Purdue Model network segmentation</a:t>
            </a:r>
          </a:p>
        </p:txBody>
      </p:sp>
      <p:sp>
        <p:nvSpPr>
          <p:cNvPr id="4" name="Rounded Rectangle 3"/>
          <p:cNvSpPr/>
          <p:nvPr/>
        </p:nvSpPr>
        <p:spPr>
          <a:xfrm>
            <a:off x="274320" y="1828800"/>
            <a:ext cx="3200400" cy="3200400"/>
          </a:xfrm>
          <a:prstGeom prst="roundRect">
            <a:avLst/>
          </a:prstGeom>
          <a:solidFill>
            <a:srgbClr val="2A1515"/>
          </a:solidFill>
          <a:ln w="25400">
            <a:solidFill>
              <a:srgbClr val="C0392B"/>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874520"/>
            <a:ext cx="3200400" cy="274320"/>
          </a:xfrm>
          <a:prstGeom prst="rect">
            <a:avLst/>
          </a:prstGeom>
          <a:noFill/>
        </p:spPr>
        <p:txBody>
          <a:bodyPr wrap="square" anchor="t"/>
          <a:lstStyle/>
          <a:p>
            <a:pPr algn="l">
              <a:defRPr sz="1000" b="1" i="0">
                <a:solidFill>
                  <a:srgbClr val="C0392B"/>
                </a:solidFill>
              </a:defRPr>
            </a:pPr>
            <a:r>
              <a:t>Purdue Level 0-2: OT Network</a:t>
            </a:r>
          </a:p>
        </p:txBody>
      </p:sp>
      <p:sp>
        <p:nvSpPr>
          <p:cNvPr id="6" name="Rounded Rectangle 5"/>
          <p:cNvSpPr/>
          <p:nvPr/>
        </p:nvSpPr>
        <p:spPr>
          <a:xfrm>
            <a:off x="457200" y="2286000"/>
            <a:ext cx="1280160" cy="640080"/>
          </a:xfrm>
          <a:prstGeom prst="roundRect">
            <a:avLst/>
          </a:prstGeom>
          <a:solidFill>
            <a:srgbClr val="C0392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FFFFFF"/>
                </a:solidFill>
              </a:defRPr>
            </a:pPr>
            <a:r>
              <a:t>DCS / PLCs</a:t>
            </a:r>
            <a:br/>
            <a:r>
              <a:t>Control</a:t>
            </a:r>
          </a:p>
        </p:txBody>
      </p:sp>
      <p:sp>
        <p:nvSpPr>
          <p:cNvPr id="7" name="Rounded Rectangle 6"/>
          <p:cNvSpPr/>
          <p:nvPr/>
        </p:nvSpPr>
        <p:spPr>
          <a:xfrm>
            <a:off x="1920240" y="2286000"/>
            <a:ext cx="1280160" cy="640080"/>
          </a:xfrm>
          <a:prstGeom prst="roundRect">
            <a:avLst/>
          </a:prstGeom>
          <a:solidFill>
            <a:srgbClr val="C0392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FFFFFF"/>
                </a:solidFill>
              </a:defRPr>
            </a:pPr>
            <a:r>
              <a:t>Sensors</a:t>
            </a:r>
            <a:br/>
            <a:r>
              <a:t>100+ Tags</a:t>
            </a:r>
          </a:p>
        </p:txBody>
      </p:sp>
      <p:sp>
        <p:nvSpPr>
          <p:cNvPr id="8" name="Magnetic Disk 7"/>
          <p:cNvSpPr/>
          <p:nvPr/>
        </p:nvSpPr>
        <p:spPr>
          <a:xfrm>
            <a:off x="731520" y="3291840"/>
            <a:ext cx="2011680" cy="640080"/>
          </a:xfrm>
          <a:prstGeom prst="flowChartMagneticDisk">
            <a:avLst/>
          </a:prstGeom>
          <a:solidFill>
            <a:srgbClr val="E67E22"/>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FFFFFF"/>
                </a:solidFill>
              </a:defRPr>
            </a:pPr>
            <a:r>
              <a:t>PI Data Archive</a:t>
            </a:r>
            <a:br/>
            <a:r>
              <a:t>(Primary)</a:t>
            </a:r>
          </a:p>
        </p:txBody>
      </p:sp>
      <p:sp>
        <p:nvSpPr>
          <p:cNvPr id="9" name="TextBox 8"/>
          <p:cNvSpPr txBox="1"/>
          <p:nvPr/>
        </p:nvSpPr>
        <p:spPr>
          <a:xfrm>
            <a:off x="548640" y="4114800"/>
            <a:ext cx="2377440" cy="274320"/>
          </a:xfrm>
          <a:prstGeom prst="rect">
            <a:avLst/>
          </a:prstGeom>
          <a:noFill/>
        </p:spPr>
        <p:txBody>
          <a:bodyPr wrap="square" anchor="t"/>
          <a:lstStyle/>
          <a:p>
            <a:pPr algn="ctr">
              <a:defRPr sz="1000" b="1" i="0">
                <a:solidFill>
                  <a:srgbClr val="C0392B"/>
                </a:solidFill>
              </a:defRPr>
            </a:pPr>
            <a:r>
              <a:t>Reflex NEVER touches this</a:t>
            </a:r>
          </a:p>
        </p:txBody>
      </p:sp>
      <p:sp>
        <p:nvSpPr>
          <p:cNvPr id="10" name="Hexagon 9"/>
          <p:cNvSpPr/>
          <p:nvPr/>
        </p:nvSpPr>
        <p:spPr>
          <a:xfrm>
            <a:off x="3611880" y="2926080"/>
            <a:ext cx="457200" cy="914400"/>
          </a:xfrm>
          <a:prstGeom prst="hexagon">
            <a:avLst/>
          </a:prstGeom>
          <a:solidFill>
            <a:srgbClr val="C0392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00">
                <a:solidFill>
                  <a:srgbClr val="FFFFFF"/>
                </a:solidFill>
              </a:defRPr>
            </a:pPr>
            <a:r>
              <a:t>FW</a:t>
            </a:r>
          </a:p>
        </p:txBody>
      </p:sp>
      <p:sp>
        <p:nvSpPr>
          <p:cNvPr id="11" name="Rounded Rectangle 10"/>
          <p:cNvSpPr/>
          <p:nvPr/>
        </p:nvSpPr>
        <p:spPr>
          <a:xfrm>
            <a:off x="4251960" y="1828800"/>
            <a:ext cx="3200400" cy="3200400"/>
          </a:xfrm>
          <a:prstGeom prst="roundRect">
            <a:avLst/>
          </a:prstGeom>
          <a:solidFill>
            <a:srgbClr val="2A2010"/>
          </a:solidFill>
          <a:ln w="25400">
            <a:solidFill>
              <a:srgbClr val="E67E22"/>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43400" y="1874520"/>
            <a:ext cx="3200400" cy="274320"/>
          </a:xfrm>
          <a:prstGeom prst="rect">
            <a:avLst/>
          </a:prstGeom>
          <a:noFill/>
        </p:spPr>
        <p:txBody>
          <a:bodyPr wrap="square" anchor="t"/>
          <a:lstStyle/>
          <a:p>
            <a:pPr algn="l">
              <a:defRPr sz="1000" b="1" i="0">
                <a:solidFill>
                  <a:srgbClr val="E67E22"/>
                </a:solidFill>
              </a:defRPr>
            </a:pPr>
            <a:r>
              <a:t>Purdue Level 3.5: DMZ</a:t>
            </a:r>
          </a:p>
        </p:txBody>
      </p:sp>
      <p:sp>
        <p:nvSpPr>
          <p:cNvPr id="13" name="Magnetic Disk 12"/>
          <p:cNvSpPr/>
          <p:nvPr/>
        </p:nvSpPr>
        <p:spPr>
          <a:xfrm>
            <a:off x="4434840" y="2286000"/>
            <a:ext cx="2560320" cy="548640"/>
          </a:xfrm>
          <a:prstGeom prst="flowChartMagneticDisk">
            <a:avLst/>
          </a:prstGeom>
          <a:solidFill>
            <a:srgbClr val="E67E22"/>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FFFFFF"/>
                </a:solidFill>
              </a:defRPr>
            </a:pPr>
            <a:r>
              <a:t>PI Archive — Read-Only Replica</a:t>
            </a:r>
          </a:p>
        </p:txBody>
      </p:sp>
      <p:sp>
        <p:nvSpPr>
          <p:cNvPr id="14" name="Rounded Rectangle 13"/>
          <p:cNvSpPr/>
          <p:nvPr/>
        </p:nvSpPr>
        <p:spPr>
          <a:xfrm>
            <a:off x="4434840" y="3017520"/>
            <a:ext cx="2560320" cy="548640"/>
          </a:xfrm>
          <a:prstGeom prst="roundRect">
            <a:avLst/>
          </a:prstGeom>
          <a:solidFill>
            <a:srgbClr val="3498D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FFFFFF"/>
                </a:solidFill>
              </a:defRPr>
            </a:pPr>
            <a:r>
              <a:t>PI Web API (HTTPS:443)</a:t>
            </a:r>
          </a:p>
        </p:txBody>
      </p:sp>
      <p:sp>
        <p:nvSpPr>
          <p:cNvPr id="15" name="Rounded Rectangle 14"/>
          <p:cNvSpPr/>
          <p:nvPr/>
        </p:nvSpPr>
        <p:spPr>
          <a:xfrm>
            <a:off x="4434840" y="3749040"/>
            <a:ext cx="2560320" cy="731520"/>
          </a:xfrm>
          <a:prstGeom prst="roundRect">
            <a:avLst/>
          </a:prstGeom>
          <a:solidFill>
            <a:srgbClr val="27AE6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FFFFFF"/>
                </a:solidFill>
              </a:defRPr>
            </a:pPr>
            <a:r>
              <a:t>Reflex Edge Agent</a:t>
            </a:r>
            <a:br/>
            <a:r>
              <a:t>Python Docker ~60MB</a:t>
            </a:r>
            <a:br/>
            <a:r>
              <a:t>+ SQLite Buffer</a:t>
            </a:r>
          </a:p>
        </p:txBody>
      </p:sp>
      <p:sp>
        <p:nvSpPr>
          <p:cNvPr id="16" name="Hexagon 15"/>
          <p:cNvSpPr/>
          <p:nvPr/>
        </p:nvSpPr>
        <p:spPr>
          <a:xfrm>
            <a:off x="7589520" y="2926080"/>
            <a:ext cx="457200" cy="914400"/>
          </a:xfrm>
          <a:prstGeom prst="hexagon">
            <a:avLst/>
          </a:prstGeom>
          <a:solidFill>
            <a:srgbClr val="C0392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00">
                <a:solidFill>
                  <a:srgbClr val="FFFFFF"/>
                </a:solidFill>
              </a:defRPr>
            </a:pPr>
            <a:r>
              <a:t>FW</a:t>
            </a:r>
          </a:p>
        </p:txBody>
      </p:sp>
      <p:sp>
        <p:nvSpPr>
          <p:cNvPr id="17" name="Rounded Rectangle 16"/>
          <p:cNvSpPr/>
          <p:nvPr/>
        </p:nvSpPr>
        <p:spPr>
          <a:xfrm>
            <a:off x="8229600" y="1828800"/>
            <a:ext cx="2743200" cy="3200400"/>
          </a:xfrm>
          <a:prstGeom prst="roundRect">
            <a:avLst/>
          </a:prstGeom>
          <a:solidFill>
            <a:srgbClr val="102A15"/>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21040" y="1874520"/>
            <a:ext cx="2743200" cy="274320"/>
          </a:xfrm>
          <a:prstGeom prst="rect">
            <a:avLst/>
          </a:prstGeom>
          <a:noFill/>
        </p:spPr>
        <p:txBody>
          <a:bodyPr wrap="square" anchor="t"/>
          <a:lstStyle/>
          <a:p>
            <a:pPr algn="l">
              <a:defRPr sz="1000" b="1" i="0">
                <a:solidFill>
                  <a:srgbClr val="27AE60"/>
                </a:solidFill>
              </a:defRPr>
            </a:pPr>
            <a:r>
              <a:t>Purdue Level 4-5: Cloud</a:t>
            </a:r>
          </a:p>
        </p:txBody>
      </p:sp>
      <p:sp>
        <p:nvSpPr>
          <p:cNvPr id="19" name="Rounded Rectangle 18"/>
          <p:cNvSpPr/>
          <p:nvPr/>
        </p:nvSpPr>
        <p:spPr>
          <a:xfrm>
            <a:off x="8412480" y="2286000"/>
            <a:ext cx="2194560" cy="548640"/>
          </a:xfrm>
          <a:prstGeom prst="roundRect">
            <a:avLst/>
          </a:prstGeom>
          <a:solidFill>
            <a:srgbClr val="3498D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FFFFFF"/>
                </a:solidFill>
              </a:defRPr>
            </a:pPr>
            <a:r>
              <a:t>Azure IoT Hub</a:t>
            </a:r>
          </a:p>
        </p:txBody>
      </p:sp>
      <p:sp>
        <p:nvSpPr>
          <p:cNvPr id="20" name="Rounded Rectangle 19"/>
          <p:cNvSpPr/>
          <p:nvPr/>
        </p:nvSpPr>
        <p:spPr>
          <a:xfrm>
            <a:off x="8412480" y="3017520"/>
            <a:ext cx="2194560" cy="548640"/>
          </a:xfrm>
          <a:prstGeom prst="roundRect">
            <a:avLst/>
          </a:prstGeom>
          <a:solidFill>
            <a:srgbClr val="27AE6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FFFFFF"/>
                </a:solidFill>
              </a:defRPr>
            </a:pPr>
            <a:r>
              <a:t>Reflex Cloud</a:t>
            </a:r>
            <a:br/>
            <a:r>
              <a:t>FastAPI Monolith</a:t>
            </a:r>
          </a:p>
        </p:txBody>
      </p:sp>
      <p:sp>
        <p:nvSpPr>
          <p:cNvPr id="21" name="Magnetic Disk 20"/>
          <p:cNvSpPr/>
          <p:nvPr/>
        </p:nvSpPr>
        <p:spPr>
          <a:xfrm>
            <a:off x="8412480" y="3749040"/>
            <a:ext cx="2194560" cy="548640"/>
          </a:xfrm>
          <a:prstGeom prst="flowChartMagneticDisk">
            <a:avLst/>
          </a:prstGeom>
          <a:solidFill>
            <a:srgbClr val="E67E22"/>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a:solidFill>
                  <a:srgbClr val="FFFFFF"/>
                </a:solidFill>
              </a:defRPr>
            </a:pPr>
            <a:r>
              <a:t>PostgreSQL +</a:t>
            </a:r>
            <a:br/>
            <a:r>
              <a:t>TimescaleDB</a:t>
            </a:r>
          </a:p>
        </p:txBody>
      </p:sp>
      <p:sp>
        <p:nvSpPr>
          <p:cNvPr id="22" name="TextBox 21"/>
          <p:cNvSpPr txBox="1"/>
          <p:nvPr/>
        </p:nvSpPr>
        <p:spPr>
          <a:xfrm>
            <a:off x="6995160" y="4663440"/>
            <a:ext cx="2286000" cy="274320"/>
          </a:xfrm>
          <a:prstGeom prst="rect">
            <a:avLst/>
          </a:prstGeom>
          <a:noFill/>
        </p:spPr>
        <p:txBody>
          <a:bodyPr wrap="square" anchor="t"/>
          <a:lstStyle/>
          <a:p>
            <a:pPr algn="ctr">
              <a:defRPr sz="1000" b="1" i="0">
                <a:solidFill>
                  <a:srgbClr val="27AE60"/>
                </a:solidFill>
              </a:defRPr>
            </a:pPr>
            <a:r>
              <a:t>HTTPS outbound ONLY</a:t>
            </a:r>
          </a:p>
        </p:txBody>
      </p:sp>
      <p:sp>
        <p:nvSpPr>
          <p:cNvPr id="23" name="TextBox 22"/>
          <p:cNvSpPr txBox="1"/>
          <p:nvPr/>
        </p:nvSpPr>
        <p:spPr>
          <a:xfrm>
            <a:off x="1828800" y="5303520"/>
            <a:ext cx="7315200" cy="274320"/>
          </a:xfrm>
          <a:prstGeom prst="rect">
            <a:avLst/>
          </a:prstGeom>
          <a:noFill/>
        </p:spPr>
        <p:txBody>
          <a:bodyPr wrap="square" anchor="t"/>
          <a:lstStyle/>
          <a:p>
            <a:pPr algn="ctr">
              <a:defRPr sz="1100" b="0" i="1">
                <a:solidFill>
                  <a:srgbClr val="C0392B"/>
                </a:solidFill>
              </a:defRPr>
            </a:pPr>
            <a:r>
              <a:t>No inbound firewall rules required. Compatible with hardware data diodes.</a:t>
            </a:r>
          </a:p>
        </p:txBody>
      </p:sp>
      <p:sp>
        <p:nvSpPr>
          <p:cNvPr id="24" name="TextBox 23"/>
          <p:cNvSpPr txBox="1"/>
          <p:nvPr/>
        </p:nvSpPr>
        <p:spPr>
          <a:xfrm>
            <a:off x="685800" y="5669280"/>
            <a:ext cx="10820095" cy="731520"/>
          </a:xfrm>
          <a:prstGeom prst="rect">
            <a:avLst/>
          </a:prstGeom>
          <a:noFill/>
        </p:spPr>
        <p:txBody>
          <a:bodyPr wrap="square">
            <a:spAutoFit/>
          </a:bodyPr>
          <a:lstStyle/>
          <a:p>
            <a:pPr>
              <a:spcAft>
                <a:spcPts val="600"/>
              </a:spcAft>
              <a:defRPr sz="1100">
                <a:solidFill>
                  <a:srgbClr val="B0BEC5"/>
                </a:solidFill>
              </a:defRPr>
            </a:pPr>
            <a:r>
              <a:t>Edge Agent reads from read-only PI replica in DMZ — never touches OT systems</a:t>
            </a:r>
          </a:p>
          <a:p>
            <a:pPr>
              <a:spcAft>
                <a:spcPts val="600"/>
              </a:spcAft>
              <a:defRPr sz="1100">
                <a:solidFill>
                  <a:srgbClr val="B0BEC5"/>
                </a:solidFill>
              </a:defRPr>
            </a:pPr>
            <a:r>
              <a:t>ALL communication is outbound HTTPS only — no inbound firewall rules required</a:t>
            </a:r>
          </a:p>
          <a:p>
            <a:pPr>
              <a:spcAft>
                <a:spcPts val="600"/>
              </a:spcAft>
              <a:defRPr sz="1100">
                <a:solidFill>
                  <a:srgbClr val="B0BEC5"/>
                </a:solidFill>
              </a:defRPr>
            </a:pPr>
            <a:r>
              <a:t>Compatible with hardware data diodes (physically one-way)</a:t>
            </a:r>
          </a:p>
        </p:txBody>
      </p:sp>
      <p:sp>
        <p:nvSpPr>
          <p:cNvPr id="25" name="TextBox 24"/>
          <p:cNvSpPr txBox="1"/>
          <p:nvPr/>
        </p:nvSpPr>
        <p:spPr>
          <a:xfrm>
            <a:off x="11505895" y="6492240"/>
            <a:ext cx="457200" cy="274320"/>
          </a:xfrm>
          <a:prstGeom prst="rect">
            <a:avLst/>
          </a:prstGeom>
          <a:noFill/>
        </p:spPr>
        <p:txBody>
          <a:bodyPr wrap="square" anchor="t"/>
          <a:lstStyle/>
          <a:p>
            <a:pPr algn="r">
              <a:defRPr sz="1000" b="0" i="0">
                <a:solidFill>
                  <a:srgbClr val="B0BEC5"/>
                </a:solidFill>
              </a:defRPr>
            </a:pPr>
            <a:r>
              <a:t>40</a:t>
            </a:r>
          </a:p>
        </p:txBody>
      </p:sp>
      <p:sp>
        <p:nvSpPr>
          <p:cNvPr id="26" name="TextBox 25"/>
          <p:cNvSpPr txBox="1"/>
          <p:nvPr/>
        </p:nvSpPr>
        <p:spPr>
          <a:xfrm>
            <a:off x="685800" y="6400800"/>
            <a:ext cx="3657600" cy="274320"/>
          </a:xfrm>
          <a:prstGeom prst="rect">
            <a:avLst/>
          </a:prstGeom>
          <a:noFill/>
        </p:spPr>
        <p:txBody>
          <a:bodyPr wrap="square" anchor="t"/>
          <a:lstStyle/>
          <a:p>
            <a:pPr algn="l">
              <a:defRPr sz="1200" b="0" i="1">
                <a:solidFill>
                  <a:srgbClr val="78909C"/>
                </a:solidFill>
              </a:defRPr>
            </a:pPr>
            <a:r>
              <a:t>Deep dive: docs/architecture-diagrams.md</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685800" y="365760"/>
            <a:ext cx="10820095" cy="640080"/>
          </a:xfrm>
          <a:prstGeom prst="rect">
            <a:avLst/>
          </a:prstGeom>
          <a:noFill/>
        </p:spPr>
        <p:txBody>
          <a:bodyPr wrap="square" anchor="t"/>
          <a:lstStyle/>
          <a:p>
            <a:pPr algn="l">
              <a:defRPr sz="2800" b="1" i="0">
                <a:solidFill>
                  <a:srgbClr val="FFFFFF"/>
                </a:solidFill>
              </a:defRPr>
            </a:pPr>
            <a:r>
              <a:t>Implementation Roadmap</a:t>
            </a:r>
          </a:p>
        </p:txBody>
      </p:sp>
      <p:sp>
        <p:nvSpPr>
          <p:cNvPr id="3" name="TextBox 2"/>
          <p:cNvSpPr txBox="1"/>
          <p:nvPr/>
        </p:nvSpPr>
        <p:spPr>
          <a:xfrm>
            <a:off x="685800" y="1005840"/>
            <a:ext cx="10820095" cy="457200"/>
          </a:xfrm>
          <a:prstGeom prst="rect">
            <a:avLst/>
          </a:prstGeom>
          <a:noFill/>
        </p:spPr>
        <p:txBody>
          <a:bodyPr wrap="square" anchor="t"/>
          <a:lstStyle/>
          <a:p>
            <a:pPr algn="l">
              <a:defRPr sz="2000" b="0" i="0">
                <a:solidFill>
                  <a:srgbClr val="B0BEC5"/>
                </a:solidFill>
              </a:defRPr>
            </a:pPr>
            <a:r>
              <a:t>Phase 0 through GA — 24 months</a:t>
            </a:r>
          </a:p>
        </p:txBody>
      </p:sp>
      <p:sp>
        <p:nvSpPr>
          <p:cNvPr id="4" name="Rectangle 3"/>
          <p:cNvSpPr/>
          <p:nvPr/>
        </p:nvSpPr>
        <p:spPr>
          <a:xfrm>
            <a:off x="457200" y="2743200"/>
            <a:ext cx="10972800" cy="27432"/>
          </a:xfrm>
          <a:prstGeom prst="rect">
            <a:avLst/>
          </a:prstGeom>
          <a:solidFill>
            <a:srgbClr val="B0BE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2468880"/>
            <a:ext cx="1645920" cy="548640"/>
          </a:xfrm>
          <a:prstGeom prst="round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defRPr>
            </a:pPr>
            <a:r>
              <a:t>Phase 0</a:t>
            </a:r>
            <a:br/>
            <a:r>
              <a:t>Validation</a:t>
            </a:r>
          </a:p>
        </p:txBody>
      </p:sp>
      <p:sp>
        <p:nvSpPr>
          <p:cNvPr id="6" name="TextBox 5"/>
          <p:cNvSpPr txBox="1"/>
          <p:nvPr/>
        </p:nvSpPr>
        <p:spPr>
          <a:xfrm>
            <a:off x="457200" y="2194560"/>
            <a:ext cx="1645920" cy="228600"/>
          </a:xfrm>
          <a:prstGeom prst="rect">
            <a:avLst/>
          </a:prstGeom>
          <a:noFill/>
        </p:spPr>
        <p:txBody>
          <a:bodyPr wrap="square" anchor="t"/>
          <a:lstStyle/>
          <a:p>
            <a:pPr algn="ctr">
              <a:defRPr sz="900" b="0" i="0">
                <a:solidFill>
                  <a:srgbClr val="B0BEC5"/>
                </a:solidFill>
              </a:defRPr>
            </a:pPr>
            <a:r>
              <a:t>Wks 1-8</a:t>
            </a:r>
          </a:p>
        </p:txBody>
      </p:sp>
      <p:sp>
        <p:nvSpPr>
          <p:cNvPr id="7" name="TextBox 6"/>
          <p:cNvSpPr txBox="1"/>
          <p:nvPr/>
        </p:nvSpPr>
        <p:spPr>
          <a:xfrm>
            <a:off x="457200" y="3108960"/>
            <a:ext cx="1645920" cy="548640"/>
          </a:xfrm>
          <a:prstGeom prst="rect">
            <a:avLst/>
          </a:prstGeom>
          <a:noFill/>
        </p:spPr>
        <p:txBody>
          <a:bodyPr wrap="square" anchor="t"/>
          <a:lstStyle/>
          <a:p>
            <a:pPr algn="ctr">
              <a:defRPr sz="900" b="0" i="0">
                <a:solidFill>
                  <a:srgbClr val="B0BEC5"/>
                </a:solidFill>
              </a:defRPr>
            </a:pPr>
            <a:r>
              <a:t>LP Survey | COM Test</a:t>
            </a:r>
            <a:br/>
            <a:r>
              <a:t>Domain Expert</a:t>
            </a:r>
          </a:p>
        </p:txBody>
      </p:sp>
      <p:sp>
        <p:nvSpPr>
          <p:cNvPr id="8" name="Diamond 7"/>
          <p:cNvSpPr/>
          <p:nvPr/>
        </p:nvSpPr>
        <p:spPr>
          <a:xfrm>
            <a:off x="1965960" y="3703320"/>
            <a:ext cx="274320" cy="274320"/>
          </a:xfrm>
          <a:prstGeom prst="diamond">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00200" y="3977640"/>
            <a:ext cx="1097280" cy="365760"/>
          </a:xfrm>
          <a:prstGeom prst="rect">
            <a:avLst/>
          </a:prstGeom>
          <a:noFill/>
        </p:spPr>
        <p:txBody>
          <a:bodyPr wrap="square" anchor="t"/>
          <a:lstStyle/>
          <a:p>
            <a:pPr algn="ctr">
              <a:defRPr sz="800" b="1" i="0">
                <a:solidFill>
                  <a:srgbClr val="E67E22"/>
                </a:solidFill>
              </a:defRPr>
            </a:pPr>
            <a:r>
              <a:t>Go/No-Go</a:t>
            </a:r>
          </a:p>
        </p:txBody>
      </p:sp>
      <p:sp>
        <p:nvSpPr>
          <p:cNvPr id="10" name="Rounded Rectangle 9"/>
          <p:cNvSpPr/>
          <p:nvPr/>
        </p:nvSpPr>
        <p:spPr>
          <a:xfrm>
            <a:off x="2286000" y="2468880"/>
            <a:ext cx="2926080" cy="548640"/>
          </a:xfrm>
          <a:prstGeom prst="round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defRPr>
            </a:pPr>
            <a:r>
              <a:t>Phase 1</a:t>
            </a:r>
            <a:br/>
            <a:r>
              <a:t>MVP</a:t>
            </a:r>
          </a:p>
        </p:txBody>
      </p:sp>
      <p:sp>
        <p:nvSpPr>
          <p:cNvPr id="11" name="TextBox 10"/>
          <p:cNvSpPr txBox="1"/>
          <p:nvPr/>
        </p:nvSpPr>
        <p:spPr>
          <a:xfrm>
            <a:off x="2286000" y="2194560"/>
            <a:ext cx="2926080" cy="228600"/>
          </a:xfrm>
          <a:prstGeom prst="rect">
            <a:avLst/>
          </a:prstGeom>
          <a:noFill/>
        </p:spPr>
        <p:txBody>
          <a:bodyPr wrap="square" anchor="t"/>
          <a:lstStyle/>
          <a:p>
            <a:pPr algn="ctr">
              <a:defRPr sz="900" b="0" i="0">
                <a:solidFill>
                  <a:srgbClr val="B0BEC5"/>
                </a:solidFill>
              </a:defRPr>
            </a:pPr>
            <a:r>
              <a:t>Mo 3-8</a:t>
            </a:r>
          </a:p>
        </p:txBody>
      </p:sp>
      <p:sp>
        <p:nvSpPr>
          <p:cNvPr id="12" name="TextBox 11"/>
          <p:cNvSpPr txBox="1"/>
          <p:nvPr/>
        </p:nvSpPr>
        <p:spPr>
          <a:xfrm>
            <a:off x="2286000" y="3108960"/>
            <a:ext cx="2926080" cy="548640"/>
          </a:xfrm>
          <a:prstGeom prst="rect">
            <a:avLst/>
          </a:prstGeom>
          <a:noFill/>
        </p:spPr>
        <p:txBody>
          <a:bodyPr wrap="square" anchor="t"/>
          <a:lstStyle/>
          <a:p>
            <a:pPr algn="ctr">
              <a:defRPr sz="900" b="0" i="0">
                <a:solidFill>
                  <a:srgbClr val="B0BEC5"/>
                </a:solidFill>
              </a:defRPr>
            </a:pPr>
            <a:r>
              <a:t>Edge Agent | Triggers | LP</a:t>
            </a:r>
            <a:br/>
            <a:r>
              <a:t>AI + Messaging | Dashboard</a:t>
            </a:r>
          </a:p>
        </p:txBody>
      </p:sp>
      <p:sp>
        <p:nvSpPr>
          <p:cNvPr id="13" name="Diamond 12"/>
          <p:cNvSpPr/>
          <p:nvPr/>
        </p:nvSpPr>
        <p:spPr>
          <a:xfrm>
            <a:off x="5074920" y="3703320"/>
            <a:ext cx="274320" cy="274320"/>
          </a:xfrm>
          <a:prstGeom prst="diamond">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09160" y="3977640"/>
            <a:ext cx="1097280" cy="365760"/>
          </a:xfrm>
          <a:prstGeom prst="rect">
            <a:avLst/>
          </a:prstGeom>
          <a:noFill/>
        </p:spPr>
        <p:txBody>
          <a:bodyPr wrap="square" anchor="t"/>
          <a:lstStyle/>
          <a:p>
            <a:pPr algn="ctr">
              <a:defRPr sz="800" b="1" i="0">
                <a:solidFill>
                  <a:srgbClr val="27AE60"/>
                </a:solidFill>
              </a:defRPr>
            </a:pPr>
            <a:r>
              <a:t>1 Site</a:t>
            </a:r>
            <a:br/>
            <a:r>
              <a:t>Shadow Mode</a:t>
            </a:r>
          </a:p>
        </p:txBody>
      </p:sp>
      <p:sp>
        <p:nvSpPr>
          <p:cNvPr id="15" name="Rounded Rectangle 14"/>
          <p:cNvSpPr/>
          <p:nvPr/>
        </p:nvSpPr>
        <p:spPr>
          <a:xfrm>
            <a:off x="5394960" y="2468880"/>
            <a:ext cx="2286000" cy="548640"/>
          </a:xfrm>
          <a:prstGeom prst="round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defRPr>
            </a:pPr>
            <a:r>
              <a:t>Phase 2</a:t>
            </a:r>
            <a:br/>
            <a:r>
              <a:t>Beta</a:t>
            </a:r>
          </a:p>
        </p:txBody>
      </p:sp>
      <p:sp>
        <p:nvSpPr>
          <p:cNvPr id="16" name="TextBox 15"/>
          <p:cNvSpPr txBox="1"/>
          <p:nvPr/>
        </p:nvSpPr>
        <p:spPr>
          <a:xfrm>
            <a:off x="5394960" y="2194560"/>
            <a:ext cx="2286000" cy="228600"/>
          </a:xfrm>
          <a:prstGeom prst="rect">
            <a:avLst/>
          </a:prstGeom>
          <a:noFill/>
        </p:spPr>
        <p:txBody>
          <a:bodyPr wrap="square" anchor="t"/>
          <a:lstStyle/>
          <a:p>
            <a:pPr algn="ctr">
              <a:defRPr sz="900" b="0" i="0">
                <a:solidFill>
                  <a:srgbClr val="B0BEC5"/>
                </a:solidFill>
              </a:defRPr>
            </a:pPr>
            <a:r>
              <a:t>Mo 9-14</a:t>
            </a:r>
          </a:p>
        </p:txBody>
      </p:sp>
      <p:sp>
        <p:nvSpPr>
          <p:cNvPr id="17" name="TextBox 16"/>
          <p:cNvSpPr txBox="1"/>
          <p:nvPr/>
        </p:nvSpPr>
        <p:spPr>
          <a:xfrm>
            <a:off x="5394960" y="3108960"/>
            <a:ext cx="2286000" cy="548640"/>
          </a:xfrm>
          <a:prstGeom prst="rect">
            <a:avLst/>
          </a:prstGeom>
          <a:noFill/>
        </p:spPr>
        <p:txBody>
          <a:bodyPr wrap="square" anchor="t"/>
          <a:lstStyle/>
          <a:p>
            <a:pPr algn="ctr">
              <a:defRPr sz="900" b="0" i="0">
                <a:solidFill>
                  <a:srgbClr val="B0BEC5"/>
                </a:solidFill>
              </a:defRPr>
            </a:pPr>
            <a:r>
              <a:t>Active Mode | Analytics</a:t>
            </a:r>
            <a:br/>
            <a:r>
              <a:t>3-5 Sites | Case Study</a:t>
            </a:r>
          </a:p>
        </p:txBody>
      </p:sp>
      <p:sp>
        <p:nvSpPr>
          <p:cNvPr id="18" name="Diamond 17"/>
          <p:cNvSpPr/>
          <p:nvPr/>
        </p:nvSpPr>
        <p:spPr>
          <a:xfrm>
            <a:off x="7543800" y="3703320"/>
            <a:ext cx="274320" cy="274320"/>
          </a:xfrm>
          <a:prstGeom prst="diamond">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78040" y="3977640"/>
            <a:ext cx="1097280" cy="365760"/>
          </a:xfrm>
          <a:prstGeom prst="rect">
            <a:avLst/>
          </a:prstGeom>
          <a:noFill/>
        </p:spPr>
        <p:txBody>
          <a:bodyPr wrap="square" anchor="t"/>
          <a:lstStyle/>
          <a:p>
            <a:pPr algn="ctr">
              <a:defRPr sz="800" b="1" i="0">
                <a:solidFill>
                  <a:srgbClr val="3498DB"/>
                </a:solidFill>
              </a:defRPr>
            </a:pPr>
            <a:r>
              <a:t>ROI Proven</a:t>
            </a:r>
            <a:br/>
            <a:r>
              <a:t>$500K+</a:t>
            </a:r>
          </a:p>
        </p:txBody>
      </p:sp>
      <p:sp>
        <p:nvSpPr>
          <p:cNvPr id="20" name="Rounded Rectangle 19"/>
          <p:cNvSpPr/>
          <p:nvPr/>
        </p:nvSpPr>
        <p:spPr>
          <a:xfrm>
            <a:off x="7863840" y="2468880"/>
            <a:ext cx="3200400" cy="548640"/>
          </a:xfrm>
          <a:prstGeom prst="round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defRPr>
            </a:pPr>
            <a:r>
              <a:t>Phase 3</a:t>
            </a:r>
            <a:br/>
            <a:r>
              <a:t>GA</a:t>
            </a:r>
          </a:p>
        </p:txBody>
      </p:sp>
      <p:sp>
        <p:nvSpPr>
          <p:cNvPr id="21" name="TextBox 20"/>
          <p:cNvSpPr txBox="1"/>
          <p:nvPr/>
        </p:nvSpPr>
        <p:spPr>
          <a:xfrm>
            <a:off x="7863840" y="2194560"/>
            <a:ext cx="3200400" cy="228600"/>
          </a:xfrm>
          <a:prstGeom prst="rect">
            <a:avLst/>
          </a:prstGeom>
          <a:noFill/>
        </p:spPr>
        <p:txBody>
          <a:bodyPr wrap="square" anchor="t"/>
          <a:lstStyle/>
          <a:p>
            <a:pPr algn="ctr">
              <a:defRPr sz="900" b="0" i="0">
                <a:solidFill>
                  <a:srgbClr val="B0BEC5"/>
                </a:solidFill>
              </a:defRPr>
            </a:pPr>
            <a:r>
              <a:t>Mo 15-24</a:t>
            </a:r>
          </a:p>
        </p:txBody>
      </p:sp>
      <p:sp>
        <p:nvSpPr>
          <p:cNvPr id="22" name="TextBox 21"/>
          <p:cNvSpPr txBox="1"/>
          <p:nvPr/>
        </p:nvSpPr>
        <p:spPr>
          <a:xfrm>
            <a:off x="7863840" y="3108960"/>
            <a:ext cx="3200400" cy="548640"/>
          </a:xfrm>
          <a:prstGeom prst="rect">
            <a:avLst/>
          </a:prstGeom>
          <a:noFill/>
        </p:spPr>
        <p:txBody>
          <a:bodyPr wrap="square" anchor="t"/>
          <a:lstStyle/>
          <a:p>
            <a:pPr algn="ctr">
              <a:defRPr sz="900" b="0" i="0">
                <a:solidFill>
                  <a:srgbClr val="B0BEC5"/>
                </a:solidFill>
              </a:defRPr>
            </a:pPr>
            <a:r>
              <a:t>SOC 2 | Multi-Site</a:t>
            </a:r>
            <a:br/>
            <a:r>
              <a:t>LP Migration | 8-12 Sites</a:t>
            </a:r>
          </a:p>
        </p:txBody>
      </p:sp>
      <p:sp>
        <p:nvSpPr>
          <p:cNvPr id="23" name="Diamond 22"/>
          <p:cNvSpPr/>
          <p:nvPr/>
        </p:nvSpPr>
        <p:spPr>
          <a:xfrm>
            <a:off x="10927080" y="3703320"/>
            <a:ext cx="274320" cy="274320"/>
          </a:xfrm>
          <a:prstGeom prst="diamond">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561320" y="3977640"/>
            <a:ext cx="1097280" cy="365760"/>
          </a:xfrm>
          <a:prstGeom prst="rect">
            <a:avLst/>
          </a:prstGeom>
          <a:noFill/>
        </p:spPr>
        <p:txBody>
          <a:bodyPr wrap="square" anchor="t"/>
          <a:lstStyle/>
          <a:p>
            <a:pPr algn="ctr">
              <a:defRPr sz="800" b="1" i="0">
                <a:solidFill>
                  <a:srgbClr val="9B59B6"/>
                </a:solidFill>
              </a:defRPr>
            </a:pPr>
            <a:r>
              <a:t>$600K-$1.5M</a:t>
            </a:r>
            <a:br/>
            <a:r>
              <a:t>ARR</a:t>
            </a:r>
          </a:p>
        </p:txBody>
      </p:sp>
      <p:sp>
        <p:nvSpPr>
          <p:cNvPr id="25" name="TextBox 24"/>
          <p:cNvSpPr txBox="1"/>
          <p:nvPr/>
        </p:nvSpPr>
        <p:spPr>
          <a:xfrm>
            <a:off x="274320" y="1645920"/>
            <a:ext cx="1828800" cy="274320"/>
          </a:xfrm>
          <a:prstGeom prst="rect">
            <a:avLst/>
          </a:prstGeom>
          <a:noFill/>
        </p:spPr>
        <p:txBody>
          <a:bodyPr wrap="square" anchor="t"/>
          <a:lstStyle/>
          <a:p>
            <a:pPr algn="ctr">
              <a:defRPr sz="1200" b="1" i="0">
                <a:solidFill>
                  <a:srgbClr val="C0392B"/>
                </a:solidFill>
              </a:defRPr>
            </a:pPr>
            <a:r>
              <a:t>YOU ARE HERE</a:t>
            </a:r>
          </a:p>
        </p:txBody>
      </p:sp>
      <p:sp>
        <p:nvSpPr>
          <p:cNvPr id="26" name="Right Arrow 25"/>
          <p:cNvSpPr/>
          <p:nvPr/>
        </p:nvSpPr>
        <p:spPr>
          <a:xfrm>
            <a:off x="640080" y="1920240"/>
            <a:ext cx="457200" cy="182880"/>
          </a:xfrm>
          <a:prstGeom prst="rightArrow">
            <a:avLst/>
          </a:prstGeom>
          <a:solidFill>
            <a:srgbClr val="B0BE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5303520"/>
            <a:ext cx="2743200" cy="228600"/>
          </a:xfrm>
          <a:prstGeom prst="rect">
            <a:avLst/>
          </a:prstGeom>
          <a:noFill/>
        </p:spPr>
        <p:txBody>
          <a:bodyPr wrap="square" anchor="t"/>
          <a:lstStyle/>
          <a:p>
            <a:pPr algn="ctr">
              <a:defRPr sz="900" b="0" i="0">
                <a:solidFill>
                  <a:srgbClr val="B0BEC5"/>
                </a:solidFill>
              </a:defRPr>
            </a:pPr>
            <a:r>
              <a:t>2-3 engineers</a:t>
            </a:r>
          </a:p>
        </p:txBody>
      </p:sp>
      <p:sp>
        <p:nvSpPr>
          <p:cNvPr id="28" name="TextBox 27"/>
          <p:cNvSpPr txBox="1"/>
          <p:nvPr/>
        </p:nvSpPr>
        <p:spPr>
          <a:xfrm>
            <a:off x="5394960" y="5303520"/>
            <a:ext cx="2286000" cy="228600"/>
          </a:xfrm>
          <a:prstGeom prst="rect">
            <a:avLst/>
          </a:prstGeom>
          <a:noFill/>
        </p:spPr>
        <p:txBody>
          <a:bodyPr wrap="square" anchor="t"/>
          <a:lstStyle/>
          <a:p>
            <a:pPr algn="ctr">
              <a:defRPr sz="900" b="0" i="0">
                <a:solidFill>
                  <a:srgbClr val="B0BEC5"/>
                </a:solidFill>
              </a:defRPr>
            </a:pPr>
            <a:r>
              <a:t>3-4 engineers</a:t>
            </a:r>
          </a:p>
        </p:txBody>
      </p:sp>
      <p:sp>
        <p:nvSpPr>
          <p:cNvPr id="29" name="TextBox 28"/>
          <p:cNvSpPr txBox="1"/>
          <p:nvPr/>
        </p:nvSpPr>
        <p:spPr>
          <a:xfrm>
            <a:off x="7863840" y="5303520"/>
            <a:ext cx="3200400" cy="228600"/>
          </a:xfrm>
          <a:prstGeom prst="rect">
            <a:avLst/>
          </a:prstGeom>
          <a:noFill/>
        </p:spPr>
        <p:txBody>
          <a:bodyPr wrap="square" anchor="t"/>
          <a:lstStyle/>
          <a:p>
            <a:pPr algn="ctr">
              <a:defRPr sz="900" b="0" i="0">
                <a:solidFill>
                  <a:srgbClr val="B0BEC5"/>
                </a:solidFill>
              </a:defRPr>
            </a:pPr>
            <a:r>
              <a:t>4-6 engineers + 1 CS</a:t>
            </a:r>
          </a:p>
        </p:txBody>
      </p:sp>
      <p:sp>
        <p:nvSpPr>
          <p:cNvPr id="30" name="TextBox 29"/>
          <p:cNvSpPr txBox="1"/>
          <p:nvPr/>
        </p:nvSpPr>
        <p:spPr>
          <a:xfrm>
            <a:off x="11505895" y="6492240"/>
            <a:ext cx="457200" cy="274320"/>
          </a:xfrm>
          <a:prstGeom prst="rect">
            <a:avLst/>
          </a:prstGeom>
          <a:noFill/>
        </p:spPr>
        <p:txBody>
          <a:bodyPr wrap="square" anchor="t"/>
          <a:lstStyle/>
          <a:p>
            <a:pPr algn="r">
              <a:defRPr sz="1000" b="0" i="0">
                <a:solidFill>
                  <a:srgbClr val="B0BEC5"/>
                </a:solidFill>
              </a:defRPr>
            </a:pPr>
            <a:r>
              <a:t>41</a:t>
            </a:r>
          </a:p>
        </p:txBody>
      </p:sp>
      <p:sp>
        <p:nvSpPr>
          <p:cNvPr id="31" name="TextBox 30"/>
          <p:cNvSpPr txBox="1"/>
          <p:nvPr/>
        </p:nvSpPr>
        <p:spPr>
          <a:xfrm>
            <a:off x="685800" y="6400800"/>
            <a:ext cx="3657600" cy="274320"/>
          </a:xfrm>
          <a:prstGeom prst="rect">
            <a:avLst/>
          </a:prstGeom>
          <a:noFill/>
        </p:spPr>
        <p:txBody>
          <a:bodyPr wrap="square" anchor="t"/>
          <a:lstStyle/>
          <a:p>
            <a:pPr algn="l">
              <a:defRPr sz="1200" b="0" i="1">
                <a:solidFill>
                  <a:srgbClr val="78909C"/>
                </a:solidFill>
              </a:defRPr>
            </a:pPr>
            <a:r>
              <a:t>Deep dive: docs/architecture-diagrams.md</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243B5E"/>
        </a:solidFill>
        <a:effectLst/>
      </p:bgPr>
    </p:bg>
    <p:spTree>
      <p:nvGrpSpPr>
        <p:cNvPr id="1" name=""/>
        <p:cNvGrpSpPr/>
        <p:nvPr/>
      </p:nvGrpSpPr>
      <p:grpSpPr/>
      <p:sp>
        <p:nvSpPr>
          <p:cNvPr id="2" name="TextBox 1"/>
          <p:cNvSpPr txBox="1"/>
          <p:nvPr/>
        </p:nvSpPr>
        <p:spPr>
          <a:xfrm>
            <a:off x="914400" y="2286000"/>
            <a:ext cx="10362895" cy="914400"/>
          </a:xfrm>
          <a:prstGeom prst="rect">
            <a:avLst/>
          </a:prstGeom>
          <a:noFill/>
        </p:spPr>
        <p:txBody>
          <a:bodyPr wrap="square" anchor="ctr"/>
          <a:lstStyle/>
          <a:p>
            <a:pPr algn="ctr">
              <a:defRPr sz="3200" b="1" i="0">
                <a:solidFill>
                  <a:srgbClr val="D4A843"/>
                </a:solidFill>
              </a:defRPr>
            </a:pPr>
            <a:r>
              <a:t>Key Architecture Decisions</a:t>
            </a:r>
          </a:p>
        </p:txBody>
      </p:sp>
      <p:sp>
        <p:nvSpPr>
          <p:cNvPr id="3" name="TextBox 2"/>
          <p:cNvSpPr txBox="1"/>
          <p:nvPr/>
        </p:nvSpPr>
        <p:spPr>
          <a:xfrm>
            <a:off x="914400" y="3383280"/>
            <a:ext cx="10362895" cy="548640"/>
          </a:xfrm>
          <a:prstGeom prst="rect">
            <a:avLst/>
          </a:prstGeom>
          <a:noFill/>
        </p:spPr>
        <p:txBody>
          <a:bodyPr wrap="square" anchor="t"/>
          <a:lstStyle/>
          <a:p>
            <a:pPr algn="ctr">
              <a:defRPr sz="2000" b="0" i="0">
                <a:solidFill>
                  <a:srgbClr val="B0BEC5"/>
                </a:solidFill>
              </a:defRPr>
            </a:pPr>
            <a:r>
              <a:t>What we chose and why</a:t>
            </a:r>
          </a:p>
        </p:txBody>
      </p:sp>
      <p:sp>
        <p:nvSpPr>
          <p:cNvPr id="4" name="TextBox 3"/>
          <p:cNvSpPr txBox="1"/>
          <p:nvPr/>
        </p:nvSpPr>
        <p:spPr>
          <a:xfrm>
            <a:off x="11505895" y="6492240"/>
            <a:ext cx="457200" cy="274320"/>
          </a:xfrm>
          <a:prstGeom prst="rect">
            <a:avLst/>
          </a:prstGeom>
          <a:noFill/>
        </p:spPr>
        <p:txBody>
          <a:bodyPr wrap="square" anchor="t"/>
          <a:lstStyle/>
          <a:p>
            <a:pPr algn="r">
              <a:defRPr sz="1000" b="0" i="0">
                <a:solidFill>
                  <a:srgbClr val="B0BEC5"/>
                </a:solidFill>
              </a:defRPr>
            </a:pPr>
            <a: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685800" y="365760"/>
            <a:ext cx="10820095" cy="640080"/>
          </a:xfrm>
          <a:prstGeom prst="rect">
            <a:avLst/>
          </a:prstGeom>
          <a:noFill/>
        </p:spPr>
        <p:txBody>
          <a:bodyPr wrap="square" anchor="t"/>
          <a:lstStyle/>
          <a:p>
            <a:pPr algn="l">
              <a:defRPr sz="2800" b="1" i="0">
                <a:solidFill>
                  <a:srgbClr val="FFFFFF"/>
                </a:solidFill>
              </a:defRPr>
            </a:pPr>
            <a:r>
              <a:t>Infrastructure Decisions</a:t>
            </a:r>
          </a:p>
        </p:txBody>
      </p:sp>
      <p:sp>
        <p:nvSpPr>
          <p:cNvPr id="3" name="TextBox 2"/>
          <p:cNvSpPr txBox="1"/>
          <p:nvPr/>
        </p:nvSpPr>
        <p:spPr>
          <a:xfrm>
            <a:off x="685800" y="1005840"/>
            <a:ext cx="10820095" cy="457200"/>
          </a:xfrm>
          <a:prstGeom prst="rect">
            <a:avLst/>
          </a:prstGeom>
          <a:noFill/>
        </p:spPr>
        <p:txBody>
          <a:bodyPr wrap="square" anchor="t"/>
          <a:lstStyle/>
          <a:p>
            <a:pPr algn="l">
              <a:defRPr sz="2000" b="0" i="0">
                <a:solidFill>
                  <a:srgbClr val="B0BEC5"/>
                </a:solidFill>
              </a:defRPr>
            </a:pPr>
            <a:r>
              <a:t>Cloud, compute, edge, and storage</a:t>
            </a:r>
          </a:p>
        </p:txBody>
      </p:sp>
      <p:graphicFrame>
        <p:nvGraphicFramePr>
          <p:cNvPr id="4" name="Table 3"/>
          <p:cNvGraphicFramePr>
            <a:graphicFrameLocks noGrp="1"/>
          </p:cNvGraphicFramePr>
          <p:nvPr/>
        </p:nvGraphicFramePr>
        <p:xfrm>
          <a:off x="685800" y="1737360"/>
          <a:ext cx="10820095" cy="2514600"/>
        </p:xfrm>
        <a:graphic>
          <a:graphicData uri="http://schemas.openxmlformats.org/drawingml/2006/table">
            <a:tbl>
              <a:tblPr firstRow="1" bandRow="1">
                <a:tableStyleId>{5C22544A-7EE6-4342-B048-85BDC9FD1C3A}</a:tableStyleId>
              </a:tblPr>
              <a:tblGrid>
                <a:gridCol w="2705023"/>
                <a:gridCol w="2705023"/>
                <a:gridCol w="2705023"/>
                <a:gridCol w="2705026"/>
              </a:tblGrid>
              <a:tr h="502920">
                <a:tc>
                  <a:txBody>
                    <a:bodyPr/>
                    <a:lstStyle/>
                    <a:p>
                      <a:pPr>
                        <a:defRPr sz="1400" b="1">
                          <a:solidFill>
                            <a:srgbClr val="D4A843"/>
                          </a:solidFill>
                        </a:defRPr>
                      </a:pPr>
                      <a:r>
                        <a:t>Decision</a:t>
                      </a:r>
                    </a:p>
                  </a:txBody>
                  <a:tcPr>
                    <a:solidFill>
                      <a:srgbClr val="15223A"/>
                    </a:solidFill>
                  </a:tcPr>
                </a:tc>
                <a:tc>
                  <a:txBody>
                    <a:bodyPr/>
                    <a:lstStyle/>
                    <a:p>
                      <a:pPr>
                        <a:defRPr sz="1400" b="1">
                          <a:solidFill>
                            <a:srgbClr val="D4A843"/>
                          </a:solidFill>
                        </a:defRPr>
                      </a:pPr>
                      <a:r>
                        <a:t>What We Chose</a:t>
                      </a:r>
                    </a:p>
                  </a:txBody>
                  <a:tcPr>
                    <a:solidFill>
                      <a:srgbClr val="15223A"/>
                    </a:solidFill>
                  </a:tcPr>
                </a:tc>
                <a:tc>
                  <a:txBody>
                    <a:bodyPr/>
                    <a:lstStyle/>
                    <a:p>
                      <a:pPr>
                        <a:defRPr sz="1400" b="1">
                          <a:solidFill>
                            <a:srgbClr val="D4A843"/>
                          </a:solidFill>
                        </a:defRPr>
                      </a:pPr>
                      <a:r>
                        <a:t>Key Reason</a:t>
                      </a:r>
                    </a:p>
                  </a:txBody>
                  <a:tcPr>
                    <a:solidFill>
                      <a:srgbClr val="15223A"/>
                    </a:solidFill>
                  </a:tcPr>
                </a:tc>
                <a:tc>
                  <a:txBody>
                    <a:bodyPr/>
                    <a:lstStyle/>
                    <a:p>
                      <a:pPr>
                        <a:defRPr sz="1400" b="1">
                          <a:solidFill>
                            <a:srgbClr val="D4A843"/>
                          </a:solidFill>
                        </a:defRPr>
                      </a:pPr>
                      <a:r>
                        <a:t>Risk It Addresses</a:t>
                      </a:r>
                    </a:p>
                  </a:txBody>
                  <a:tcPr>
                    <a:solidFill>
                      <a:srgbClr val="15223A"/>
                    </a:solidFill>
                  </a:tcPr>
                </a:tc>
              </a:tr>
              <a:tr h="502920">
                <a:tc>
                  <a:txBody>
                    <a:bodyPr/>
                    <a:lstStyle/>
                    <a:p>
                      <a:pPr>
                        <a:defRPr sz="1200">
                          <a:solidFill>
                            <a:srgbClr val="FFFFFF"/>
                          </a:solidFill>
                        </a:defRPr>
                      </a:pPr>
                      <a:r>
                        <a:t>Cloud Platform</a:t>
                      </a:r>
                    </a:p>
                  </a:txBody>
                  <a:tcPr>
                    <a:solidFill>
                      <a:srgbClr val="1B2A4A"/>
                    </a:solidFill>
                  </a:tcPr>
                </a:tc>
                <a:tc>
                  <a:txBody>
                    <a:bodyPr/>
                    <a:lstStyle/>
                    <a:p>
                      <a:pPr>
                        <a:defRPr sz="1200">
                          <a:solidFill>
                            <a:srgbClr val="FFFFFF"/>
                          </a:solidFill>
                        </a:defRPr>
                      </a:pPr>
                      <a:r>
                        <a:t>Azure-primary with cloud-agnostic services</a:t>
                      </a:r>
                    </a:p>
                  </a:txBody>
                  <a:tcPr>
                    <a:solidFill>
                      <a:srgbClr val="1B2A4A"/>
                    </a:solidFill>
                  </a:tcPr>
                </a:tc>
                <a:tc>
                  <a:txBody>
                    <a:bodyPr/>
                    <a:lstStyle/>
                    <a:p>
                      <a:pPr>
                        <a:defRPr sz="1200">
                          <a:solidFill>
                            <a:srgbClr val="FFFFFF"/>
                          </a:solidFill>
                        </a:defRPr>
                      </a:pPr>
                      <a:r>
                        <a:t>Azure IoT Edge has first-party OPC-UA; PI Integrator is official AVEVA product; refineries are Microsoft 365 shops; $100/yr student credits + up to $150K via MS for Startups</a:t>
                      </a:r>
                    </a:p>
                  </a:txBody>
                  <a:tcPr>
                    <a:solidFill>
                      <a:srgbClr val="1B2A4A"/>
                    </a:solidFill>
                  </a:tcPr>
                </a:tc>
                <a:tc>
                  <a:txBody>
                    <a:bodyPr/>
                    <a:lstStyle/>
                    <a:p>
                      <a:pPr>
                        <a:defRPr sz="1200">
                          <a:solidFill>
                            <a:srgbClr val="FFFFFF"/>
                          </a:solidFill>
                        </a:defRPr>
                      </a:pPr>
                      <a:r>
                        <a:t>Vendor lock-in mitigated by using TimescaleDB (not Cosmos), Claude direct (not Azure OpenAI)</a:t>
                      </a:r>
                    </a:p>
                  </a:txBody>
                  <a:tcPr>
                    <a:solidFill>
                      <a:srgbClr val="1B2A4A"/>
                    </a:solidFill>
                  </a:tcPr>
                </a:tc>
              </a:tr>
              <a:tr h="502920">
                <a:tc>
                  <a:txBody>
                    <a:bodyPr/>
                    <a:lstStyle/>
                    <a:p>
                      <a:pPr>
                        <a:defRPr sz="1200">
                          <a:solidFill>
                            <a:srgbClr val="FFFFFF"/>
                          </a:solidFill>
                        </a:defRPr>
                      </a:pPr>
                      <a:r>
                        <a:t>Architecture Pattern</a:t>
                      </a:r>
                    </a:p>
                  </a:txBody>
                  <a:tcPr>
                    <a:solidFill>
                      <a:srgbClr val="223656"/>
                    </a:solidFill>
                  </a:tcPr>
                </a:tc>
                <a:tc>
                  <a:txBody>
                    <a:bodyPr/>
                    <a:lstStyle/>
                    <a:p>
                      <a:pPr>
                        <a:defRPr sz="1200">
                          <a:solidFill>
                            <a:srgbClr val="FFFFFF"/>
                          </a:solidFill>
                        </a:defRPr>
                      </a:pPr>
                      <a:r>
                        <a:t>Modular monolith (Python/FastAPI) with one external Windows LP Worker</a:t>
                      </a:r>
                    </a:p>
                  </a:txBody>
                  <a:tcPr>
                    <a:solidFill>
                      <a:srgbClr val="223656"/>
                    </a:solidFill>
                  </a:tcPr>
                </a:tc>
                <a:tc>
                  <a:txBody>
                    <a:bodyPr/>
                    <a:lstStyle/>
                    <a:p>
                      <a:pPr>
                        <a:defRPr sz="1200">
                          <a:solidFill>
                            <a:srgbClr val="FFFFFF"/>
                          </a:solidFill>
                        </a:defRPr>
                      </a:pPr>
                      <a:r>
                        <a:t>Team of 3-5 students cannot manage N microservices x (logging + monitoring + deployment + versioning); clean module boundaries allow extraction later</a:t>
                      </a:r>
                    </a:p>
                  </a:txBody>
                  <a:tcPr>
                    <a:solidFill>
                      <a:srgbClr val="223656"/>
                    </a:solidFill>
                  </a:tcPr>
                </a:tc>
                <a:tc>
                  <a:txBody>
                    <a:bodyPr/>
                    <a:lstStyle/>
                    <a:p>
                      <a:pPr>
                        <a:defRPr sz="1200">
                          <a:solidFill>
                            <a:srgbClr val="FFFFFF"/>
                          </a:solidFill>
                        </a:defRPr>
                      </a:pPr>
                      <a:r>
                        <a:t>Operational complexity kills student teams; monolith is a feature not a bug at this scale</a:t>
                      </a:r>
                    </a:p>
                  </a:txBody>
                  <a:tcPr>
                    <a:solidFill>
                      <a:srgbClr val="223656"/>
                    </a:solidFill>
                  </a:tcPr>
                </a:tc>
              </a:tr>
              <a:tr h="502920">
                <a:tc>
                  <a:txBody>
                    <a:bodyPr/>
                    <a:lstStyle/>
                    <a:p>
                      <a:pPr>
                        <a:defRPr sz="1200">
                          <a:solidFill>
                            <a:srgbClr val="FFFFFF"/>
                          </a:solidFill>
                        </a:defRPr>
                      </a:pPr>
                      <a:r>
                        <a:t>Edge Deployment</a:t>
                      </a:r>
                    </a:p>
                  </a:txBody>
                  <a:tcPr>
                    <a:solidFill>
                      <a:srgbClr val="1B2A4A"/>
                    </a:solidFill>
                  </a:tcPr>
                </a:tc>
                <a:tc>
                  <a:txBody>
                    <a:bodyPr/>
                    <a:lstStyle/>
                    <a:p>
                      <a:pPr>
                        <a:defRPr sz="1200">
                          <a:solidFill>
                            <a:srgbClr val="FFFFFF"/>
                          </a:solidFill>
                        </a:defRPr>
                      </a:pPr>
                      <a:r>
                        <a:t>Lightweight Python Docker (~60MB) + SQLite buffer, NOT Azure IoT Edge</a:t>
                      </a:r>
                    </a:p>
                  </a:txBody>
                  <a:tcPr>
                    <a:solidFill>
                      <a:srgbClr val="1B2A4A"/>
                    </a:solidFill>
                  </a:tcPr>
                </a:tc>
                <a:tc>
                  <a:txBody>
                    <a:bodyPr/>
                    <a:lstStyle/>
                    <a:p>
                      <a:pPr>
                        <a:defRPr sz="1200">
                          <a:solidFill>
                            <a:srgbClr val="FFFFFF"/>
                          </a:solidFill>
                        </a:defRPr>
                      </a:pPr>
                      <a:r>
                        <a:t>IoT Edge adds significant complexity for single-site pilot; core data flow doesn't need module orchestration; IoT Edge becomes the Phase 3+ migration target</a:t>
                      </a:r>
                    </a:p>
                  </a:txBody>
                  <a:tcPr>
                    <a:solidFill>
                      <a:srgbClr val="1B2A4A"/>
                    </a:solidFill>
                  </a:tcPr>
                </a:tc>
                <a:tc>
                  <a:txBody>
                    <a:bodyPr/>
                    <a:lstStyle/>
                    <a:p>
                      <a:pPr>
                        <a:defRPr sz="1200">
                          <a:solidFill>
                            <a:srgbClr val="FFFFFF"/>
                          </a:solidFill>
                        </a:defRPr>
                      </a:pPr>
                      <a:r>
                        <a:t>Over-engineering at MVP stage delays time-to-pilot</a:t>
                      </a:r>
                    </a:p>
                  </a:txBody>
                  <a:tcPr>
                    <a:solidFill>
                      <a:srgbClr val="1B2A4A"/>
                    </a:solidFill>
                  </a:tcPr>
                </a:tc>
              </a:tr>
              <a:tr h="502920">
                <a:tc>
                  <a:txBody>
                    <a:bodyPr/>
                    <a:lstStyle/>
                    <a:p>
                      <a:pPr>
                        <a:defRPr sz="1200">
                          <a:solidFill>
                            <a:srgbClr val="FFFFFF"/>
                          </a:solidFill>
                        </a:defRPr>
                      </a:pPr>
                      <a:r>
                        <a:t>Database</a:t>
                      </a:r>
                    </a:p>
                  </a:txBody>
                  <a:tcPr>
                    <a:solidFill>
                      <a:srgbClr val="223656"/>
                    </a:solidFill>
                  </a:tcPr>
                </a:tc>
                <a:tc>
                  <a:txBody>
                    <a:bodyPr/>
                    <a:lstStyle/>
                    <a:p>
                      <a:pPr>
                        <a:defRPr sz="1200">
                          <a:solidFill>
                            <a:srgbClr val="FFFFFF"/>
                          </a:solidFill>
                        </a:defRPr>
                      </a:pPr>
                      <a:r>
                        <a:t>Single PostgreSQL 16 + TimescaleDB for ALL relational + time-series data</a:t>
                      </a:r>
                    </a:p>
                  </a:txBody>
                  <a:tcPr>
                    <a:solidFill>
                      <a:srgbClr val="223656"/>
                    </a:solidFill>
                  </a:tcPr>
                </a:tc>
                <a:tc>
                  <a:txBody>
                    <a:bodyPr/>
                    <a:lstStyle/>
                    <a:p>
                      <a:pPr>
                        <a:defRPr sz="1200">
                          <a:solidFill>
                            <a:srgbClr val="FFFFFF"/>
                          </a:solidFill>
                        </a:defRPr>
                      </a:pPr>
                      <a:r>
                        <a:t>One DB instead of two; full SQL JOINs between time-series and relational; standard PostgreSQL SQL; Azure student credits cover hosting</a:t>
                      </a:r>
                    </a:p>
                  </a:txBody>
                  <a:tcPr>
                    <a:solidFill>
                      <a:srgbClr val="223656"/>
                    </a:solidFill>
                  </a:tcPr>
                </a:tc>
                <a:tc>
                  <a:txBody>
                    <a:bodyPr/>
                    <a:lstStyle/>
                    <a:p>
                      <a:pPr>
                        <a:defRPr sz="1200">
                          <a:solidFill>
                            <a:srgbClr val="FFFFFF"/>
                          </a:solidFill>
                        </a:defRPr>
                      </a:pPr>
                      <a:r>
                        <a:t>InfluxDB would mean separate DB to manage with no JOINs — rejected in conflict resolution</a:t>
                      </a:r>
                    </a:p>
                  </a:txBody>
                  <a:tcPr>
                    <a:solidFill>
                      <a:srgbClr val="223656"/>
                    </a:solidFill>
                  </a:tcPr>
                </a:tc>
              </a:tr>
            </a:tbl>
          </a:graphicData>
        </a:graphic>
      </p:graphicFrame>
      <p:sp>
        <p:nvSpPr>
          <p:cNvPr id="5" name="TextBox 4"/>
          <p:cNvSpPr txBox="1"/>
          <p:nvPr/>
        </p:nvSpPr>
        <p:spPr>
          <a:xfrm>
            <a:off x="11505895" y="6492240"/>
            <a:ext cx="457200" cy="274320"/>
          </a:xfrm>
          <a:prstGeom prst="rect">
            <a:avLst/>
          </a:prstGeom>
          <a:noFill/>
        </p:spPr>
        <p:txBody>
          <a:bodyPr wrap="square" anchor="t"/>
          <a:lstStyle/>
          <a:p>
            <a:pPr algn="r">
              <a:defRPr sz="1000" b="0" i="0">
                <a:solidFill>
                  <a:srgbClr val="B0BEC5"/>
                </a:solidFill>
              </a:defRPr>
            </a:pPr>
            <a:r>
              <a:t>43</a:t>
            </a:r>
          </a:p>
        </p:txBody>
      </p:sp>
      <p:sp>
        <p:nvSpPr>
          <p:cNvPr id="6" name="TextBox 5"/>
          <p:cNvSpPr txBox="1"/>
          <p:nvPr/>
        </p:nvSpPr>
        <p:spPr>
          <a:xfrm>
            <a:off x="685800" y="6400800"/>
            <a:ext cx="3657600" cy="274320"/>
          </a:xfrm>
          <a:prstGeom prst="rect">
            <a:avLst/>
          </a:prstGeom>
          <a:noFill/>
        </p:spPr>
        <p:txBody>
          <a:bodyPr wrap="square" anchor="t"/>
          <a:lstStyle/>
          <a:p>
            <a:pPr algn="l">
              <a:defRPr sz="1200" b="0" i="1">
                <a:solidFill>
                  <a:srgbClr val="78909C"/>
                </a:solidFill>
              </a:defRPr>
            </a:pPr>
            <a:r>
              <a:t>Deep dive: ENGINEERING-SPEC.md</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685800" y="365760"/>
            <a:ext cx="10820095" cy="640080"/>
          </a:xfrm>
          <a:prstGeom prst="rect">
            <a:avLst/>
          </a:prstGeom>
          <a:noFill/>
        </p:spPr>
        <p:txBody>
          <a:bodyPr wrap="square" anchor="t"/>
          <a:lstStyle/>
          <a:p>
            <a:pPr algn="l">
              <a:defRPr sz="2800" b="1" i="0">
                <a:solidFill>
                  <a:srgbClr val="FFFFFF"/>
                </a:solidFill>
              </a:defRPr>
            </a:pPr>
            <a:r>
              <a:t>Data &amp; Integration Decisions</a:t>
            </a:r>
          </a:p>
        </p:txBody>
      </p:sp>
      <p:sp>
        <p:nvSpPr>
          <p:cNvPr id="3" name="TextBox 2"/>
          <p:cNvSpPr txBox="1"/>
          <p:nvPr/>
        </p:nvSpPr>
        <p:spPr>
          <a:xfrm>
            <a:off x="685800" y="1005840"/>
            <a:ext cx="10820095" cy="457200"/>
          </a:xfrm>
          <a:prstGeom prst="rect">
            <a:avLst/>
          </a:prstGeom>
          <a:noFill/>
        </p:spPr>
        <p:txBody>
          <a:bodyPr wrap="square" anchor="t"/>
          <a:lstStyle/>
          <a:p>
            <a:pPr algn="l">
              <a:defRPr sz="2000" b="0" i="0">
                <a:solidFill>
                  <a:srgbClr val="B0BEC5"/>
                </a:solidFill>
              </a:defRPr>
            </a:pPr>
            <a:r>
              <a:t>How we connect to refinery systems</a:t>
            </a:r>
          </a:p>
        </p:txBody>
      </p:sp>
      <p:graphicFrame>
        <p:nvGraphicFramePr>
          <p:cNvPr id="4" name="Table 3"/>
          <p:cNvGraphicFramePr>
            <a:graphicFrameLocks noGrp="1"/>
          </p:cNvGraphicFramePr>
          <p:nvPr/>
        </p:nvGraphicFramePr>
        <p:xfrm>
          <a:off x="685800" y="1737360"/>
          <a:ext cx="10820095" cy="2514600"/>
        </p:xfrm>
        <a:graphic>
          <a:graphicData uri="http://schemas.openxmlformats.org/drawingml/2006/table">
            <a:tbl>
              <a:tblPr firstRow="1" bandRow="1">
                <a:tableStyleId>{5C22544A-7EE6-4342-B048-85BDC9FD1C3A}</a:tableStyleId>
              </a:tblPr>
              <a:tblGrid>
                <a:gridCol w="2705023"/>
                <a:gridCol w="2705023"/>
                <a:gridCol w="2705023"/>
                <a:gridCol w="2705026"/>
              </a:tblGrid>
              <a:tr h="502920">
                <a:tc>
                  <a:txBody>
                    <a:bodyPr/>
                    <a:lstStyle/>
                    <a:p>
                      <a:pPr>
                        <a:defRPr sz="1400" b="1">
                          <a:solidFill>
                            <a:srgbClr val="D4A843"/>
                          </a:solidFill>
                        </a:defRPr>
                      </a:pPr>
                      <a:r>
                        <a:t>Decision</a:t>
                      </a:r>
                    </a:p>
                  </a:txBody>
                  <a:tcPr>
                    <a:solidFill>
                      <a:srgbClr val="15223A"/>
                    </a:solidFill>
                  </a:tcPr>
                </a:tc>
                <a:tc>
                  <a:txBody>
                    <a:bodyPr/>
                    <a:lstStyle/>
                    <a:p>
                      <a:pPr>
                        <a:defRPr sz="1400" b="1">
                          <a:solidFill>
                            <a:srgbClr val="D4A843"/>
                          </a:solidFill>
                        </a:defRPr>
                      </a:pPr>
                      <a:r>
                        <a:t>What We Chose</a:t>
                      </a:r>
                    </a:p>
                  </a:txBody>
                  <a:tcPr>
                    <a:solidFill>
                      <a:srgbClr val="15223A"/>
                    </a:solidFill>
                  </a:tcPr>
                </a:tc>
                <a:tc>
                  <a:txBody>
                    <a:bodyPr/>
                    <a:lstStyle/>
                    <a:p>
                      <a:pPr>
                        <a:defRPr sz="1400" b="1">
                          <a:solidFill>
                            <a:srgbClr val="D4A843"/>
                          </a:solidFill>
                        </a:defRPr>
                      </a:pPr>
                      <a:r>
                        <a:t>Key Reason</a:t>
                      </a:r>
                    </a:p>
                  </a:txBody>
                  <a:tcPr>
                    <a:solidFill>
                      <a:srgbClr val="15223A"/>
                    </a:solidFill>
                  </a:tcPr>
                </a:tc>
                <a:tc>
                  <a:txBody>
                    <a:bodyPr/>
                    <a:lstStyle/>
                    <a:p>
                      <a:pPr>
                        <a:defRPr sz="1400" b="1">
                          <a:solidFill>
                            <a:srgbClr val="D4A843"/>
                          </a:solidFill>
                        </a:defRPr>
                      </a:pPr>
                      <a:r>
                        <a:t>Risk It Addresses</a:t>
                      </a:r>
                    </a:p>
                  </a:txBody>
                  <a:tcPr>
                    <a:solidFill>
                      <a:srgbClr val="15223A"/>
                    </a:solidFill>
                  </a:tcPr>
                </a:tc>
              </a:tr>
              <a:tr h="502920">
                <a:tc>
                  <a:txBody>
                    <a:bodyPr/>
                    <a:lstStyle/>
                    <a:p>
                      <a:pPr>
                        <a:defRPr sz="1200">
                          <a:solidFill>
                            <a:srgbClr val="FFFFFF"/>
                          </a:solidFill>
                        </a:defRPr>
                      </a:pPr>
                      <a:r>
                        <a:t>Historian Connector</a:t>
                      </a:r>
                    </a:p>
                  </a:txBody>
                  <a:tcPr>
                    <a:solidFill>
                      <a:srgbClr val="1B2A4A"/>
                    </a:solidFill>
                  </a:tcPr>
                </a:tc>
                <a:tc>
                  <a:txBody>
                    <a:bodyPr/>
                    <a:lstStyle/>
                    <a:p>
                      <a:pPr>
                        <a:defRPr sz="1200">
                          <a:solidFill>
                            <a:srgbClr val="FFFFFF"/>
                          </a:solidFill>
                        </a:defRPr>
                      </a:pPr>
                      <a:r>
                        <a:t>Direct PI Web API over HTTPS (StreamSets bulk read), NOT Seeq</a:t>
                      </a:r>
                    </a:p>
                  </a:txBody>
                  <a:tcPr>
                    <a:solidFill>
                      <a:srgbClr val="1B2A4A"/>
                    </a:solidFill>
                  </a:tcPr>
                </a:tc>
                <a:tc>
                  <a:txBody>
                    <a:bodyPr/>
                    <a:lstStyle/>
                    <a:p>
                      <a:pPr>
                        <a:defRPr sz="1200">
                          <a:solidFill>
                            <a:srgbClr val="FFFFFF"/>
                          </a:solidFill>
                        </a:defRPr>
                      </a:pPr>
                      <a:r>
                        <a:t>Seeq is $100K+/year enterprise analytics — overkill for data collection; PI Web API is REST-based, designed for DMZ access at Purdue Level 3.5</a:t>
                      </a:r>
                    </a:p>
                  </a:txBody>
                  <a:tcPr>
                    <a:solidFill>
                      <a:srgbClr val="1B2A4A"/>
                    </a:solidFill>
                  </a:tcPr>
                </a:tc>
                <a:tc>
                  <a:txBody>
                    <a:bodyPr/>
                    <a:lstStyle/>
                    <a:p>
                      <a:pPr>
                        <a:defRPr sz="1200">
                          <a:solidFill>
                            <a:srgbClr val="FFFFFF"/>
                          </a:solidFill>
                        </a:defRPr>
                      </a:pPr>
                      <a:r>
                        <a:t>Eliminates $100K+/yr cost, removes single point of failure (Shift 2)</a:t>
                      </a:r>
                    </a:p>
                  </a:txBody>
                  <a:tcPr>
                    <a:solidFill>
                      <a:srgbClr val="1B2A4A"/>
                    </a:solidFill>
                  </a:tcPr>
                </a:tc>
              </a:tr>
              <a:tr h="502920">
                <a:tc>
                  <a:txBody>
                    <a:bodyPr/>
                    <a:lstStyle/>
                    <a:p>
                      <a:pPr>
                        <a:defRPr sz="1200">
                          <a:solidFill>
                            <a:srgbClr val="FFFFFF"/>
                          </a:solidFill>
                        </a:defRPr>
                      </a:pPr>
                      <a:r>
                        <a:t>Market Data</a:t>
                      </a:r>
                    </a:p>
                  </a:txBody>
                  <a:tcPr>
                    <a:solidFill>
                      <a:srgbClr val="223656"/>
                    </a:solidFill>
                  </a:tcPr>
                </a:tc>
                <a:tc>
                  <a:txBody>
                    <a:bodyPr/>
                    <a:lstStyle/>
                    <a:p>
                      <a:pPr>
                        <a:defRPr sz="1200">
                          <a:solidFill>
                            <a:srgbClr val="FFFFFF"/>
                          </a:solidFill>
                        </a:defRPr>
                      </a:pPr>
                      <a:r>
                        <a:t>Customer supplies own OPIS/Platts via CSV/email/API; free EIA API for MVP</a:t>
                      </a:r>
                    </a:p>
                  </a:txBody>
                  <a:tcPr>
                    <a:solidFill>
                      <a:srgbClr val="223656"/>
                    </a:solidFill>
                  </a:tcPr>
                </a:tc>
                <a:tc>
                  <a:txBody>
                    <a:bodyPr/>
                    <a:lstStyle/>
                    <a:p>
                      <a:pPr>
                        <a:defRPr sz="1200">
                          <a:solidFill>
                            <a:srgbClr val="FFFFFF"/>
                          </a:solidFill>
                        </a:defRPr>
                      </a:pPr>
                      <a:r>
                        <a:t>OPIS/Platts costs $10K-$50K+/yr with redistribution licensing restrictions; refineries already have subscriptions</a:t>
                      </a:r>
                    </a:p>
                  </a:txBody>
                  <a:tcPr>
                    <a:solidFill>
                      <a:srgbClr val="223656"/>
                    </a:solidFill>
                  </a:tcPr>
                </a:tc>
                <a:tc>
                  <a:txBody>
                    <a:bodyPr/>
                    <a:lstStyle/>
                    <a:p>
                      <a:pPr>
                        <a:defRPr sz="1200">
                          <a:solidFill>
                            <a:srgbClr val="FFFFFF"/>
                          </a:solidFill>
                        </a:defRPr>
                      </a:pPr>
                      <a:r>
                        <a:t>Eliminates licensing cost and redistribution legal risk (Shift 9)</a:t>
                      </a:r>
                    </a:p>
                  </a:txBody>
                  <a:tcPr>
                    <a:solidFill>
                      <a:srgbClr val="223656"/>
                    </a:solidFill>
                  </a:tcPr>
                </a:tc>
              </a:tr>
              <a:tr h="502920">
                <a:tc>
                  <a:txBody>
                    <a:bodyPr/>
                    <a:lstStyle/>
                    <a:p>
                      <a:pPr>
                        <a:defRPr sz="1200">
                          <a:solidFill>
                            <a:srgbClr val="FFFFFF"/>
                          </a:solidFill>
                        </a:defRPr>
                      </a:pPr>
                      <a:r>
                        <a:t>LP Tool Strategy</a:t>
                      </a:r>
                    </a:p>
                  </a:txBody>
                  <a:tcPr>
                    <a:solidFill>
                      <a:srgbClr val="1B2A4A"/>
                    </a:solidFill>
                  </a:tcPr>
                </a:tc>
                <a:tc>
                  <a:txBody>
                    <a:bodyPr/>
                    <a:lstStyle/>
                    <a:p>
                      <a:pPr>
                        <a:defRPr sz="1200">
                          <a:solidFill>
                            <a:srgbClr val="FFFFFF"/>
                          </a:solidFill>
                        </a:defRPr>
                      </a:pPr>
                      <a:r>
                        <a:t>Excel COM via safexl/pywin32 with watchdog + PuLP/HiGHS as escape hatch</a:t>
                      </a:r>
                    </a:p>
                  </a:txBody>
                  <a:tcPr>
                    <a:solidFill>
                      <a:srgbClr val="1B2A4A"/>
                    </a:solidFill>
                  </a:tcPr>
                </a:tc>
                <a:tc>
                  <a:txBody>
                    <a:bodyPr/>
                    <a:lstStyle/>
                    <a:p>
                      <a:pPr>
                        <a:defRPr sz="1200">
                          <a:solidFill>
                            <a:srgbClr val="FFFFFF"/>
                          </a:solidFill>
                        </a:defRPr>
                      </a:pPr>
                      <a:r>
                        <a:t>Microsoft explicitly does not support server-side Excel; documented failures include modal hangs, zombie processes, 50GB memory leaks; must validate if targets use Excel or PIMS/GRTMPS</a:t>
                      </a:r>
                    </a:p>
                  </a:txBody>
                  <a:tcPr>
                    <a:solidFill>
                      <a:srgbClr val="1B2A4A"/>
                    </a:solidFill>
                  </a:tcPr>
                </a:tc>
                <a:tc>
                  <a:txBody>
                    <a:bodyPr/>
                    <a:lstStyle/>
                    <a:p>
                      <a:pPr>
                        <a:defRPr sz="1200">
                          <a:solidFill>
                            <a:srgbClr val="FFFFFF"/>
                          </a:solidFill>
                        </a:defRPr>
                      </a:pPr>
                      <a:r>
                        <a:t>Binary market validation question — if &gt;60% use PIMS, product must be rearchitected (Shift 8)</a:t>
                      </a:r>
                    </a:p>
                  </a:txBody>
                  <a:tcPr>
                    <a:solidFill>
                      <a:srgbClr val="1B2A4A"/>
                    </a:solidFill>
                  </a:tcPr>
                </a:tc>
              </a:tr>
              <a:tr h="502920">
                <a:tc>
                  <a:txBody>
                    <a:bodyPr/>
                    <a:lstStyle/>
                    <a:p>
                      <a:pPr>
                        <a:defRPr sz="1200">
                          <a:solidFill>
                            <a:srgbClr val="FFFFFF"/>
                          </a:solidFill>
                        </a:defRPr>
                      </a:pPr>
                      <a:r>
                        <a:t>Feedback Input</a:t>
                      </a:r>
                    </a:p>
                  </a:txBody>
                  <a:tcPr>
                    <a:solidFill>
                      <a:srgbClr val="223656"/>
                    </a:solidFill>
                  </a:tcPr>
                </a:tc>
                <a:tc>
                  <a:txBody>
                    <a:bodyPr/>
                    <a:lstStyle/>
                    <a:p>
                      <a:pPr>
                        <a:defRPr sz="1200">
                          <a:solidFill>
                            <a:srgbClr val="FFFFFF"/>
                          </a:solidFill>
                        </a:defRPr>
                      </a:pPr>
                      <a:r>
                        <a:t>Structured 5-tap wizard (unit -&gt; type -&gt; constraint -&gt; severity -&gt; confirm), NOT free-text NLP</a:t>
                      </a:r>
                    </a:p>
                  </a:txBody>
                  <a:tcPr>
                    <a:solidFill>
                      <a:srgbClr val="223656"/>
                    </a:solidFill>
                  </a:tcPr>
                </a:tc>
                <a:tc>
                  <a:txBody>
                    <a:bodyPr/>
                    <a:lstStyle/>
                    <a:p>
                      <a:pPr>
                        <a:defRPr sz="1200">
                          <a:solidFill>
                            <a:srgbClr val="FFFFFF"/>
                          </a:solidFill>
                        </a:defRPr>
                      </a:pPr>
                      <a:r>
                        <a:t>Free-text NLP achieves only 46-85% accuracy; operators in PPE can't type; missing quantitative info (e.g., is fouling 5% or 35%?)</a:t>
                      </a:r>
                    </a:p>
                  </a:txBody>
                  <a:tcPr>
                    <a:solidFill>
                      <a:srgbClr val="223656"/>
                    </a:solidFill>
                  </a:tcPr>
                </a:tc>
                <a:tc>
                  <a:txBody>
                    <a:bodyPr/>
                    <a:lstStyle/>
                    <a:p>
                      <a:pPr>
                        <a:defRPr sz="1200">
                          <a:solidFill>
                            <a:srgbClr val="FFFFFF"/>
                          </a:solidFill>
                        </a:defRPr>
                      </a:pPr>
                      <a:r>
                        <a:t>100% structured accuracy vs 46-85% NLP; works with gloves; eliminates ambiguity (Shift 4)</a:t>
                      </a:r>
                    </a:p>
                  </a:txBody>
                  <a:tcPr>
                    <a:solidFill>
                      <a:srgbClr val="223656"/>
                    </a:solidFill>
                  </a:tcPr>
                </a:tc>
              </a:tr>
            </a:tbl>
          </a:graphicData>
        </a:graphic>
      </p:graphicFrame>
      <p:sp>
        <p:nvSpPr>
          <p:cNvPr id="5" name="TextBox 4"/>
          <p:cNvSpPr txBox="1"/>
          <p:nvPr/>
        </p:nvSpPr>
        <p:spPr>
          <a:xfrm>
            <a:off x="11505895" y="6492240"/>
            <a:ext cx="457200" cy="274320"/>
          </a:xfrm>
          <a:prstGeom prst="rect">
            <a:avLst/>
          </a:prstGeom>
          <a:noFill/>
        </p:spPr>
        <p:txBody>
          <a:bodyPr wrap="square" anchor="t"/>
          <a:lstStyle/>
          <a:p>
            <a:pPr algn="r">
              <a:defRPr sz="1000" b="0" i="0">
                <a:solidFill>
                  <a:srgbClr val="B0BEC5"/>
                </a:solidFill>
              </a:defRPr>
            </a:pPr>
            <a:r>
              <a:t>44</a:t>
            </a:r>
          </a:p>
        </p:txBody>
      </p:sp>
      <p:sp>
        <p:nvSpPr>
          <p:cNvPr id="6" name="TextBox 5"/>
          <p:cNvSpPr txBox="1"/>
          <p:nvPr/>
        </p:nvSpPr>
        <p:spPr>
          <a:xfrm>
            <a:off x="685800" y="6400800"/>
            <a:ext cx="3657600" cy="274320"/>
          </a:xfrm>
          <a:prstGeom prst="rect">
            <a:avLst/>
          </a:prstGeom>
          <a:noFill/>
        </p:spPr>
        <p:txBody>
          <a:bodyPr wrap="square" anchor="t"/>
          <a:lstStyle/>
          <a:p>
            <a:pPr algn="l">
              <a:defRPr sz="1200" b="0" i="1">
                <a:solidFill>
                  <a:srgbClr val="78909C"/>
                </a:solidFill>
              </a:defRPr>
            </a:pPr>
            <a:r>
              <a:t>Deep dive: ENGINEERING-SPEC.md</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685800" y="365760"/>
            <a:ext cx="10820095" cy="640080"/>
          </a:xfrm>
          <a:prstGeom prst="rect">
            <a:avLst/>
          </a:prstGeom>
          <a:noFill/>
        </p:spPr>
        <p:txBody>
          <a:bodyPr wrap="square" anchor="t"/>
          <a:lstStyle/>
          <a:p>
            <a:pPr algn="l">
              <a:defRPr sz="2800" b="1" i="0">
                <a:solidFill>
                  <a:srgbClr val="FFFFFF"/>
                </a:solidFill>
              </a:defRPr>
            </a:pPr>
            <a:r>
              <a:t>AI &amp; UX Decisions</a:t>
            </a:r>
          </a:p>
        </p:txBody>
      </p:sp>
      <p:sp>
        <p:nvSpPr>
          <p:cNvPr id="3" name="TextBox 2"/>
          <p:cNvSpPr txBox="1"/>
          <p:nvPr/>
        </p:nvSpPr>
        <p:spPr>
          <a:xfrm>
            <a:off x="685800" y="1005840"/>
            <a:ext cx="10820095" cy="457200"/>
          </a:xfrm>
          <a:prstGeom prst="rect">
            <a:avLst/>
          </a:prstGeom>
          <a:noFill/>
        </p:spPr>
        <p:txBody>
          <a:bodyPr wrap="square" anchor="t"/>
          <a:lstStyle/>
          <a:p>
            <a:pPr algn="l">
              <a:defRPr sz="2000" b="0" i="0">
                <a:solidFill>
                  <a:srgbClr val="B0BEC5"/>
                </a:solidFill>
              </a:defRPr>
            </a:pPr>
            <a:r>
              <a:t>LLM safety, dashboard design, and operator trust</a:t>
            </a:r>
          </a:p>
        </p:txBody>
      </p:sp>
      <p:graphicFrame>
        <p:nvGraphicFramePr>
          <p:cNvPr id="4" name="Table 3"/>
          <p:cNvGraphicFramePr>
            <a:graphicFrameLocks noGrp="1"/>
          </p:cNvGraphicFramePr>
          <p:nvPr/>
        </p:nvGraphicFramePr>
        <p:xfrm>
          <a:off x="685800" y="1737360"/>
          <a:ext cx="10820095" cy="2514600"/>
        </p:xfrm>
        <a:graphic>
          <a:graphicData uri="http://schemas.openxmlformats.org/drawingml/2006/table">
            <a:tbl>
              <a:tblPr firstRow="1" bandRow="1">
                <a:tableStyleId>{5C22544A-7EE6-4342-B048-85BDC9FD1C3A}</a:tableStyleId>
              </a:tblPr>
              <a:tblGrid>
                <a:gridCol w="2705023"/>
                <a:gridCol w="2705023"/>
                <a:gridCol w="2705023"/>
                <a:gridCol w="2705026"/>
              </a:tblGrid>
              <a:tr h="502920">
                <a:tc>
                  <a:txBody>
                    <a:bodyPr/>
                    <a:lstStyle/>
                    <a:p>
                      <a:pPr>
                        <a:defRPr sz="1400" b="1">
                          <a:solidFill>
                            <a:srgbClr val="D4A843"/>
                          </a:solidFill>
                        </a:defRPr>
                      </a:pPr>
                      <a:r>
                        <a:t>Decision</a:t>
                      </a:r>
                    </a:p>
                  </a:txBody>
                  <a:tcPr>
                    <a:solidFill>
                      <a:srgbClr val="15223A"/>
                    </a:solidFill>
                  </a:tcPr>
                </a:tc>
                <a:tc>
                  <a:txBody>
                    <a:bodyPr/>
                    <a:lstStyle/>
                    <a:p>
                      <a:pPr>
                        <a:defRPr sz="1400" b="1">
                          <a:solidFill>
                            <a:srgbClr val="D4A843"/>
                          </a:solidFill>
                        </a:defRPr>
                      </a:pPr>
                      <a:r>
                        <a:t>What We Chose</a:t>
                      </a:r>
                    </a:p>
                  </a:txBody>
                  <a:tcPr>
                    <a:solidFill>
                      <a:srgbClr val="15223A"/>
                    </a:solidFill>
                  </a:tcPr>
                </a:tc>
                <a:tc>
                  <a:txBody>
                    <a:bodyPr/>
                    <a:lstStyle/>
                    <a:p>
                      <a:pPr>
                        <a:defRPr sz="1400" b="1">
                          <a:solidFill>
                            <a:srgbClr val="D4A843"/>
                          </a:solidFill>
                        </a:defRPr>
                      </a:pPr>
                      <a:r>
                        <a:t>Key Reason</a:t>
                      </a:r>
                    </a:p>
                  </a:txBody>
                  <a:tcPr>
                    <a:solidFill>
                      <a:srgbClr val="15223A"/>
                    </a:solidFill>
                  </a:tcPr>
                </a:tc>
                <a:tc>
                  <a:txBody>
                    <a:bodyPr/>
                    <a:lstStyle/>
                    <a:p>
                      <a:pPr>
                        <a:defRPr sz="1400" b="1">
                          <a:solidFill>
                            <a:srgbClr val="D4A843"/>
                          </a:solidFill>
                        </a:defRPr>
                      </a:pPr>
                      <a:r>
                        <a:t>Risk It Addresses</a:t>
                      </a:r>
                    </a:p>
                  </a:txBody>
                  <a:tcPr>
                    <a:solidFill>
                      <a:srgbClr val="15223A"/>
                    </a:solidFill>
                  </a:tcPr>
                </a:tc>
              </a:tr>
              <a:tr h="502920">
                <a:tc>
                  <a:txBody>
                    <a:bodyPr/>
                    <a:lstStyle/>
                    <a:p>
                      <a:pPr>
                        <a:defRPr sz="1200">
                          <a:solidFill>
                            <a:srgbClr val="FFFFFF"/>
                          </a:solidFill>
                        </a:defRPr>
                      </a:pPr>
                      <a:r>
                        <a:t>LLM Role</a:t>
                      </a:r>
                    </a:p>
                  </a:txBody>
                  <a:tcPr>
                    <a:solidFill>
                      <a:srgbClr val="1B2A4A"/>
                    </a:solidFill>
                  </a:tcPr>
                </a:tc>
                <a:tc>
                  <a:txBody>
                    <a:bodyPr/>
                    <a:lstStyle/>
                    <a:p>
                      <a:pPr>
                        <a:defRPr sz="1200">
                          <a:solidFill>
                            <a:srgbClr val="FFFFFF"/>
                          </a:solidFill>
                        </a:defRPr>
                      </a:pPr>
                      <a:r>
                        <a:t>Claude formats ONLY — all numbers programmatically extracted, cross-validated, with deterministic template fallback</a:t>
                      </a:r>
                    </a:p>
                  </a:txBody>
                  <a:tcPr>
                    <a:solidFill>
                      <a:srgbClr val="1B2A4A"/>
                    </a:solidFill>
                  </a:tcPr>
                </a:tc>
                <a:tc>
                  <a:txBody>
                    <a:bodyPr/>
                    <a:lstStyle/>
                    <a:p>
                      <a:pPr>
                        <a:defRPr sz="1200">
                          <a:solidFill>
                            <a:srgbClr val="FFFFFF"/>
                          </a:solidFill>
                        </a:defRPr>
                      </a:pPr>
                      <a:r>
                        <a:t>LLMs fabricate numerical errors in up to 83% of cases with bad source data; misreading '2.3 MBPD' as '23 MBPD' in a refinery is dangerous</a:t>
                      </a:r>
                    </a:p>
                  </a:txBody>
                  <a:tcPr>
                    <a:solidFill>
                      <a:srgbClr val="1B2A4A"/>
                    </a:solidFill>
                  </a:tcPr>
                </a:tc>
                <a:tc>
                  <a:txBody>
                    <a:bodyPr/>
                    <a:lstStyle/>
                    <a:p>
                      <a:pPr>
                        <a:defRPr sz="1200">
                          <a:solidFill>
                            <a:srgbClr val="FFFFFF"/>
                          </a:solidFill>
                        </a:defRPr>
                      </a:pPr>
                      <a:r>
                        <a:t>A single hallucinated number resets months of trust-building (Shift 5, Risk R14)</a:t>
                      </a:r>
                    </a:p>
                  </a:txBody>
                  <a:tcPr>
                    <a:solidFill>
                      <a:srgbClr val="1B2A4A"/>
                    </a:solidFill>
                  </a:tcPr>
                </a:tc>
              </a:tr>
              <a:tr h="502920">
                <a:tc>
                  <a:txBody>
                    <a:bodyPr/>
                    <a:lstStyle/>
                    <a:p>
                      <a:pPr>
                        <a:defRPr sz="1200">
                          <a:solidFill>
                            <a:srgbClr val="FFFFFF"/>
                          </a:solidFill>
                        </a:defRPr>
                      </a:pPr>
                      <a:r>
                        <a:t>Dashboard Framing</a:t>
                      </a:r>
                    </a:p>
                  </a:txBody>
                  <a:tcPr>
                    <a:solidFill>
                      <a:srgbClr val="223656"/>
                    </a:solidFill>
                  </a:tcPr>
                </a:tc>
                <a:tc>
                  <a:txBody>
                    <a:bodyPr/>
                    <a:lstStyle/>
                    <a:p>
                      <a:pPr>
                        <a:defRPr sz="1200">
                          <a:solidFill>
                            <a:srgbClr val="FFFFFF"/>
                          </a:solidFill>
                        </a:defRPr>
                      </a:pPr>
                      <a:r>
                        <a:t>Gain-framed ('$1.2M captured') by equipment, NEVER loss-framed or by individual operator</a:t>
                      </a:r>
                    </a:p>
                  </a:txBody>
                  <a:tcPr>
                    <a:solidFill>
                      <a:srgbClr val="223656"/>
                    </a:solidFill>
                  </a:tcPr>
                </a:tc>
                <a:tc>
                  <a:txBody>
                    <a:bodyPr/>
                    <a:lstStyle/>
                    <a:p>
                      <a:pPr>
                        <a:defRPr sz="1200">
                          <a:solidFill>
                            <a:srgbClr val="FFFFFF"/>
                          </a:solidFill>
                        </a:defRPr>
                      </a:pPr>
                      <a:r>
                        <a:t>Loss-framing decreases performance ~33% of time; USW is bargaining over AI; NLRB memo: AI surveillance is mandatory bargaining subject</a:t>
                      </a:r>
                    </a:p>
                  </a:txBody>
                  <a:tcPr>
                    <a:solidFill>
                      <a:srgbClr val="223656"/>
                    </a:solidFill>
                  </a:tcPr>
                </a:tc>
                <a:tc>
                  <a:txBody>
                    <a:bodyPr/>
                    <a:lstStyle/>
                    <a:p>
                      <a:pPr>
                        <a:defRPr sz="1200">
                          <a:solidFill>
                            <a:srgbClr val="FFFFFF"/>
                          </a:solidFill>
                        </a:defRPr>
                      </a:pPr>
                      <a:r>
                        <a:t>Union grievance or NLRB complaint during pilot would be devastating (Shift 7, Risk R8)</a:t>
                      </a:r>
                    </a:p>
                  </a:txBody>
                  <a:tcPr>
                    <a:solidFill>
                      <a:srgbClr val="223656"/>
                    </a:solidFill>
                  </a:tcPr>
                </a:tc>
              </a:tr>
              <a:tr h="502920">
                <a:tc>
                  <a:txBody>
                    <a:bodyPr/>
                    <a:lstStyle/>
                    <a:p>
                      <a:pPr>
                        <a:defRPr sz="1200">
                          <a:solidFill>
                            <a:srgbClr val="FFFFFF"/>
                          </a:solidFill>
                        </a:defRPr>
                      </a:pPr>
                      <a:r>
                        <a:t>Onboarding</a:t>
                      </a:r>
                    </a:p>
                  </a:txBody>
                  <a:tcPr>
                    <a:solidFill>
                      <a:srgbClr val="1B2A4A"/>
                    </a:solidFill>
                  </a:tcPr>
                </a:tc>
                <a:tc>
                  <a:txBody>
                    <a:bodyPr/>
                    <a:lstStyle/>
                    <a:p>
                      <a:pPr>
                        <a:defRPr sz="1200">
                          <a:solidFill>
                            <a:srgbClr val="FFFFFF"/>
                          </a:solidFill>
                        </a:defRPr>
                      </a:pPr>
                      <a:r>
                        <a:t>MOC-compliant phased rollout: Shadow Mode (2-4 wks) -&gt; Guided Adoption -&gt; Full Deploy</a:t>
                      </a:r>
                    </a:p>
                  </a:txBody>
                  <a:tcPr>
                    <a:solidFill>
                      <a:srgbClr val="1B2A4A"/>
                    </a:solidFill>
                  </a:tcPr>
                </a:tc>
                <a:tc>
                  <a:txBody>
                    <a:bodyPr/>
                    <a:lstStyle/>
                    <a:p>
                      <a:pPr>
                        <a:defRPr sz="1200">
                          <a:solidFill>
                            <a:srgbClr val="FFFFFF"/>
                          </a:solidFill>
                        </a:defRPr>
                      </a:pPr>
                      <a:r>
                        <a:t>OSHA PSM (29 CFR 1910.119) requires MOC documentation for any tool changing how operators make process decisions; 'no training required' claim is false</a:t>
                      </a:r>
                    </a:p>
                  </a:txBody>
                  <a:tcPr>
                    <a:solidFill>
                      <a:srgbClr val="1B2A4A"/>
                    </a:solidFill>
                  </a:tcPr>
                </a:tc>
                <a:tc>
                  <a:txBody>
                    <a:bodyPr/>
                    <a:lstStyle/>
                    <a:p>
                      <a:pPr>
                        <a:defRPr sz="1200">
                          <a:solidFill>
                            <a:srgbClr val="FFFFFF"/>
                          </a:solidFill>
                        </a:defRPr>
                      </a:pPr>
                      <a:r>
                        <a:t>Refinery safety managers ask about MOC in first meeting — without ready answer, deal is dead (Shift 10, Risk R7)</a:t>
                      </a:r>
                    </a:p>
                  </a:txBody>
                  <a:tcPr>
                    <a:solidFill>
                      <a:srgbClr val="1B2A4A"/>
                    </a:solidFill>
                  </a:tcPr>
                </a:tc>
              </a:tr>
              <a:tr h="502920">
                <a:tc>
                  <a:txBody>
                    <a:bodyPr/>
                    <a:lstStyle/>
                    <a:p>
                      <a:pPr>
                        <a:defRPr sz="1200">
                          <a:solidFill>
                            <a:srgbClr val="FFFFFF"/>
                          </a:solidFill>
                        </a:defRPr>
                      </a:pPr>
                      <a:r>
                        <a:t>Trigger Design</a:t>
                      </a:r>
                    </a:p>
                  </a:txBody>
                  <a:tcPr>
                    <a:solidFill>
                      <a:srgbClr val="223656"/>
                    </a:solidFill>
                  </a:tcPr>
                </a:tc>
                <a:tc>
                  <a:txBody>
                    <a:bodyPr/>
                    <a:lstStyle/>
                    <a:p>
                      <a:pPr>
                        <a:defRPr sz="1200">
                          <a:solidFill>
                            <a:srgbClr val="FFFFFF"/>
                          </a:solidFill>
                        </a:defRPr>
                      </a:pPr>
                      <a:r>
                        <a:t>Percentage-based thresholds + operating mode gating + debounce (2min) + cooldown (60min)</a:t>
                      </a:r>
                    </a:p>
                  </a:txBody>
                  <a:tcPr>
                    <a:solidFill>
                      <a:srgbClr val="223656"/>
                    </a:solidFill>
                  </a:tcPr>
                </a:tc>
                <a:tc>
                  <a:txBody>
                    <a:bodyPr/>
                    <a:lstStyle/>
                    <a:p>
                      <a:pPr>
                        <a:defRPr sz="1200">
                          <a:solidFill>
                            <a:srgbClr val="FFFFFF"/>
                          </a:solidFill>
                        </a:defRPr>
                      </a:pPr>
                      <a:r>
                        <a:t>Fixed $2/bbl threshold = 8-20% of normal spread but ~5% of elevated spread; during shutdowns, all sensors change dramatically</a:t>
                      </a:r>
                    </a:p>
                  </a:txBody>
                  <a:tcPr>
                    <a:solidFill>
                      <a:srgbClr val="223656"/>
                    </a:solidFill>
                  </a:tcPr>
                </a:tc>
                <a:tc>
                  <a:txBody>
                    <a:bodyPr/>
                    <a:lstStyle/>
                    <a:p>
                      <a:pPr>
                        <a:defRPr sz="1200">
                          <a:solidFill>
                            <a:srgbClr val="FFFFFF"/>
                          </a:solidFill>
                        </a:defRPr>
                      </a:pPr>
                      <a:r>
                        <a:t>Alert fatigue from false recommendations during first shutdown destroys trust permanently (Shift 6, Risk R9)</a:t>
                      </a:r>
                    </a:p>
                  </a:txBody>
                  <a:tcPr>
                    <a:solidFill>
                      <a:srgbClr val="223656"/>
                    </a:solidFill>
                  </a:tcPr>
                </a:tc>
              </a:tr>
            </a:tbl>
          </a:graphicData>
        </a:graphic>
      </p:graphicFrame>
      <p:sp>
        <p:nvSpPr>
          <p:cNvPr id="5" name="TextBox 4"/>
          <p:cNvSpPr txBox="1"/>
          <p:nvPr/>
        </p:nvSpPr>
        <p:spPr>
          <a:xfrm>
            <a:off x="11505895" y="6492240"/>
            <a:ext cx="457200" cy="274320"/>
          </a:xfrm>
          <a:prstGeom prst="rect">
            <a:avLst/>
          </a:prstGeom>
          <a:noFill/>
        </p:spPr>
        <p:txBody>
          <a:bodyPr wrap="square" anchor="t"/>
          <a:lstStyle/>
          <a:p>
            <a:pPr algn="r">
              <a:defRPr sz="1000" b="0" i="0">
                <a:solidFill>
                  <a:srgbClr val="B0BEC5"/>
                </a:solidFill>
              </a:defRPr>
            </a:pPr>
            <a:r>
              <a:t>45</a:t>
            </a:r>
          </a:p>
        </p:txBody>
      </p:sp>
      <p:sp>
        <p:nvSpPr>
          <p:cNvPr id="6" name="TextBox 5"/>
          <p:cNvSpPr txBox="1"/>
          <p:nvPr/>
        </p:nvSpPr>
        <p:spPr>
          <a:xfrm>
            <a:off x="685800" y="6400800"/>
            <a:ext cx="3657600" cy="274320"/>
          </a:xfrm>
          <a:prstGeom prst="rect">
            <a:avLst/>
          </a:prstGeom>
          <a:noFill/>
        </p:spPr>
        <p:txBody>
          <a:bodyPr wrap="square" anchor="t"/>
          <a:lstStyle/>
          <a:p>
            <a:pPr algn="l">
              <a:defRPr sz="1200" b="0" i="1">
                <a:solidFill>
                  <a:srgbClr val="78909C"/>
                </a:solidFill>
              </a:defRPr>
            </a:pPr>
            <a:r>
              <a:t>Deep dive: ENGINEERING-SPEC.md</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243B5E"/>
        </a:solidFill>
        <a:effectLst/>
      </p:bgPr>
    </p:bg>
    <p:spTree>
      <p:nvGrpSpPr>
        <p:cNvPr id="1" name=""/>
        <p:cNvGrpSpPr/>
        <p:nvPr/>
      </p:nvGrpSpPr>
      <p:grpSpPr/>
      <p:sp>
        <p:nvSpPr>
          <p:cNvPr id="2" name="TextBox 1"/>
          <p:cNvSpPr txBox="1"/>
          <p:nvPr/>
        </p:nvSpPr>
        <p:spPr>
          <a:xfrm>
            <a:off x="914400" y="2286000"/>
            <a:ext cx="10362895" cy="914400"/>
          </a:xfrm>
          <a:prstGeom prst="rect">
            <a:avLst/>
          </a:prstGeom>
          <a:noFill/>
        </p:spPr>
        <p:txBody>
          <a:bodyPr wrap="square" anchor="ctr"/>
          <a:lstStyle/>
          <a:p>
            <a:pPr algn="ctr">
              <a:defRPr sz="3200" b="1" i="0">
                <a:solidFill>
                  <a:srgbClr val="D4A843"/>
                </a:solidFill>
              </a:defRPr>
            </a:pPr>
            <a:r>
              <a:t>What We Build &amp; When</a:t>
            </a:r>
          </a:p>
        </p:txBody>
      </p:sp>
      <p:sp>
        <p:nvSpPr>
          <p:cNvPr id="3" name="TextBox 2"/>
          <p:cNvSpPr txBox="1"/>
          <p:nvPr/>
        </p:nvSpPr>
        <p:spPr>
          <a:xfrm>
            <a:off x="914400" y="3383280"/>
            <a:ext cx="10362895" cy="548640"/>
          </a:xfrm>
          <a:prstGeom prst="rect">
            <a:avLst/>
          </a:prstGeom>
          <a:noFill/>
        </p:spPr>
        <p:txBody>
          <a:bodyPr wrap="square" anchor="t"/>
          <a:lstStyle/>
          <a:p>
            <a:pPr algn="ctr">
              <a:defRPr sz="2000" b="0" i="0">
                <a:solidFill>
                  <a:srgbClr val="B0BEC5"/>
                </a:solidFill>
              </a:defRPr>
            </a:pPr>
            <a:r>
              <a:t>Eating the elephant one bite at a time</a:t>
            </a:r>
          </a:p>
        </p:txBody>
      </p:sp>
      <p:sp>
        <p:nvSpPr>
          <p:cNvPr id="4" name="TextBox 3"/>
          <p:cNvSpPr txBox="1"/>
          <p:nvPr/>
        </p:nvSpPr>
        <p:spPr>
          <a:xfrm>
            <a:off x="11505895" y="6492240"/>
            <a:ext cx="457200" cy="274320"/>
          </a:xfrm>
          <a:prstGeom prst="rect">
            <a:avLst/>
          </a:prstGeom>
          <a:noFill/>
        </p:spPr>
        <p:txBody>
          <a:bodyPr wrap="square" anchor="t"/>
          <a:lstStyle/>
          <a:p>
            <a:pPr algn="r">
              <a:defRPr sz="1000" b="0" i="0">
                <a:solidFill>
                  <a:srgbClr val="B0BEC5"/>
                </a:solidFill>
              </a:defRPr>
            </a:pPr>
            <a: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685800" y="365760"/>
            <a:ext cx="10820095" cy="640080"/>
          </a:xfrm>
          <a:prstGeom prst="rect">
            <a:avLst/>
          </a:prstGeom>
          <a:noFill/>
        </p:spPr>
        <p:txBody>
          <a:bodyPr wrap="square" anchor="t"/>
          <a:lstStyle/>
          <a:p>
            <a:pPr algn="l">
              <a:defRPr sz="2800" b="1" i="0">
                <a:solidFill>
                  <a:srgbClr val="FFFFFF"/>
                </a:solidFill>
              </a:defRPr>
            </a:pPr>
            <a:r>
              <a:t>Phase 0: Validation — Weeks 1-8</a:t>
            </a:r>
          </a:p>
        </p:txBody>
      </p:sp>
      <p:sp>
        <p:nvSpPr>
          <p:cNvPr id="3" name="TextBox 2"/>
          <p:cNvSpPr txBox="1"/>
          <p:nvPr/>
        </p:nvSpPr>
        <p:spPr>
          <a:xfrm>
            <a:off x="685800" y="1005840"/>
            <a:ext cx="10820095" cy="457200"/>
          </a:xfrm>
          <a:prstGeom prst="rect">
            <a:avLst/>
          </a:prstGeom>
          <a:noFill/>
        </p:spPr>
        <p:txBody>
          <a:bodyPr wrap="square" anchor="t"/>
          <a:lstStyle/>
          <a:p>
            <a:pPr algn="l">
              <a:defRPr sz="2000" b="0" i="0">
                <a:solidFill>
                  <a:srgbClr val="B0BEC5"/>
                </a:solidFill>
              </a:defRPr>
            </a:pPr>
            <a:r>
              <a:t>Answer three binary questions before writing production code</a:t>
            </a:r>
          </a:p>
        </p:txBody>
      </p:sp>
      <p:sp>
        <p:nvSpPr>
          <p:cNvPr id="4" name="TextBox 3"/>
          <p:cNvSpPr txBox="1"/>
          <p:nvPr/>
        </p:nvSpPr>
        <p:spPr>
          <a:xfrm>
            <a:off x="685800" y="1737360"/>
            <a:ext cx="5272887" cy="4389120"/>
          </a:xfrm>
          <a:prstGeom prst="rect">
            <a:avLst/>
          </a:prstGeom>
          <a:noFill/>
        </p:spPr>
        <p:txBody>
          <a:bodyPr wrap="square">
            <a:spAutoFit/>
          </a:bodyPr>
          <a:lstStyle/>
          <a:p>
            <a:pPr>
              <a:spcAft>
                <a:spcPts val="600"/>
              </a:spcAft>
              <a:defRPr sz="1600">
                <a:solidFill>
                  <a:srgbClr val="FFFFFF"/>
                </a:solidFill>
              </a:defRPr>
            </a:pPr>
            <a:r>
              <a:rPr sz="1600">
                <a:solidFill>
                  <a:srgbClr val="FFFFFF"/>
                </a:solidFill>
              </a:rPr>
              <a:t/>
            </a:r>
            <a:r>
              <a:rPr b="1" sz="1600">
                <a:solidFill>
                  <a:srgbClr val="FFFFFF"/>
                </a:solidFill>
              </a:rPr>
              <a:t>Question 1:</a:t>
            </a:r>
            <a:r>
              <a:rPr sz="1600">
                <a:solidFill>
                  <a:srgbClr val="FFFFFF"/>
                </a:solidFill>
              </a:rPr>
              <a:t> What LP tools do target refineries actually use? Survey 10-15 mid-size refineries</a:t>
            </a:r>
          </a:p>
          <a:p>
            <a:pPr>
              <a:spcAft>
                <a:spcPts val="600"/>
              </a:spcAft>
              <a:defRPr sz="1600">
                <a:solidFill>
                  <a:srgbClr val="FFFFFF"/>
                </a:solidFill>
              </a:defRPr>
            </a:pPr>
            <a:r>
              <a:rPr sz="1600">
                <a:solidFill>
                  <a:srgbClr val="FFFFFF"/>
                </a:solidFill>
              </a:rPr>
              <a:t/>
            </a:r>
            <a:r>
              <a:rPr b="1" sz="1600">
                <a:solidFill>
                  <a:srgbClr val="FFFFFF"/>
                </a:solidFill>
              </a:rPr>
              <a:t>Question 2:</a:t>
            </a:r>
            <a:r>
              <a:rPr sz="1600">
                <a:solidFill>
                  <a:srgbClr val="FFFFFF"/>
                </a:solidFill>
              </a:rPr>
              <a:t> Can Excel COM automation run reliably for 72+ hours on a real LP model?</a:t>
            </a:r>
          </a:p>
          <a:p>
            <a:pPr>
              <a:spcAft>
                <a:spcPts val="600"/>
              </a:spcAft>
              <a:defRPr sz="1600">
                <a:solidFill>
                  <a:srgbClr val="FFFFFF"/>
                </a:solidFill>
              </a:defRPr>
            </a:pPr>
            <a:r>
              <a:rPr sz="1600">
                <a:solidFill>
                  <a:srgbClr val="FFFFFF"/>
                </a:solidFill>
              </a:rPr>
              <a:t/>
            </a:r>
            <a:r>
              <a:rPr b="1" sz="1600">
                <a:solidFill>
                  <a:srgbClr val="FFFFFF"/>
                </a:solidFill>
              </a:rPr>
              <a:t>Question 3:</a:t>
            </a:r>
            <a:r>
              <a:rPr sz="1600">
                <a:solidFill>
                  <a:srgbClr val="FFFFFF"/>
                </a:solidFill>
              </a:rPr>
              <a:t> Can we recruit a domain expert co-founder or advisor?</a:t>
            </a:r>
          </a:p>
        </p:txBody>
      </p:sp>
      <p:sp>
        <p:nvSpPr>
          <p:cNvPr id="5" name="Rectangle 4"/>
          <p:cNvSpPr/>
          <p:nvPr/>
        </p:nvSpPr>
        <p:spPr>
          <a:xfrm>
            <a:off x="6050127" y="1737360"/>
            <a:ext cx="18288" cy="4389120"/>
          </a:xfrm>
          <a:prstGeom prst="rect">
            <a:avLst/>
          </a:prstGeom>
          <a:solidFill>
            <a:srgbClr val="D4A8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33007" y="1737360"/>
            <a:ext cx="5272887" cy="4389120"/>
          </a:xfrm>
          <a:prstGeom prst="rect">
            <a:avLst/>
          </a:prstGeom>
          <a:noFill/>
        </p:spPr>
        <p:txBody>
          <a:bodyPr wrap="square">
            <a:spAutoFit/>
          </a:bodyPr>
          <a:lstStyle/>
          <a:p>
            <a:pPr>
              <a:spcAft>
                <a:spcPts val="600"/>
              </a:spcAft>
              <a:defRPr sz="1600">
                <a:solidFill>
                  <a:srgbClr val="FFFFFF"/>
                </a:solidFill>
              </a:defRPr>
            </a:pPr>
            <a:r>
              <a:rPr sz="1600">
                <a:solidFill>
                  <a:srgbClr val="FFFFFF"/>
                </a:solidFill>
              </a:rPr>
              <a:t/>
            </a:r>
            <a:r>
              <a:rPr b="1" sz="1600">
                <a:solidFill>
                  <a:srgbClr val="FFFFFF"/>
                </a:solidFill>
              </a:rPr>
              <a:t>Go/No-Go 1:</a:t>
            </a:r>
            <a:r>
              <a:rPr sz="1600">
                <a:solidFill>
                  <a:srgbClr val="FFFFFF"/>
                </a:solidFill>
              </a:rPr>
              <a:t> If &gt;60% use PIMS/GRTMPS instead of Excel Solver, pivot LP strategy</a:t>
            </a:r>
          </a:p>
          <a:p>
            <a:pPr>
              <a:spcAft>
                <a:spcPts val="600"/>
              </a:spcAft>
              <a:defRPr sz="1600">
                <a:solidFill>
                  <a:srgbClr val="FFFFFF"/>
                </a:solidFill>
              </a:defRPr>
            </a:pPr>
            <a:r>
              <a:rPr sz="1600">
                <a:solidFill>
                  <a:srgbClr val="FFFFFF"/>
                </a:solidFill>
              </a:rPr>
              <a:t/>
            </a:r>
            <a:r>
              <a:rPr b="1" sz="1600">
                <a:solidFill>
                  <a:srgbClr val="FFFFFF"/>
                </a:solidFill>
              </a:rPr>
              <a:t>Go/No-Go 2:</a:t>
            </a:r>
            <a:r>
              <a:rPr sz="1600">
                <a:solidFill>
                  <a:srgbClr val="FFFFFF"/>
                </a:solidFill>
              </a:rPr>
              <a:t> If COM can't sustain, invest in Python LP engine (PuLP + HiGHS) first</a:t>
            </a:r>
          </a:p>
          <a:p>
            <a:pPr>
              <a:spcAft>
                <a:spcPts val="600"/>
              </a:spcAft>
              <a:defRPr sz="1600">
                <a:solidFill>
                  <a:srgbClr val="FFFFFF"/>
                </a:solidFill>
              </a:defRPr>
            </a:pPr>
            <a:r>
              <a:rPr sz="1600">
                <a:solidFill>
                  <a:srgbClr val="FFFFFF"/>
                </a:solidFill>
              </a:rPr>
              <a:t/>
            </a:r>
            <a:r>
              <a:rPr b="1" sz="1600">
                <a:solidFill>
                  <a:srgbClr val="FFFFFF"/>
                </a:solidFill>
              </a:rPr>
              <a:t>Go/No-Go 3:</a:t>
            </a:r>
            <a:r>
              <a:rPr sz="1600">
                <a:solidFill>
                  <a:srgbClr val="FFFFFF"/>
                </a:solidFill>
              </a:rPr>
              <a:t> If no credible domain expert by Week 8, pause the project</a:t>
            </a:r>
          </a:p>
        </p:txBody>
      </p:sp>
      <p:sp>
        <p:nvSpPr>
          <p:cNvPr id="7" name="TextBox 6"/>
          <p:cNvSpPr txBox="1"/>
          <p:nvPr/>
        </p:nvSpPr>
        <p:spPr>
          <a:xfrm>
            <a:off x="11505895" y="6492240"/>
            <a:ext cx="457200" cy="274320"/>
          </a:xfrm>
          <a:prstGeom prst="rect">
            <a:avLst/>
          </a:prstGeom>
          <a:noFill/>
        </p:spPr>
        <p:txBody>
          <a:bodyPr wrap="square" anchor="t"/>
          <a:lstStyle/>
          <a:p>
            <a:pPr algn="r">
              <a:defRPr sz="1000" b="0" i="0">
                <a:solidFill>
                  <a:srgbClr val="B0BEC5"/>
                </a:solidFill>
              </a:defRPr>
            </a:pPr>
            <a:r>
              <a:t>47</a:t>
            </a:r>
          </a:p>
        </p:txBody>
      </p:sp>
      <p:sp>
        <p:nvSpPr>
          <p:cNvPr id="8" name="TextBox 7"/>
          <p:cNvSpPr txBox="1"/>
          <p:nvPr/>
        </p:nvSpPr>
        <p:spPr>
          <a:xfrm>
            <a:off x="685800" y="6400800"/>
            <a:ext cx="3657600" cy="274320"/>
          </a:xfrm>
          <a:prstGeom prst="rect">
            <a:avLst/>
          </a:prstGeom>
          <a:noFill/>
        </p:spPr>
        <p:txBody>
          <a:bodyPr wrap="square" anchor="t"/>
          <a:lstStyle/>
          <a:p>
            <a:pPr algn="l">
              <a:defRPr sz="1200" b="0" i="1">
                <a:solidFill>
                  <a:srgbClr val="78909C"/>
                </a:solidFill>
              </a:defRPr>
            </a:pPr>
            <a:r>
              <a:t>Deep dive: ENGINEERING-SPEC.md</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685800" y="365760"/>
            <a:ext cx="10820095" cy="640080"/>
          </a:xfrm>
          <a:prstGeom prst="rect">
            <a:avLst/>
          </a:prstGeom>
          <a:noFill/>
        </p:spPr>
        <p:txBody>
          <a:bodyPr wrap="square" anchor="t"/>
          <a:lstStyle/>
          <a:p>
            <a:pPr algn="l">
              <a:defRPr sz="2800" b="1" i="0">
                <a:solidFill>
                  <a:srgbClr val="FFFFFF"/>
                </a:solidFill>
              </a:defRPr>
            </a:pPr>
            <a:r>
              <a:t>Phase 1: MVP — Single Pilot Site</a:t>
            </a:r>
          </a:p>
        </p:txBody>
      </p:sp>
      <p:sp>
        <p:nvSpPr>
          <p:cNvPr id="3" name="TextBox 2"/>
          <p:cNvSpPr txBox="1"/>
          <p:nvPr/>
        </p:nvSpPr>
        <p:spPr>
          <a:xfrm>
            <a:off x="685800" y="1005840"/>
            <a:ext cx="10820095" cy="457200"/>
          </a:xfrm>
          <a:prstGeom prst="rect">
            <a:avLst/>
          </a:prstGeom>
          <a:noFill/>
        </p:spPr>
        <p:txBody>
          <a:bodyPr wrap="square" anchor="t"/>
          <a:lstStyle/>
          <a:p>
            <a:pPr algn="l">
              <a:defRPr sz="2000" b="0" i="0">
                <a:solidFill>
                  <a:srgbClr val="B0BEC5"/>
                </a:solidFill>
              </a:defRPr>
            </a:pPr>
            <a:r>
              <a:t>Months 3-8 (~20 weeks, 2-3 engineers)</a:t>
            </a:r>
          </a:p>
        </p:txBody>
      </p:sp>
      <p:sp>
        <p:nvSpPr>
          <p:cNvPr id="4" name="TextBox 3"/>
          <p:cNvSpPr txBox="1"/>
          <p:nvPr/>
        </p:nvSpPr>
        <p:spPr>
          <a:xfrm>
            <a:off x="685800" y="1737360"/>
            <a:ext cx="10820095" cy="4389120"/>
          </a:xfrm>
          <a:prstGeom prst="rect">
            <a:avLst/>
          </a:prstGeom>
          <a:noFill/>
        </p:spPr>
        <p:txBody>
          <a:bodyPr wrap="square">
            <a:spAutoFit/>
          </a:bodyPr>
          <a:lstStyle/>
          <a:p>
            <a:pPr>
              <a:spcAft>
                <a:spcPts val="600"/>
              </a:spcAft>
              <a:defRPr sz="1800">
                <a:solidFill>
                  <a:srgbClr val="FFFFFF"/>
                </a:solidFill>
              </a:defRPr>
            </a:pPr>
            <a:r>
              <a:rPr sz="1800">
                <a:solidFill>
                  <a:srgbClr val="FFFFFF"/>
                </a:solidFill>
              </a:rPr>
              <a:t/>
            </a:r>
            <a:r>
              <a:rPr b="1" sz="1800">
                <a:solidFill>
                  <a:srgbClr val="FFFFFF"/>
                </a:solidFill>
              </a:rPr>
              <a:t>Goal:</a:t>
            </a:r>
            <a:r>
              <a:rPr sz="1800">
                <a:solidFill>
                  <a:srgbClr val="FFFFFF"/>
                </a:solidFill>
              </a:rPr>
              <a:t> Deploy a working system at 1 design partner refinery in shadow mode</a:t>
            </a:r>
          </a:p>
          <a:p>
            <a:pPr>
              <a:spcAft>
                <a:spcPts val="600"/>
              </a:spcAft>
              <a:defRPr sz="1800">
                <a:solidFill>
                  <a:srgbClr val="FFFFFF"/>
                </a:solidFill>
              </a:defRPr>
            </a:pPr>
            <a:r>
              <a:rPr sz="1800">
                <a:solidFill>
                  <a:srgbClr val="FFFFFF"/>
                </a:solidFill>
              </a:rPr>
              <a:t/>
            </a:r>
            <a:r>
              <a:rPr b="1" sz="1800">
                <a:solidFill>
                  <a:srgbClr val="FFFFFF"/>
                </a:solidFill>
              </a:rPr>
              <a:t>Weeks 1-4:</a:t>
            </a:r>
            <a:r>
              <a:rPr sz="1800">
                <a:solidFill>
                  <a:srgbClr val="FFFFFF"/>
                </a:solidFill>
              </a:rPr>
              <a:t> Edge Agent (PI Web API reader + data quality gateway) + Cloud backend (FastAPI + TimescaleDB)</a:t>
            </a:r>
          </a:p>
          <a:p>
            <a:pPr>
              <a:spcAft>
                <a:spcPts val="600"/>
              </a:spcAft>
              <a:defRPr sz="1800">
                <a:solidFill>
                  <a:srgbClr val="FFFFFF"/>
                </a:solidFill>
              </a:defRPr>
            </a:pPr>
            <a:r>
              <a:rPr sz="1800">
                <a:solidFill>
                  <a:srgbClr val="FFFFFF"/>
                </a:solidFill>
              </a:rPr>
              <a:t/>
            </a:r>
            <a:r>
              <a:rPr b="1" sz="1800">
                <a:solidFill>
                  <a:srgbClr val="FFFFFF"/>
                </a:solidFill>
              </a:rPr>
              <a:t>Weeks 5-8:</a:t>
            </a:r>
            <a:r>
              <a:rPr sz="1800">
                <a:solidFill>
                  <a:srgbClr val="FFFFFF"/>
                </a:solidFill>
              </a:rPr>
              <a:t> Trigger engine (process drift + price movement + operating mode state machine) + LP Orchestrator (Celery + Windows LP Worker)</a:t>
            </a:r>
          </a:p>
          <a:p>
            <a:pPr>
              <a:spcAft>
                <a:spcPts val="600"/>
              </a:spcAft>
              <a:defRPr sz="1800">
                <a:solidFill>
                  <a:srgbClr val="FFFFFF"/>
                </a:solidFill>
              </a:defRPr>
            </a:pPr>
            <a:r>
              <a:rPr sz="1800">
                <a:solidFill>
                  <a:srgbClr val="FFFFFF"/>
                </a:solidFill>
              </a:rPr>
              <a:t/>
            </a:r>
            <a:r>
              <a:rPr b="1" sz="1800">
                <a:solidFill>
                  <a:srgbClr val="FFFFFF"/>
                </a:solidFill>
              </a:rPr>
              <a:t>Weeks 9-12:</a:t>
            </a:r>
            <a:r>
              <a:rPr sz="1800">
                <a:solidFill>
                  <a:srgbClr val="FFFFFF"/>
                </a:solidFill>
              </a:rPr>
              <a:t> AI Translation (deterministic numbers + Claude formatting + template fallback) + Messaging (Teams/Slack + structured constraint input)</a:t>
            </a:r>
          </a:p>
          <a:p>
            <a:pPr>
              <a:spcAft>
                <a:spcPts val="600"/>
              </a:spcAft>
              <a:defRPr sz="1800">
                <a:solidFill>
                  <a:srgbClr val="FFFFFF"/>
                </a:solidFill>
              </a:defRPr>
            </a:pPr>
            <a:r>
              <a:rPr sz="1800">
                <a:solidFill>
                  <a:srgbClr val="FFFFFF"/>
                </a:solidFill>
              </a:rPr>
              <a:t/>
            </a:r>
            <a:r>
              <a:rPr b="1" sz="1800">
                <a:solidFill>
                  <a:srgbClr val="FFFFFF"/>
                </a:solidFill>
              </a:rPr>
              <a:t>Weeks 13-16:</a:t>
            </a:r>
            <a:r>
              <a:rPr sz="1800">
                <a:solidFill>
                  <a:srgbClr val="FFFFFF"/>
                </a:solidFill>
              </a:rPr>
              <a:t> Frontend (Operations dashboard + recommendation feed + constraint registry + shadow mode UX)</a:t>
            </a:r>
          </a:p>
          <a:p>
            <a:pPr>
              <a:spcAft>
                <a:spcPts val="600"/>
              </a:spcAft>
              <a:defRPr sz="1800">
                <a:solidFill>
                  <a:srgbClr val="FFFFFF"/>
                </a:solidFill>
              </a:defRPr>
            </a:pPr>
            <a:r>
              <a:rPr sz="1800">
                <a:solidFill>
                  <a:srgbClr val="FFFFFF"/>
                </a:solidFill>
              </a:rPr>
              <a:t/>
            </a:r>
            <a:r>
              <a:rPr b="1" sz="1800">
                <a:solidFill>
                  <a:srgbClr val="FFFFFF"/>
                </a:solidFill>
              </a:rPr>
              <a:t>Weeks 17-20:</a:t>
            </a:r>
            <a:r>
              <a:rPr sz="1800">
                <a:solidFill>
                  <a:srgbClr val="FFFFFF"/>
                </a:solidFill>
              </a:rPr>
              <a:t> Auth/RBAC, integration testing, shadow mode deployment, operator feedback collection</a:t>
            </a:r>
          </a:p>
        </p:txBody>
      </p:sp>
      <p:sp>
        <p:nvSpPr>
          <p:cNvPr id="5" name="TextBox 4"/>
          <p:cNvSpPr txBox="1"/>
          <p:nvPr/>
        </p:nvSpPr>
        <p:spPr>
          <a:xfrm>
            <a:off x="11505895" y="6492240"/>
            <a:ext cx="457200" cy="274320"/>
          </a:xfrm>
          <a:prstGeom prst="rect">
            <a:avLst/>
          </a:prstGeom>
          <a:noFill/>
        </p:spPr>
        <p:txBody>
          <a:bodyPr wrap="square" anchor="t"/>
          <a:lstStyle/>
          <a:p>
            <a:pPr algn="r">
              <a:defRPr sz="1000" b="0" i="0">
                <a:solidFill>
                  <a:srgbClr val="B0BEC5"/>
                </a:solidFill>
              </a:defRPr>
            </a:pPr>
            <a:r>
              <a:t>48</a:t>
            </a:r>
          </a:p>
        </p:txBody>
      </p:sp>
      <p:sp>
        <p:nvSpPr>
          <p:cNvPr id="6" name="TextBox 5"/>
          <p:cNvSpPr txBox="1"/>
          <p:nvPr/>
        </p:nvSpPr>
        <p:spPr>
          <a:xfrm>
            <a:off x="685800" y="6400800"/>
            <a:ext cx="3657600" cy="274320"/>
          </a:xfrm>
          <a:prstGeom prst="rect">
            <a:avLst/>
          </a:prstGeom>
          <a:noFill/>
        </p:spPr>
        <p:txBody>
          <a:bodyPr wrap="square" anchor="t"/>
          <a:lstStyle/>
          <a:p>
            <a:pPr algn="l">
              <a:defRPr sz="1200" b="0" i="1">
                <a:solidFill>
                  <a:srgbClr val="78909C"/>
                </a:solidFill>
              </a:defRPr>
            </a:pPr>
            <a:r>
              <a:t>Deep dive: ENGINEERING-SPEC.md</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685800" y="365760"/>
            <a:ext cx="10820095" cy="640080"/>
          </a:xfrm>
          <a:prstGeom prst="rect">
            <a:avLst/>
          </a:prstGeom>
          <a:noFill/>
        </p:spPr>
        <p:txBody>
          <a:bodyPr wrap="square" anchor="t"/>
          <a:lstStyle/>
          <a:p>
            <a:pPr algn="l">
              <a:defRPr sz="2800" b="1" i="0">
                <a:solidFill>
                  <a:srgbClr val="FFFFFF"/>
                </a:solidFill>
              </a:defRPr>
            </a:pPr>
            <a:r>
              <a:t>Phase 2: Beta &amp; Phase 3: GA</a:t>
            </a:r>
          </a:p>
        </p:txBody>
      </p:sp>
      <p:sp>
        <p:nvSpPr>
          <p:cNvPr id="3" name="TextBox 2"/>
          <p:cNvSpPr txBox="1"/>
          <p:nvPr/>
        </p:nvSpPr>
        <p:spPr>
          <a:xfrm>
            <a:off x="685800" y="1005840"/>
            <a:ext cx="10820095" cy="457200"/>
          </a:xfrm>
          <a:prstGeom prst="rect">
            <a:avLst/>
          </a:prstGeom>
          <a:noFill/>
        </p:spPr>
        <p:txBody>
          <a:bodyPr wrap="square" anchor="t"/>
          <a:lstStyle/>
          <a:p>
            <a:pPr algn="l">
              <a:defRPr sz="2000" b="0" i="0">
                <a:solidFill>
                  <a:srgbClr val="B0BEC5"/>
                </a:solidFill>
              </a:defRPr>
            </a:pPr>
            <a:r>
              <a:t>From proving value to repeatable sales</a:t>
            </a:r>
          </a:p>
        </p:txBody>
      </p:sp>
      <p:sp>
        <p:nvSpPr>
          <p:cNvPr id="4" name="TextBox 3"/>
          <p:cNvSpPr txBox="1"/>
          <p:nvPr/>
        </p:nvSpPr>
        <p:spPr>
          <a:xfrm>
            <a:off x="685800" y="1737360"/>
            <a:ext cx="5272887" cy="4389120"/>
          </a:xfrm>
          <a:prstGeom prst="rect">
            <a:avLst/>
          </a:prstGeom>
          <a:noFill/>
        </p:spPr>
        <p:txBody>
          <a:bodyPr wrap="square">
            <a:spAutoFit/>
          </a:bodyPr>
          <a:lstStyle/>
          <a:p>
            <a:pPr>
              <a:spcAft>
                <a:spcPts val="600"/>
              </a:spcAft>
              <a:defRPr sz="1600">
                <a:solidFill>
                  <a:srgbClr val="FFFFFF"/>
                </a:solidFill>
              </a:defRPr>
            </a:pPr>
            <a:r>
              <a:rPr sz="1600">
                <a:solidFill>
                  <a:srgbClr val="FFFFFF"/>
                </a:solidFill>
              </a:rPr>
              <a:t/>
            </a:r>
            <a:r>
              <a:rPr b="1" sz="1600">
                <a:solidFill>
                  <a:srgbClr val="FFFFFF"/>
                </a:solidFill>
              </a:rPr>
              <a:t>Phase 2: Beta (Months 9-14)</a:t>
            </a:r>
            <a:r>
              <a:rPr sz="1600">
                <a:solidFill>
                  <a:srgbClr val="FFFFFF"/>
                </a:solidFill>
              </a:rPr>
              <a:t/>
            </a:r>
          </a:p>
          <a:p>
            <a:pPr>
              <a:spcAft>
                <a:spcPts val="600"/>
              </a:spcAft>
              <a:defRPr sz="1600">
                <a:solidFill>
                  <a:srgbClr val="FFFFFF"/>
                </a:solidFill>
              </a:defRPr>
            </a:pPr>
            <a:r>
              <a:t>Scale to 3-5 sites</a:t>
            </a:r>
          </a:p>
          <a:p>
            <a:pPr>
              <a:spcAft>
                <a:spcPts val="600"/>
              </a:spcAft>
              <a:defRPr sz="1600">
                <a:solidFill>
                  <a:srgbClr val="FFFFFF"/>
                </a:solidFill>
              </a:defRPr>
            </a:pPr>
            <a:r>
              <a:t>Transition design partner from shadow to active mode</a:t>
            </a:r>
          </a:p>
          <a:p>
            <a:pPr>
              <a:spcAft>
                <a:spcPts val="600"/>
              </a:spcAft>
              <a:defRPr sz="1600">
                <a:solidFill>
                  <a:srgbClr val="FFFFFF"/>
                </a:solidFill>
              </a:defRPr>
            </a:pPr>
            <a:r>
              <a:t>Build analytics dashboard (opportunity cost waterfall, coefficient drift, sensor health)</a:t>
            </a:r>
          </a:p>
          <a:p>
            <a:pPr>
              <a:spcAft>
                <a:spcPts val="600"/>
              </a:spcAft>
              <a:defRPr sz="1600">
                <a:solidFill>
                  <a:srgbClr val="FFFFFF"/>
                </a:solidFill>
              </a:defRPr>
            </a:pPr>
            <a:r>
              <a:t>Add coefficient reconciliation + constraint pattern detection</a:t>
            </a:r>
          </a:p>
          <a:p>
            <a:pPr>
              <a:spcAft>
                <a:spcPts val="600"/>
              </a:spcAft>
              <a:defRPr sz="1600">
                <a:solidFill>
                  <a:srgbClr val="FFFFFF"/>
                </a:solidFill>
              </a:defRPr>
            </a:pPr>
            <a:r>
              <a:t>Publish case study with quantified ROI</a:t>
            </a:r>
          </a:p>
        </p:txBody>
      </p:sp>
      <p:sp>
        <p:nvSpPr>
          <p:cNvPr id="5" name="Rectangle 4"/>
          <p:cNvSpPr/>
          <p:nvPr/>
        </p:nvSpPr>
        <p:spPr>
          <a:xfrm>
            <a:off x="6050127" y="1737360"/>
            <a:ext cx="18288" cy="4389120"/>
          </a:xfrm>
          <a:prstGeom prst="rect">
            <a:avLst/>
          </a:prstGeom>
          <a:solidFill>
            <a:srgbClr val="D4A8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33007" y="1737360"/>
            <a:ext cx="5272887" cy="4389120"/>
          </a:xfrm>
          <a:prstGeom prst="rect">
            <a:avLst/>
          </a:prstGeom>
          <a:noFill/>
        </p:spPr>
        <p:txBody>
          <a:bodyPr wrap="square">
            <a:spAutoFit/>
          </a:bodyPr>
          <a:lstStyle/>
          <a:p>
            <a:pPr>
              <a:spcAft>
                <a:spcPts val="600"/>
              </a:spcAft>
              <a:defRPr sz="1600">
                <a:solidFill>
                  <a:srgbClr val="FFFFFF"/>
                </a:solidFill>
              </a:defRPr>
            </a:pPr>
            <a:r>
              <a:rPr sz="1600">
                <a:solidFill>
                  <a:srgbClr val="FFFFFF"/>
                </a:solidFill>
              </a:rPr>
              <a:t/>
            </a:r>
            <a:r>
              <a:rPr b="1" sz="1600">
                <a:solidFill>
                  <a:srgbClr val="FFFFFF"/>
                </a:solidFill>
              </a:rPr>
              <a:t>Phase 3: GA (Months 15-24)</a:t>
            </a:r>
            <a:r>
              <a:rPr sz="1600">
                <a:solidFill>
                  <a:srgbClr val="FFFFFF"/>
                </a:solidFill>
              </a:rPr>
              <a:t/>
            </a:r>
          </a:p>
          <a:p>
            <a:pPr>
              <a:spcAft>
                <a:spcPts val="600"/>
              </a:spcAft>
              <a:defRPr sz="1600">
                <a:solidFill>
                  <a:srgbClr val="FFFFFF"/>
                </a:solidFill>
              </a:defRPr>
            </a:pPr>
            <a:r>
              <a:t>Production-ready for 80+ sites</a:t>
            </a:r>
          </a:p>
          <a:p>
            <a:pPr>
              <a:spcAft>
                <a:spcPts val="600"/>
              </a:spcAft>
              <a:defRPr sz="1600">
                <a:solidFill>
                  <a:srgbClr val="FFFFFF"/>
                </a:solidFill>
              </a:defRPr>
            </a:pPr>
            <a:r>
              <a:t>Standardized onboarding (MOC package, training, shadow mode playbook)</a:t>
            </a:r>
          </a:p>
          <a:p>
            <a:pPr>
              <a:spcAft>
                <a:spcPts val="600"/>
              </a:spcAft>
              <a:defRPr sz="1600">
                <a:solidFill>
                  <a:srgbClr val="FFFFFF"/>
                </a:solidFill>
              </a:defRPr>
            </a:pPr>
            <a:r>
              <a:t>Multi-site management + fleet dashboards</a:t>
            </a:r>
          </a:p>
          <a:p>
            <a:pPr>
              <a:spcAft>
                <a:spcPts val="600"/>
              </a:spcAft>
              <a:defRPr sz="1600">
                <a:solidFill>
                  <a:srgbClr val="FFFFFF"/>
                </a:solidFill>
              </a:defRPr>
            </a:pPr>
            <a:r>
              <a:t>LP model migration service (Excel to PuLP/HiGHS)</a:t>
            </a:r>
          </a:p>
          <a:p>
            <a:pPr>
              <a:spcAft>
                <a:spcPts val="600"/>
              </a:spcAft>
              <a:defRPr sz="1600">
                <a:solidFill>
                  <a:srgbClr val="FFFFFF"/>
                </a:solidFill>
              </a:defRPr>
            </a:pPr>
            <a:r>
              <a:t>SOC 2 Type II certification</a:t>
            </a:r>
          </a:p>
        </p:txBody>
      </p:sp>
      <p:sp>
        <p:nvSpPr>
          <p:cNvPr id="7" name="TextBox 6"/>
          <p:cNvSpPr txBox="1"/>
          <p:nvPr/>
        </p:nvSpPr>
        <p:spPr>
          <a:xfrm>
            <a:off x="11505895" y="6492240"/>
            <a:ext cx="457200" cy="274320"/>
          </a:xfrm>
          <a:prstGeom prst="rect">
            <a:avLst/>
          </a:prstGeom>
          <a:noFill/>
        </p:spPr>
        <p:txBody>
          <a:bodyPr wrap="square" anchor="t"/>
          <a:lstStyle/>
          <a:p>
            <a:pPr algn="r">
              <a:defRPr sz="1000" b="0" i="0">
                <a:solidFill>
                  <a:srgbClr val="B0BEC5"/>
                </a:solidFill>
              </a:defRPr>
            </a:pPr>
            <a:r>
              <a:t>49</a:t>
            </a:r>
          </a:p>
        </p:txBody>
      </p:sp>
      <p:sp>
        <p:nvSpPr>
          <p:cNvPr id="8" name="TextBox 7"/>
          <p:cNvSpPr txBox="1"/>
          <p:nvPr/>
        </p:nvSpPr>
        <p:spPr>
          <a:xfrm>
            <a:off x="685800" y="6400800"/>
            <a:ext cx="3657600" cy="274320"/>
          </a:xfrm>
          <a:prstGeom prst="rect">
            <a:avLst/>
          </a:prstGeom>
          <a:noFill/>
        </p:spPr>
        <p:txBody>
          <a:bodyPr wrap="square" anchor="t"/>
          <a:lstStyle/>
          <a:p>
            <a:pPr algn="l">
              <a:defRPr sz="1200" b="0" i="1">
                <a:solidFill>
                  <a:srgbClr val="78909C"/>
                </a:solidFill>
              </a:defRPr>
            </a:pPr>
            <a:r>
              <a:t>Deep dive: ENGINEERING-SPEC.md</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685800" y="365760"/>
            <a:ext cx="10820095" cy="640080"/>
          </a:xfrm>
          <a:prstGeom prst="rect">
            <a:avLst/>
          </a:prstGeom>
          <a:noFill/>
        </p:spPr>
        <p:txBody>
          <a:bodyPr wrap="square" anchor="t"/>
          <a:lstStyle/>
          <a:p>
            <a:pPr algn="l">
              <a:defRPr sz="2800" b="1" i="0">
                <a:solidFill>
                  <a:srgbClr val="FFFFFF"/>
                </a:solidFill>
              </a:defRPr>
            </a:pPr>
            <a:r>
              <a:t>Implementation Timeline</a:t>
            </a:r>
          </a:p>
        </p:txBody>
      </p:sp>
      <p:sp>
        <p:nvSpPr>
          <p:cNvPr id="3" name="TextBox 2"/>
          <p:cNvSpPr txBox="1"/>
          <p:nvPr/>
        </p:nvSpPr>
        <p:spPr>
          <a:xfrm>
            <a:off x="685800" y="1005840"/>
            <a:ext cx="10820095" cy="457200"/>
          </a:xfrm>
          <a:prstGeom prst="rect">
            <a:avLst/>
          </a:prstGeom>
          <a:noFill/>
        </p:spPr>
        <p:txBody>
          <a:bodyPr wrap="square" anchor="t"/>
          <a:lstStyle/>
          <a:p>
            <a:pPr algn="l">
              <a:defRPr sz="2000" b="0" i="0">
                <a:solidFill>
                  <a:srgbClr val="B0BEC5"/>
                </a:solidFill>
              </a:defRPr>
            </a:pPr>
            <a:r>
              <a:t>24-month journey from validation to general availability</a:t>
            </a:r>
          </a:p>
        </p:txBody>
      </p:sp>
      <p:sp>
        <p:nvSpPr>
          <p:cNvPr id="4" name="Rectangle 3"/>
          <p:cNvSpPr/>
          <p:nvPr/>
        </p:nvSpPr>
        <p:spPr>
          <a:xfrm>
            <a:off x="457200" y="2743200"/>
            <a:ext cx="10972800" cy="27432"/>
          </a:xfrm>
          <a:prstGeom prst="rect">
            <a:avLst/>
          </a:prstGeom>
          <a:solidFill>
            <a:srgbClr val="B0BE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2468880"/>
            <a:ext cx="1645920" cy="548640"/>
          </a:xfrm>
          <a:prstGeom prst="round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defRPr>
            </a:pPr>
            <a:r>
              <a:t>Phase 0</a:t>
            </a:r>
            <a:br/>
            <a:r>
              <a:t>Validation</a:t>
            </a:r>
          </a:p>
        </p:txBody>
      </p:sp>
      <p:sp>
        <p:nvSpPr>
          <p:cNvPr id="6" name="TextBox 5"/>
          <p:cNvSpPr txBox="1"/>
          <p:nvPr/>
        </p:nvSpPr>
        <p:spPr>
          <a:xfrm>
            <a:off x="457200" y="2194560"/>
            <a:ext cx="1645920" cy="228600"/>
          </a:xfrm>
          <a:prstGeom prst="rect">
            <a:avLst/>
          </a:prstGeom>
          <a:noFill/>
        </p:spPr>
        <p:txBody>
          <a:bodyPr wrap="square" anchor="t"/>
          <a:lstStyle/>
          <a:p>
            <a:pPr algn="ctr">
              <a:defRPr sz="900" b="0" i="0">
                <a:solidFill>
                  <a:srgbClr val="B0BEC5"/>
                </a:solidFill>
              </a:defRPr>
            </a:pPr>
            <a:r>
              <a:t>Wks 1-8</a:t>
            </a:r>
          </a:p>
        </p:txBody>
      </p:sp>
      <p:sp>
        <p:nvSpPr>
          <p:cNvPr id="7" name="TextBox 6"/>
          <p:cNvSpPr txBox="1"/>
          <p:nvPr/>
        </p:nvSpPr>
        <p:spPr>
          <a:xfrm>
            <a:off x="457200" y="3108960"/>
            <a:ext cx="1645920" cy="548640"/>
          </a:xfrm>
          <a:prstGeom prst="rect">
            <a:avLst/>
          </a:prstGeom>
          <a:noFill/>
        </p:spPr>
        <p:txBody>
          <a:bodyPr wrap="square" anchor="t"/>
          <a:lstStyle/>
          <a:p>
            <a:pPr algn="ctr">
              <a:defRPr sz="900" b="0" i="0">
                <a:solidFill>
                  <a:srgbClr val="B0BEC5"/>
                </a:solidFill>
              </a:defRPr>
            </a:pPr>
            <a:r>
              <a:t>LP Survey | COM Test</a:t>
            </a:r>
            <a:br/>
            <a:r>
              <a:t>Domain Expert</a:t>
            </a:r>
          </a:p>
        </p:txBody>
      </p:sp>
      <p:sp>
        <p:nvSpPr>
          <p:cNvPr id="8" name="Diamond 7"/>
          <p:cNvSpPr/>
          <p:nvPr/>
        </p:nvSpPr>
        <p:spPr>
          <a:xfrm>
            <a:off x="1965960" y="3703320"/>
            <a:ext cx="274320" cy="274320"/>
          </a:xfrm>
          <a:prstGeom prst="diamond">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00200" y="3977640"/>
            <a:ext cx="1097280" cy="365760"/>
          </a:xfrm>
          <a:prstGeom prst="rect">
            <a:avLst/>
          </a:prstGeom>
          <a:noFill/>
        </p:spPr>
        <p:txBody>
          <a:bodyPr wrap="square" anchor="t"/>
          <a:lstStyle/>
          <a:p>
            <a:pPr algn="ctr">
              <a:defRPr sz="800" b="1" i="0">
                <a:solidFill>
                  <a:srgbClr val="E67E22"/>
                </a:solidFill>
              </a:defRPr>
            </a:pPr>
            <a:r>
              <a:t>Go/No-Go</a:t>
            </a:r>
          </a:p>
        </p:txBody>
      </p:sp>
      <p:sp>
        <p:nvSpPr>
          <p:cNvPr id="10" name="Rounded Rectangle 9"/>
          <p:cNvSpPr/>
          <p:nvPr/>
        </p:nvSpPr>
        <p:spPr>
          <a:xfrm>
            <a:off x="2286000" y="2468880"/>
            <a:ext cx="2926080" cy="548640"/>
          </a:xfrm>
          <a:prstGeom prst="round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defRPr>
            </a:pPr>
            <a:r>
              <a:t>Phase 1</a:t>
            </a:r>
            <a:br/>
            <a:r>
              <a:t>MVP</a:t>
            </a:r>
          </a:p>
        </p:txBody>
      </p:sp>
      <p:sp>
        <p:nvSpPr>
          <p:cNvPr id="11" name="TextBox 10"/>
          <p:cNvSpPr txBox="1"/>
          <p:nvPr/>
        </p:nvSpPr>
        <p:spPr>
          <a:xfrm>
            <a:off x="2286000" y="2194560"/>
            <a:ext cx="2926080" cy="228600"/>
          </a:xfrm>
          <a:prstGeom prst="rect">
            <a:avLst/>
          </a:prstGeom>
          <a:noFill/>
        </p:spPr>
        <p:txBody>
          <a:bodyPr wrap="square" anchor="t"/>
          <a:lstStyle/>
          <a:p>
            <a:pPr algn="ctr">
              <a:defRPr sz="900" b="0" i="0">
                <a:solidFill>
                  <a:srgbClr val="B0BEC5"/>
                </a:solidFill>
              </a:defRPr>
            </a:pPr>
            <a:r>
              <a:t>Mo 3-8</a:t>
            </a:r>
          </a:p>
        </p:txBody>
      </p:sp>
      <p:sp>
        <p:nvSpPr>
          <p:cNvPr id="12" name="TextBox 11"/>
          <p:cNvSpPr txBox="1"/>
          <p:nvPr/>
        </p:nvSpPr>
        <p:spPr>
          <a:xfrm>
            <a:off x="2286000" y="3108960"/>
            <a:ext cx="2926080" cy="548640"/>
          </a:xfrm>
          <a:prstGeom prst="rect">
            <a:avLst/>
          </a:prstGeom>
          <a:noFill/>
        </p:spPr>
        <p:txBody>
          <a:bodyPr wrap="square" anchor="t"/>
          <a:lstStyle/>
          <a:p>
            <a:pPr algn="ctr">
              <a:defRPr sz="900" b="0" i="0">
                <a:solidFill>
                  <a:srgbClr val="B0BEC5"/>
                </a:solidFill>
              </a:defRPr>
            </a:pPr>
            <a:r>
              <a:t>Edge Agent | Triggers | LP</a:t>
            </a:r>
            <a:br/>
            <a:r>
              <a:t>AI + Messaging | Dashboard</a:t>
            </a:r>
          </a:p>
        </p:txBody>
      </p:sp>
      <p:sp>
        <p:nvSpPr>
          <p:cNvPr id="13" name="Diamond 12"/>
          <p:cNvSpPr/>
          <p:nvPr/>
        </p:nvSpPr>
        <p:spPr>
          <a:xfrm>
            <a:off x="5074920" y="3703320"/>
            <a:ext cx="274320" cy="274320"/>
          </a:xfrm>
          <a:prstGeom prst="diamond">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09160" y="3977640"/>
            <a:ext cx="1097280" cy="365760"/>
          </a:xfrm>
          <a:prstGeom prst="rect">
            <a:avLst/>
          </a:prstGeom>
          <a:noFill/>
        </p:spPr>
        <p:txBody>
          <a:bodyPr wrap="square" anchor="t"/>
          <a:lstStyle/>
          <a:p>
            <a:pPr algn="ctr">
              <a:defRPr sz="800" b="1" i="0">
                <a:solidFill>
                  <a:srgbClr val="27AE60"/>
                </a:solidFill>
              </a:defRPr>
            </a:pPr>
            <a:r>
              <a:t>1 Site</a:t>
            </a:r>
            <a:br/>
            <a:r>
              <a:t>Shadow Mode</a:t>
            </a:r>
          </a:p>
        </p:txBody>
      </p:sp>
      <p:sp>
        <p:nvSpPr>
          <p:cNvPr id="15" name="Rounded Rectangle 14"/>
          <p:cNvSpPr/>
          <p:nvPr/>
        </p:nvSpPr>
        <p:spPr>
          <a:xfrm>
            <a:off x="5394960" y="2468880"/>
            <a:ext cx="2286000" cy="548640"/>
          </a:xfrm>
          <a:prstGeom prst="round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defRPr>
            </a:pPr>
            <a:r>
              <a:t>Phase 2</a:t>
            </a:r>
            <a:br/>
            <a:r>
              <a:t>Beta</a:t>
            </a:r>
          </a:p>
        </p:txBody>
      </p:sp>
      <p:sp>
        <p:nvSpPr>
          <p:cNvPr id="16" name="TextBox 15"/>
          <p:cNvSpPr txBox="1"/>
          <p:nvPr/>
        </p:nvSpPr>
        <p:spPr>
          <a:xfrm>
            <a:off x="5394960" y="2194560"/>
            <a:ext cx="2286000" cy="228600"/>
          </a:xfrm>
          <a:prstGeom prst="rect">
            <a:avLst/>
          </a:prstGeom>
          <a:noFill/>
        </p:spPr>
        <p:txBody>
          <a:bodyPr wrap="square" anchor="t"/>
          <a:lstStyle/>
          <a:p>
            <a:pPr algn="ctr">
              <a:defRPr sz="900" b="0" i="0">
                <a:solidFill>
                  <a:srgbClr val="B0BEC5"/>
                </a:solidFill>
              </a:defRPr>
            </a:pPr>
            <a:r>
              <a:t>Mo 9-14</a:t>
            </a:r>
          </a:p>
        </p:txBody>
      </p:sp>
      <p:sp>
        <p:nvSpPr>
          <p:cNvPr id="17" name="TextBox 16"/>
          <p:cNvSpPr txBox="1"/>
          <p:nvPr/>
        </p:nvSpPr>
        <p:spPr>
          <a:xfrm>
            <a:off x="5394960" y="3108960"/>
            <a:ext cx="2286000" cy="548640"/>
          </a:xfrm>
          <a:prstGeom prst="rect">
            <a:avLst/>
          </a:prstGeom>
          <a:noFill/>
        </p:spPr>
        <p:txBody>
          <a:bodyPr wrap="square" anchor="t"/>
          <a:lstStyle/>
          <a:p>
            <a:pPr algn="ctr">
              <a:defRPr sz="900" b="0" i="0">
                <a:solidFill>
                  <a:srgbClr val="B0BEC5"/>
                </a:solidFill>
              </a:defRPr>
            </a:pPr>
            <a:r>
              <a:t>Active Mode | Analytics</a:t>
            </a:r>
            <a:br/>
            <a:r>
              <a:t>3-5 Sites | Case Study</a:t>
            </a:r>
          </a:p>
        </p:txBody>
      </p:sp>
      <p:sp>
        <p:nvSpPr>
          <p:cNvPr id="18" name="Diamond 17"/>
          <p:cNvSpPr/>
          <p:nvPr/>
        </p:nvSpPr>
        <p:spPr>
          <a:xfrm>
            <a:off x="7543800" y="3703320"/>
            <a:ext cx="274320" cy="274320"/>
          </a:xfrm>
          <a:prstGeom prst="diamond">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78040" y="3977640"/>
            <a:ext cx="1097280" cy="365760"/>
          </a:xfrm>
          <a:prstGeom prst="rect">
            <a:avLst/>
          </a:prstGeom>
          <a:noFill/>
        </p:spPr>
        <p:txBody>
          <a:bodyPr wrap="square" anchor="t"/>
          <a:lstStyle/>
          <a:p>
            <a:pPr algn="ctr">
              <a:defRPr sz="800" b="1" i="0">
                <a:solidFill>
                  <a:srgbClr val="3498DB"/>
                </a:solidFill>
              </a:defRPr>
            </a:pPr>
            <a:r>
              <a:t>ROI Proven</a:t>
            </a:r>
            <a:br/>
            <a:r>
              <a:t>$500K+</a:t>
            </a:r>
          </a:p>
        </p:txBody>
      </p:sp>
      <p:sp>
        <p:nvSpPr>
          <p:cNvPr id="20" name="Rounded Rectangle 19"/>
          <p:cNvSpPr/>
          <p:nvPr/>
        </p:nvSpPr>
        <p:spPr>
          <a:xfrm>
            <a:off x="7863840" y="2468880"/>
            <a:ext cx="3200400" cy="548640"/>
          </a:xfrm>
          <a:prstGeom prst="round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FFFFFF"/>
                </a:solidFill>
              </a:defRPr>
            </a:pPr>
            <a:r>
              <a:t>Phase 3</a:t>
            </a:r>
            <a:br/>
            <a:r>
              <a:t>GA</a:t>
            </a:r>
          </a:p>
        </p:txBody>
      </p:sp>
      <p:sp>
        <p:nvSpPr>
          <p:cNvPr id="21" name="TextBox 20"/>
          <p:cNvSpPr txBox="1"/>
          <p:nvPr/>
        </p:nvSpPr>
        <p:spPr>
          <a:xfrm>
            <a:off x="7863840" y="2194560"/>
            <a:ext cx="3200400" cy="228600"/>
          </a:xfrm>
          <a:prstGeom prst="rect">
            <a:avLst/>
          </a:prstGeom>
          <a:noFill/>
        </p:spPr>
        <p:txBody>
          <a:bodyPr wrap="square" anchor="t"/>
          <a:lstStyle/>
          <a:p>
            <a:pPr algn="ctr">
              <a:defRPr sz="900" b="0" i="0">
                <a:solidFill>
                  <a:srgbClr val="B0BEC5"/>
                </a:solidFill>
              </a:defRPr>
            </a:pPr>
            <a:r>
              <a:t>Mo 15-24</a:t>
            </a:r>
          </a:p>
        </p:txBody>
      </p:sp>
      <p:sp>
        <p:nvSpPr>
          <p:cNvPr id="22" name="TextBox 21"/>
          <p:cNvSpPr txBox="1"/>
          <p:nvPr/>
        </p:nvSpPr>
        <p:spPr>
          <a:xfrm>
            <a:off x="7863840" y="3108960"/>
            <a:ext cx="3200400" cy="548640"/>
          </a:xfrm>
          <a:prstGeom prst="rect">
            <a:avLst/>
          </a:prstGeom>
          <a:noFill/>
        </p:spPr>
        <p:txBody>
          <a:bodyPr wrap="square" anchor="t"/>
          <a:lstStyle/>
          <a:p>
            <a:pPr algn="ctr">
              <a:defRPr sz="900" b="0" i="0">
                <a:solidFill>
                  <a:srgbClr val="B0BEC5"/>
                </a:solidFill>
              </a:defRPr>
            </a:pPr>
            <a:r>
              <a:t>SOC 2 | Multi-Site</a:t>
            </a:r>
            <a:br/>
            <a:r>
              <a:t>LP Migration | 8-12 Sites</a:t>
            </a:r>
          </a:p>
        </p:txBody>
      </p:sp>
      <p:sp>
        <p:nvSpPr>
          <p:cNvPr id="23" name="Diamond 22"/>
          <p:cNvSpPr/>
          <p:nvPr/>
        </p:nvSpPr>
        <p:spPr>
          <a:xfrm>
            <a:off x="10927080" y="3703320"/>
            <a:ext cx="274320" cy="274320"/>
          </a:xfrm>
          <a:prstGeom prst="diamond">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561320" y="3977640"/>
            <a:ext cx="1097280" cy="365760"/>
          </a:xfrm>
          <a:prstGeom prst="rect">
            <a:avLst/>
          </a:prstGeom>
          <a:noFill/>
        </p:spPr>
        <p:txBody>
          <a:bodyPr wrap="square" anchor="t"/>
          <a:lstStyle/>
          <a:p>
            <a:pPr algn="ctr">
              <a:defRPr sz="800" b="1" i="0">
                <a:solidFill>
                  <a:srgbClr val="9B59B6"/>
                </a:solidFill>
              </a:defRPr>
            </a:pPr>
            <a:r>
              <a:t>$600K-$1.5M</a:t>
            </a:r>
            <a:br/>
            <a:r>
              <a:t>ARR</a:t>
            </a:r>
          </a:p>
        </p:txBody>
      </p:sp>
      <p:sp>
        <p:nvSpPr>
          <p:cNvPr id="25" name="TextBox 24"/>
          <p:cNvSpPr txBox="1"/>
          <p:nvPr/>
        </p:nvSpPr>
        <p:spPr>
          <a:xfrm>
            <a:off x="274320" y="1645920"/>
            <a:ext cx="1828800" cy="274320"/>
          </a:xfrm>
          <a:prstGeom prst="rect">
            <a:avLst/>
          </a:prstGeom>
          <a:noFill/>
        </p:spPr>
        <p:txBody>
          <a:bodyPr wrap="square" anchor="t"/>
          <a:lstStyle/>
          <a:p>
            <a:pPr algn="ctr">
              <a:defRPr sz="1200" b="1" i="0">
                <a:solidFill>
                  <a:srgbClr val="C0392B"/>
                </a:solidFill>
              </a:defRPr>
            </a:pPr>
            <a:r>
              <a:t>YOU ARE HERE</a:t>
            </a:r>
          </a:p>
        </p:txBody>
      </p:sp>
      <p:sp>
        <p:nvSpPr>
          <p:cNvPr id="26" name="Right Arrow 25"/>
          <p:cNvSpPr/>
          <p:nvPr/>
        </p:nvSpPr>
        <p:spPr>
          <a:xfrm>
            <a:off x="640080" y="1920240"/>
            <a:ext cx="457200" cy="182880"/>
          </a:xfrm>
          <a:prstGeom prst="rightArrow">
            <a:avLst/>
          </a:prstGeom>
          <a:solidFill>
            <a:srgbClr val="B0BE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5303520"/>
            <a:ext cx="2743200" cy="228600"/>
          </a:xfrm>
          <a:prstGeom prst="rect">
            <a:avLst/>
          </a:prstGeom>
          <a:noFill/>
        </p:spPr>
        <p:txBody>
          <a:bodyPr wrap="square" anchor="t"/>
          <a:lstStyle/>
          <a:p>
            <a:pPr algn="ctr">
              <a:defRPr sz="900" b="0" i="0">
                <a:solidFill>
                  <a:srgbClr val="B0BEC5"/>
                </a:solidFill>
              </a:defRPr>
            </a:pPr>
            <a:r>
              <a:t>2-3 engineers</a:t>
            </a:r>
          </a:p>
        </p:txBody>
      </p:sp>
      <p:sp>
        <p:nvSpPr>
          <p:cNvPr id="28" name="TextBox 27"/>
          <p:cNvSpPr txBox="1"/>
          <p:nvPr/>
        </p:nvSpPr>
        <p:spPr>
          <a:xfrm>
            <a:off x="5394960" y="5303520"/>
            <a:ext cx="2286000" cy="228600"/>
          </a:xfrm>
          <a:prstGeom prst="rect">
            <a:avLst/>
          </a:prstGeom>
          <a:noFill/>
        </p:spPr>
        <p:txBody>
          <a:bodyPr wrap="square" anchor="t"/>
          <a:lstStyle/>
          <a:p>
            <a:pPr algn="ctr">
              <a:defRPr sz="900" b="0" i="0">
                <a:solidFill>
                  <a:srgbClr val="B0BEC5"/>
                </a:solidFill>
              </a:defRPr>
            </a:pPr>
            <a:r>
              <a:t>3-4 engineers</a:t>
            </a:r>
          </a:p>
        </p:txBody>
      </p:sp>
      <p:sp>
        <p:nvSpPr>
          <p:cNvPr id="29" name="TextBox 28"/>
          <p:cNvSpPr txBox="1"/>
          <p:nvPr/>
        </p:nvSpPr>
        <p:spPr>
          <a:xfrm>
            <a:off x="7863840" y="5303520"/>
            <a:ext cx="3200400" cy="228600"/>
          </a:xfrm>
          <a:prstGeom prst="rect">
            <a:avLst/>
          </a:prstGeom>
          <a:noFill/>
        </p:spPr>
        <p:txBody>
          <a:bodyPr wrap="square" anchor="t"/>
          <a:lstStyle/>
          <a:p>
            <a:pPr algn="ctr">
              <a:defRPr sz="900" b="0" i="0">
                <a:solidFill>
                  <a:srgbClr val="B0BEC5"/>
                </a:solidFill>
              </a:defRPr>
            </a:pPr>
            <a:r>
              <a:t>4-6 engineers + 1 CS</a:t>
            </a:r>
          </a:p>
        </p:txBody>
      </p:sp>
      <p:sp>
        <p:nvSpPr>
          <p:cNvPr id="30" name="TextBox 29"/>
          <p:cNvSpPr txBox="1"/>
          <p:nvPr/>
        </p:nvSpPr>
        <p:spPr>
          <a:xfrm>
            <a:off x="11505895" y="6492240"/>
            <a:ext cx="457200" cy="274320"/>
          </a:xfrm>
          <a:prstGeom prst="rect">
            <a:avLst/>
          </a:prstGeom>
          <a:noFill/>
        </p:spPr>
        <p:txBody>
          <a:bodyPr wrap="square" anchor="t"/>
          <a:lstStyle/>
          <a:p>
            <a:pPr algn="r">
              <a:defRPr sz="1000" b="0" i="0">
                <a:solidFill>
                  <a:srgbClr val="B0BEC5"/>
                </a:solidFill>
              </a:defRPr>
            </a:pPr>
            <a: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243B5E"/>
        </a:solidFill>
        <a:effectLst/>
      </p:bgPr>
    </p:bg>
    <p:spTree>
      <p:nvGrpSpPr>
        <p:cNvPr id="1" name=""/>
        <p:cNvGrpSpPr/>
        <p:nvPr/>
      </p:nvGrpSpPr>
      <p:grpSpPr/>
      <p:sp>
        <p:nvSpPr>
          <p:cNvPr id="2" name="TextBox 1"/>
          <p:cNvSpPr txBox="1"/>
          <p:nvPr/>
        </p:nvSpPr>
        <p:spPr>
          <a:xfrm>
            <a:off x="914400" y="2286000"/>
            <a:ext cx="10362895" cy="914400"/>
          </a:xfrm>
          <a:prstGeom prst="rect">
            <a:avLst/>
          </a:prstGeom>
          <a:noFill/>
        </p:spPr>
        <p:txBody>
          <a:bodyPr wrap="square" anchor="ctr"/>
          <a:lstStyle/>
          <a:p>
            <a:pPr algn="ctr">
              <a:defRPr sz="3200" b="1" i="0">
                <a:solidFill>
                  <a:srgbClr val="D4A843"/>
                </a:solidFill>
              </a:defRPr>
            </a:pPr>
            <a:r>
              <a:t>Open Questions &amp; Next Steps</a:t>
            </a:r>
          </a:p>
        </p:txBody>
      </p:sp>
      <p:sp>
        <p:nvSpPr>
          <p:cNvPr id="3" name="TextBox 2"/>
          <p:cNvSpPr txBox="1"/>
          <p:nvPr/>
        </p:nvSpPr>
        <p:spPr>
          <a:xfrm>
            <a:off x="914400" y="3383280"/>
            <a:ext cx="10362895" cy="548640"/>
          </a:xfrm>
          <a:prstGeom prst="rect">
            <a:avLst/>
          </a:prstGeom>
          <a:noFill/>
        </p:spPr>
        <p:txBody>
          <a:bodyPr wrap="square" anchor="t"/>
          <a:lstStyle/>
          <a:p>
            <a:pPr algn="ctr">
              <a:defRPr sz="2000" b="0" i="0">
                <a:solidFill>
                  <a:srgbClr val="B0BEC5"/>
                </a:solidFill>
              </a:defRPr>
            </a:pPr>
            <a:r>
              <a:t>What we need to decide together</a:t>
            </a:r>
          </a:p>
        </p:txBody>
      </p:sp>
      <p:sp>
        <p:nvSpPr>
          <p:cNvPr id="4" name="TextBox 3"/>
          <p:cNvSpPr txBox="1"/>
          <p:nvPr/>
        </p:nvSpPr>
        <p:spPr>
          <a:xfrm>
            <a:off x="11505895" y="6492240"/>
            <a:ext cx="457200" cy="274320"/>
          </a:xfrm>
          <a:prstGeom prst="rect">
            <a:avLst/>
          </a:prstGeom>
          <a:noFill/>
        </p:spPr>
        <p:txBody>
          <a:bodyPr wrap="square" anchor="t"/>
          <a:lstStyle/>
          <a:p>
            <a:pPr algn="r">
              <a:defRPr sz="1000" b="0" i="0">
                <a:solidFill>
                  <a:srgbClr val="B0BEC5"/>
                </a:solidFill>
              </a:defRPr>
            </a:pPr>
            <a: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685800" y="365760"/>
            <a:ext cx="10820095" cy="640080"/>
          </a:xfrm>
          <a:prstGeom prst="rect">
            <a:avLst/>
          </a:prstGeom>
          <a:noFill/>
        </p:spPr>
        <p:txBody>
          <a:bodyPr wrap="square" anchor="t"/>
          <a:lstStyle/>
          <a:p>
            <a:pPr algn="l">
              <a:defRPr sz="2800" b="1" i="0">
                <a:solidFill>
                  <a:srgbClr val="FFFFFF"/>
                </a:solidFill>
              </a:defRPr>
            </a:pPr>
            <a:r>
              <a:t>Open Questions That Need Team Discussion</a:t>
            </a:r>
          </a:p>
        </p:txBody>
      </p:sp>
      <p:sp>
        <p:nvSpPr>
          <p:cNvPr id="3" name="TextBox 2"/>
          <p:cNvSpPr txBox="1"/>
          <p:nvPr/>
        </p:nvSpPr>
        <p:spPr>
          <a:xfrm>
            <a:off x="685800" y="1554480"/>
            <a:ext cx="10820095" cy="4572000"/>
          </a:xfrm>
          <a:prstGeom prst="rect">
            <a:avLst/>
          </a:prstGeom>
          <a:noFill/>
        </p:spPr>
        <p:txBody>
          <a:bodyPr wrap="square">
            <a:spAutoFit/>
          </a:bodyPr>
          <a:lstStyle/>
          <a:p>
            <a:pPr>
              <a:spcAft>
                <a:spcPts val="600"/>
              </a:spcAft>
              <a:defRPr sz="1800">
                <a:solidFill>
                  <a:srgbClr val="FFFFFF"/>
                </a:solidFill>
              </a:defRPr>
            </a:pPr>
            <a:r>
              <a:rPr sz="1800">
                <a:solidFill>
                  <a:srgbClr val="FFFFFF"/>
                </a:solidFill>
              </a:rPr>
              <a:t/>
            </a:r>
            <a:r>
              <a:rPr b="1" sz="1800">
                <a:solidFill>
                  <a:srgbClr val="FFFFFF"/>
                </a:solidFill>
              </a:rPr>
              <a:t>LP Tool Landscape (Existential):</a:t>
            </a:r>
            <a:r>
              <a:rPr sz="1800">
                <a:solidFill>
                  <a:srgbClr val="FFFFFF"/>
                </a:solidFill>
              </a:rPr>
              <a:t> Do our target refineries use Excel Solver, Aspen PIMS, or Haverly GRTMPS? This determines our entire LP automation strategy. If &gt;60% use PIMS, we need a fundamentally different approach. *Decision needed by: Week 4*</a:t>
            </a:r>
          </a:p>
          <a:p>
            <a:pPr>
              <a:spcAft>
                <a:spcPts val="600"/>
              </a:spcAft>
              <a:defRPr sz="1800">
                <a:solidFill>
                  <a:srgbClr val="FFFFFF"/>
                </a:solidFill>
              </a:defRPr>
            </a:pPr>
            <a:r>
              <a:rPr sz="1800">
                <a:solidFill>
                  <a:srgbClr val="FFFFFF"/>
                </a:solidFill>
              </a:rPr>
              <a:t/>
            </a:r>
            <a:r>
              <a:rPr b="1" sz="1800">
                <a:solidFill>
                  <a:srgbClr val="FFFFFF"/>
                </a:solidFill>
              </a:rPr>
              <a:t>Excel COM Reliability:</a:t>
            </a:r>
            <a:r>
              <a:rPr sz="1800">
                <a:solidFill>
                  <a:srgbClr val="FFFFFF"/>
                </a:solidFill>
              </a:rPr>
              <a:t> Can we actually automate a real customer's LP model unattended for 72+ hours? Microsoft explicitly says 'don't do this.' We need a stress test with a real model, not a demo. *Decision needed by: Week 6*</a:t>
            </a:r>
          </a:p>
          <a:p>
            <a:pPr>
              <a:spcAft>
                <a:spcPts val="600"/>
              </a:spcAft>
              <a:defRPr sz="1800">
                <a:solidFill>
                  <a:srgbClr val="FFFFFF"/>
                </a:solidFill>
              </a:defRPr>
            </a:pPr>
            <a:r>
              <a:rPr sz="1800">
                <a:solidFill>
                  <a:srgbClr val="FFFFFF"/>
                </a:solidFill>
              </a:rPr>
              <a:t/>
            </a:r>
            <a:r>
              <a:rPr b="1" sz="1800">
                <a:solidFill>
                  <a:srgbClr val="FFFFFF"/>
                </a:solidFill>
              </a:rPr>
              <a:t>Domain Expert Recruitment:</a:t>
            </a:r>
            <a:r>
              <a:rPr sz="1800">
                <a:solidFill>
                  <a:srgbClr val="FFFFFF"/>
                </a:solidFill>
              </a:rPr>
              <a:t> Who in our network has 10+ years of refinery process engineering experience? Every successful industrial software startup (Seeq, Imubit, OSIsoft) was founded by industry veterans. *Decision needed by: Week 8 — this is non-negotiable*</a:t>
            </a:r>
          </a:p>
          <a:p>
            <a:pPr>
              <a:spcAft>
                <a:spcPts val="600"/>
              </a:spcAft>
              <a:defRPr sz="1800">
                <a:solidFill>
                  <a:srgbClr val="FFFFFF"/>
                </a:solidFill>
              </a:defRPr>
            </a:pPr>
            <a:r>
              <a:rPr sz="1800">
                <a:solidFill>
                  <a:srgbClr val="FFFFFF"/>
                </a:solidFill>
              </a:rPr>
              <a:t/>
            </a:r>
            <a:r>
              <a:rPr b="1" sz="1800">
                <a:solidFill>
                  <a:srgbClr val="FFFFFF"/>
                </a:solidFill>
              </a:rPr>
              <a:t>DCS Console Integration:</a:t>
            </a:r>
            <a:r>
              <a:rPr sz="1800">
                <a:solidFill>
                  <a:srgbClr val="FFFFFF"/>
                </a:solidFill>
              </a:rPr>
              <a:t> Should we push advisory notifications directly to Honeywell Experion or Yokogawa DCS systems? This reaches field operators but requires per-vendor OPC-UA integration. *Decision needed by: Phase 2 planning*</a:t>
            </a:r>
          </a:p>
          <a:p>
            <a:pPr>
              <a:spcAft>
                <a:spcPts val="600"/>
              </a:spcAft>
              <a:defRPr sz="1800">
                <a:solidFill>
                  <a:srgbClr val="FFFFFF"/>
                </a:solidFill>
              </a:defRPr>
            </a:pPr>
            <a:r>
              <a:rPr sz="1800">
                <a:solidFill>
                  <a:srgbClr val="FFFFFF"/>
                </a:solidFill>
              </a:rPr>
              <a:t/>
            </a:r>
            <a:r>
              <a:rPr b="1" sz="1800">
                <a:solidFill>
                  <a:srgbClr val="FFFFFF"/>
                </a:solidFill>
              </a:rPr>
              <a:t>Voice Note Handling:</a:t>
            </a:r>
            <a:r>
              <a:rPr sz="1800">
                <a:solidFill>
                  <a:srgbClr val="FFFFFF"/>
                </a:solidFill>
              </a:rPr>
              <a:t> Should constraint voice notes be transcribed (reintroduces NLP accuracy risk) or stored as audio-only attachments? *Decision needed by: Phase 1 Week 12*</a:t>
            </a:r>
          </a:p>
        </p:txBody>
      </p:sp>
      <p:sp>
        <p:nvSpPr>
          <p:cNvPr id="4" name="TextBox 3"/>
          <p:cNvSpPr txBox="1"/>
          <p:nvPr/>
        </p:nvSpPr>
        <p:spPr>
          <a:xfrm>
            <a:off x="11505895" y="6492240"/>
            <a:ext cx="457200" cy="274320"/>
          </a:xfrm>
          <a:prstGeom prst="rect">
            <a:avLst/>
          </a:prstGeom>
          <a:noFill/>
        </p:spPr>
        <p:txBody>
          <a:bodyPr wrap="square" anchor="t"/>
          <a:lstStyle/>
          <a:p>
            <a:pPr algn="r">
              <a:defRPr sz="1000" b="0" i="0">
                <a:solidFill>
                  <a:srgbClr val="B0BEC5"/>
                </a:solidFill>
              </a:defRPr>
            </a:pPr>
            <a:r>
              <a:t>52</a:t>
            </a:r>
          </a:p>
        </p:txBody>
      </p:sp>
      <p:sp>
        <p:nvSpPr>
          <p:cNvPr id="5" name="TextBox 4"/>
          <p:cNvSpPr txBox="1"/>
          <p:nvPr/>
        </p:nvSpPr>
        <p:spPr>
          <a:xfrm>
            <a:off x="685800" y="6400800"/>
            <a:ext cx="3657600" cy="274320"/>
          </a:xfrm>
          <a:prstGeom prst="rect">
            <a:avLst/>
          </a:prstGeom>
          <a:noFill/>
        </p:spPr>
        <p:txBody>
          <a:bodyPr wrap="square" anchor="t"/>
          <a:lstStyle/>
          <a:p>
            <a:pPr algn="l">
              <a:defRPr sz="1200" b="0" i="1">
                <a:solidFill>
                  <a:srgbClr val="78909C"/>
                </a:solidFill>
              </a:defRPr>
            </a:pPr>
            <a:r>
              <a:t>Deep dive: ENGINEERING-SPEC.md</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685800" y="365760"/>
            <a:ext cx="10820095" cy="640080"/>
          </a:xfrm>
          <a:prstGeom prst="rect">
            <a:avLst/>
          </a:prstGeom>
          <a:noFill/>
        </p:spPr>
        <p:txBody>
          <a:bodyPr wrap="square" anchor="t"/>
          <a:lstStyle/>
          <a:p>
            <a:pPr algn="l">
              <a:defRPr sz="2800" b="1" i="0">
                <a:solidFill>
                  <a:srgbClr val="FFFFFF"/>
                </a:solidFill>
              </a:defRPr>
            </a:pPr>
            <a:r>
              <a:t>Immediate Next Steps</a:t>
            </a:r>
          </a:p>
        </p:txBody>
      </p:sp>
      <p:sp>
        <p:nvSpPr>
          <p:cNvPr id="3" name="TextBox 2"/>
          <p:cNvSpPr txBox="1"/>
          <p:nvPr/>
        </p:nvSpPr>
        <p:spPr>
          <a:xfrm>
            <a:off x="685800" y="1005840"/>
            <a:ext cx="10820095" cy="457200"/>
          </a:xfrm>
          <a:prstGeom prst="rect">
            <a:avLst/>
          </a:prstGeom>
          <a:noFill/>
        </p:spPr>
        <p:txBody>
          <a:bodyPr wrap="square" anchor="t"/>
          <a:lstStyle/>
          <a:p>
            <a:pPr algn="l">
              <a:defRPr sz="2000" b="0" i="0">
                <a:solidFill>
                  <a:srgbClr val="B0BEC5"/>
                </a:solidFill>
              </a:defRPr>
            </a:pPr>
            <a:r>
              <a:t>What we do THIS WEEK and THIS MONTH</a:t>
            </a:r>
          </a:p>
        </p:txBody>
      </p:sp>
      <p:sp>
        <p:nvSpPr>
          <p:cNvPr id="4" name="TextBox 3"/>
          <p:cNvSpPr txBox="1"/>
          <p:nvPr/>
        </p:nvSpPr>
        <p:spPr>
          <a:xfrm>
            <a:off x="685800" y="1737360"/>
            <a:ext cx="5272887" cy="4389120"/>
          </a:xfrm>
          <a:prstGeom prst="rect">
            <a:avLst/>
          </a:prstGeom>
          <a:noFill/>
        </p:spPr>
        <p:txBody>
          <a:bodyPr wrap="square">
            <a:spAutoFit/>
          </a:bodyPr>
          <a:lstStyle/>
          <a:p>
            <a:pPr>
              <a:spcAft>
                <a:spcPts val="600"/>
              </a:spcAft>
              <a:defRPr sz="1600">
                <a:solidFill>
                  <a:srgbClr val="FFFFFF"/>
                </a:solidFill>
              </a:defRPr>
            </a:pPr>
            <a:r>
              <a:rPr sz="1600">
                <a:solidFill>
                  <a:srgbClr val="FFFFFF"/>
                </a:solidFill>
              </a:rPr>
              <a:t/>
            </a:r>
            <a:r>
              <a:rPr b="1" sz="1600">
                <a:solidFill>
                  <a:srgbClr val="FFFFFF"/>
                </a:solidFill>
              </a:rPr>
              <a:t>THIS WEEK:</a:t>
            </a:r>
            <a:r>
              <a:rPr sz="1600">
                <a:solidFill>
                  <a:srgbClr val="FFFFFF"/>
                </a:solidFill>
              </a:rPr>
              <a:t/>
            </a:r>
          </a:p>
          <a:p>
            <a:pPr>
              <a:spcAft>
                <a:spcPts val="600"/>
              </a:spcAft>
              <a:defRPr sz="1600">
                <a:solidFill>
                  <a:srgbClr val="FFFFFF"/>
                </a:solidFill>
              </a:defRPr>
            </a:pPr>
            <a:r>
              <a:t>Set up Azure account with student credits ($100/year education + apply for Microsoft for Startups up to $150K)</a:t>
            </a:r>
          </a:p>
          <a:p>
            <a:pPr>
              <a:spcAft>
                <a:spcPts val="600"/>
              </a:spcAft>
              <a:defRPr sz="1600">
                <a:solidFill>
                  <a:srgbClr val="FFFFFF"/>
                </a:solidFill>
              </a:defRPr>
            </a:pPr>
            <a:r>
              <a:t>Create shared GitHub repo with engineering spec, research docs, and this presentation</a:t>
            </a:r>
          </a:p>
          <a:p>
            <a:pPr>
              <a:spcAft>
                <a:spcPts val="600"/>
              </a:spcAft>
              <a:defRPr sz="1600">
                <a:solidFill>
                  <a:srgbClr val="FFFFFF"/>
                </a:solidFill>
              </a:defRPr>
            </a:pPr>
            <a:r>
              <a:t>Draft list of 10-15 target mid-size refineries (50K-200K BPD) from EIA data</a:t>
            </a:r>
          </a:p>
          <a:p>
            <a:pPr>
              <a:spcAft>
                <a:spcPts val="600"/>
              </a:spcAft>
              <a:defRPr sz="1600">
                <a:solidFill>
                  <a:srgbClr val="FFFFFF"/>
                </a:solidFill>
              </a:defRPr>
            </a:pPr>
            <a:r>
              <a:t>Begin LinkedIn outreach for domain expert advisor — target retired process engineers, LP planners</a:t>
            </a:r>
          </a:p>
          <a:p>
            <a:pPr>
              <a:spcAft>
                <a:spcPts val="600"/>
              </a:spcAft>
              <a:defRPr sz="1600">
                <a:solidFill>
                  <a:srgbClr val="FFFFFF"/>
                </a:solidFill>
              </a:defRPr>
            </a:pPr>
            <a:r>
              <a:t>Set up Anthropic API key and run first Claude prompt template test with sample LP output</a:t>
            </a:r>
          </a:p>
        </p:txBody>
      </p:sp>
      <p:sp>
        <p:nvSpPr>
          <p:cNvPr id="5" name="Rectangle 4"/>
          <p:cNvSpPr/>
          <p:nvPr/>
        </p:nvSpPr>
        <p:spPr>
          <a:xfrm>
            <a:off x="6050127" y="1737360"/>
            <a:ext cx="18288" cy="4389120"/>
          </a:xfrm>
          <a:prstGeom prst="rect">
            <a:avLst/>
          </a:prstGeom>
          <a:solidFill>
            <a:srgbClr val="D4A8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33007" y="1737360"/>
            <a:ext cx="5272887" cy="4389120"/>
          </a:xfrm>
          <a:prstGeom prst="rect">
            <a:avLst/>
          </a:prstGeom>
          <a:noFill/>
        </p:spPr>
        <p:txBody>
          <a:bodyPr wrap="square">
            <a:spAutoFit/>
          </a:bodyPr>
          <a:lstStyle/>
          <a:p>
            <a:pPr>
              <a:spcAft>
                <a:spcPts val="600"/>
              </a:spcAft>
              <a:defRPr sz="1600">
                <a:solidFill>
                  <a:srgbClr val="FFFFFF"/>
                </a:solidFill>
              </a:defRPr>
            </a:pPr>
            <a:r>
              <a:rPr sz="1600">
                <a:solidFill>
                  <a:srgbClr val="FFFFFF"/>
                </a:solidFill>
              </a:rPr>
              <a:t/>
            </a:r>
            <a:r>
              <a:rPr b="1" sz="1600">
                <a:solidFill>
                  <a:srgbClr val="FFFFFF"/>
                </a:solidFill>
              </a:rPr>
              <a:t>THIS MONTH:</a:t>
            </a:r>
            <a:r>
              <a:rPr sz="1600">
                <a:solidFill>
                  <a:srgbClr val="FFFFFF"/>
                </a:solidFill>
              </a:rPr>
              <a:t/>
            </a:r>
          </a:p>
          <a:p>
            <a:pPr>
              <a:spcAft>
                <a:spcPts val="600"/>
              </a:spcAft>
              <a:defRPr sz="1600">
                <a:solidFill>
                  <a:srgbClr val="FFFFFF"/>
                </a:solidFill>
              </a:defRPr>
            </a:pPr>
            <a:r>
              <a:t>Build historian data simulator (generate realistic PI tag data for 100-150 tags without needing real refinery access)</a:t>
            </a:r>
          </a:p>
          <a:p>
            <a:pPr>
              <a:spcAft>
                <a:spcPts val="600"/>
              </a:spcAft>
              <a:defRPr sz="1600">
                <a:solidFill>
                  <a:srgbClr val="FFFFFF"/>
                </a:solidFill>
              </a:defRPr>
            </a:pPr>
            <a:r>
              <a:t>Prototype Edge Agent: Python script that reads from simulator, validates data quality, pushes to cloud endpoint</a:t>
            </a:r>
          </a:p>
          <a:p>
            <a:pPr>
              <a:spcAft>
                <a:spcPts val="600"/>
              </a:spcAft>
              <a:defRPr sz="1600">
                <a:solidFill>
                  <a:srgbClr val="FFFFFF"/>
                </a:solidFill>
              </a:defRPr>
            </a:pPr>
            <a:r>
              <a:t>Stand up FastAPI skeleton + TimescaleDB on Azure Container Apps (free tier)</a:t>
            </a:r>
          </a:p>
          <a:p>
            <a:pPr>
              <a:spcAft>
                <a:spcPts val="600"/>
              </a:spcAft>
              <a:defRPr sz="1600">
                <a:solidFill>
                  <a:srgbClr val="FFFFFF"/>
                </a:solidFill>
              </a:defRPr>
            </a:pPr>
            <a:r>
              <a:t>Write first Claude prompt template and test with sample LP solve output — validate number cross-checking works</a:t>
            </a:r>
          </a:p>
          <a:p>
            <a:pPr>
              <a:spcAft>
                <a:spcPts val="600"/>
              </a:spcAft>
              <a:defRPr sz="1600">
                <a:solidFill>
                  <a:srgbClr val="FFFFFF"/>
                </a:solidFill>
              </a:defRPr>
            </a:pPr>
            <a:r>
              <a:t>Start LP tool survey: cold-email process engineers at target refineries, attend SPE/NPRA events if possible</a:t>
            </a:r>
          </a:p>
        </p:txBody>
      </p:sp>
      <p:sp>
        <p:nvSpPr>
          <p:cNvPr id="7" name="TextBox 6"/>
          <p:cNvSpPr txBox="1"/>
          <p:nvPr/>
        </p:nvSpPr>
        <p:spPr>
          <a:xfrm>
            <a:off x="11505895" y="6492240"/>
            <a:ext cx="457200" cy="274320"/>
          </a:xfrm>
          <a:prstGeom prst="rect">
            <a:avLst/>
          </a:prstGeom>
          <a:noFill/>
        </p:spPr>
        <p:txBody>
          <a:bodyPr wrap="square" anchor="t"/>
          <a:lstStyle/>
          <a:p>
            <a:pPr algn="r">
              <a:defRPr sz="1000" b="0" i="0">
                <a:solidFill>
                  <a:srgbClr val="B0BEC5"/>
                </a:solidFill>
              </a:defRPr>
            </a:pPr>
            <a: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685800" y="365760"/>
            <a:ext cx="10820095" cy="640080"/>
          </a:xfrm>
          <a:prstGeom prst="rect">
            <a:avLst/>
          </a:prstGeom>
          <a:noFill/>
        </p:spPr>
        <p:txBody>
          <a:bodyPr wrap="square" anchor="t"/>
          <a:lstStyle/>
          <a:p>
            <a:pPr algn="l">
              <a:defRPr sz="2800" b="1" i="0">
                <a:solidFill>
                  <a:srgbClr val="FFFFFF"/>
                </a:solidFill>
              </a:defRPr>
            </a:pPr>
            <a:r>
              <a:t>Skills Gap &amp; Learning Plan</a:t>
            </a:r>
          </a:p>
        </p:txBody>
      </p:sp>
      <p:sp>
        <p:nvSpPr>
          <p:cNvPr id="3" name="TextBox 2"/>
          <p:cNvSpPr txBox="1"/>
          <p:nvPr/>
        </p:nvSpPr>
        <p:spPr>
          <a:xfrm>
            <a:off x="685800" y="1005840"/>
            <a:ext cx="10820095" cy="457200"/>
          </a:xfrm>
          <a:prstGeom prst="rect">
            <a:avLst/>
          </a:prstGeom>
          <a:noFill/>
        </p:spPr>
        <p:txBody>
          <a:bodyPr wrap="square" anchor="t"/>
          <a:lstStyle/>
          <a:p>
            <a:pPr algn="l">
              <a:defRPr sz="2000" b="0" i="0">
                <a:solidFill>
                  <a:srgbClr val="B0BEC5"/>
                </a:solidFill>
              </a:defRPr>
            </a:pPr>
            <a:r>
              <a:t>What we need to learn and where to start</a:t>
            </a:r>
          </a:p>
        </p:txBody>
      </p:sp>
      <p:sp>
        <p:nvSpPr>
          <p:cNvPr id="4" name="TextBox 3"/>
          <p:cNvSpPr txBox="1"/>
          <p:nvPr/>
        </p:nvSpPr>
        <p:spPr>
          <a:xfrm>
            <a:off x="685800" y="1737360"/>
            <a:ext cx="10820095" cy="4389120"/>
          </a:xfrm>
          <a:prstGeom prst="rect">
            <a:avLst/>
          </a:prstGeom>
          <a:noFill/>
        </p:spPr>
        <p:txBody>
          <a:bodyPr wrap="square">
            <a:spAutoFit/>
          </a:bodyPr>
          <a:lstStyle/>
          <a:p>
            <a:pPr>
              <a:spcAft>
                <a:spcPts val="600"/>
              </a:spcAft>
              <a:defRPr sz="1800">
                <a:solidFill>
                  <a:srgbClr val="FFFFFF"/>
                </a:solidFill>
              </a:defRPr>
            </a:pPr>
            <a:r>
              <a:rPr sz="1800">
                <a:solidFill>
                  <a:srgbClr val="FFFFFF"/>
                </a:solidFill>
              </a:rPr>
              <a:t/>
            </a:r>
            <a:r>
              <a:rPr b="1" sz="1800">
                <a:solidFill>
                  <a:srgbClr val="FFFFFF"/>
                </a:solidFill>
              </a:rPr>
              <a:t>Python/FastAPI backend:</a:t>
            </a:r>
            <a:r>
              <a:rPr sz="1800">
                <a:solidFill>
                  <a:srgbClr val="FFFFFF"/>
                </a:solidFill>
              </a:rPr>
              <a:t> Build the modular monolith. Start with FastAPI docs + Arjan Codes YouTube channel for async patterns. Most critical skill — this is 60% of the codebase.</a:t>
            </a:r>
          </a:p>
          <a:p>
            <a:pPr>
              <a:spcAft>
                <a:spcPts val="600"/>
              </a:spcAft>
              <a:defRPr sz="1800">
                <a:solidFill>
                  <a:srgbClr val="FFFFFF"/>
                </a:solidFill>
              </a:defRPr>
            </a:pPr>
            <a:r>
              <a:rPr sz="1800">
                <a:solidFill>
                  <a:srgbClr val="FFFFFF"/>
                </a:solidFill>
              </a:rPr>
              <a:t/>
            </a:r>
            <a:r>
              <a:rPr b="1" sz="1800">
                <a:solidFill>
                  <a:srgbClr val="FFFFFF"/>
                </a:solidFill>
              </a:rPr>
              <a:t>TimescaleDB + PostgreSQL:</a:t>
            </a:r>
            <a:r>
              <a:rPr sz="1800">
                <a:solidFill>
                  <a:srgbClr val="FFFFFF"/>
                </a:solidFill>
              </a:rPr>
              <a:t> Time-series data modeling, hypertables, continuous aggregates, Row-Level Security. Start with TimescaleDB tutorials and the official PostgreSQL RLS docs.</a:t>
            </a:r>
          </a:p>
          <a:p>
            <a:pPr>
              <a:spcAft>
                <a:spcPts val="600"/>
              </a:spcAft>
              <a:defRPr sz="1800">
                <a:solidFill>
                  <a:srgbClr val="FFFFFF"/>
                </a:solidFill>
              </a:defRPr>
            </a:pPr>
            <a:r>
              <a:rPr sz="1800">
                <a:solidFill>
                  <a:srgbClr val="FFFFFF"/>
                </a:solidFill>
              </a:rPr>
              <a:t/>
            </a:r>
            <a:r>
              <a:rPr b="1" sz="1800">
                <a:solidFill>
                  <a:srgbClr val="FFFFFF"/>
                </a:solidFill>
              </a:rPr>
              <a:t>Azure Cloud (Container Apps, Blob Storage, Key Vault):</a:t>
            </a:r>
            <a:r>
              <a:rPr sz="1800">
                <a:solidFill>
                  <a:srgbClr val="FFFFFF"/>
                </a:solidFill>
              </a:rPr>
              <a:t> Start with Microsoft Learn student paths. Focus on Container Apps deployment and managed PostgreSQL setup.</a:t>
            </a:r>
          </a:p>
          <a:p>
            <a:pPr>
              <a:spcAft>
                <a:spcPts val="600"/>
              </a:spcAft>
              <a:defRPr sz="1800">
                <a:solidFill>
                  <a:srgbClr val="FFFFFF"/>
                </a:solidFill>
              </a:defRPr>
            </a:pPr>
            <a:r>
              <a:rPr sz="1800">
                <a:solidFill>
                  <a:srgbClr val="FFFFFF"/>
                </a:solidFill>
              </a:rPr>
              <a:t/>
            </a:r>
            <a:r>
              <a:rPr b="1" sz="1800">
                <a:solidFill>
                  <a:srgbClr val="FFFFFF"/>
                </a:solidFill>
              </a:rPr>
              <a:t>Claude API integration:</a:t>
            </a:r>
            <a:r>
              <a:rPr sz="1800">
                <a:solidFill>
                  <a:srgbClr val="FFFFFF"/>
                </a:solidFill>
              </a:rPr>
              <a:t> Prompt engineering for deterministic output, tool calling for constraint extraction. Start with Anthropic's cookbook and the prompt template in the engineering spec.</a:t>
            </a:r>
          </a:p>
          <a:p>
            <a:pPr>
              <a:spcAft>
                <a:spcPts val="600"/>
              </a:spcAft>
              <a:defRPr sz="1800">
                <a:solidFill>
                  <a:srgbClr val="FFFFFF"/>
                </a:solidFill>
              </a:defRPr>
            </a:pPr>
            <a:r>
              <a:rPr sz="1800">
                <a:solidFill>
                  <a:srgbClr val="FFFFFF"/>
                </a:solidFill>
              </a:rPr>
              <a:t/>
            </a:r>
            <a:r>
              <a:rPr b="1" sz="1800">
                <a:solidFill>
                  <a:srgbClr val="FFFFFF"/>
                </a:solidFill>
              </a:rPr>
              <a:t>Industrial protocols (PI Web API, OPC-UA basics):</a:t>
            </a:r>
            <a:r>
              <a:rPr sz="1800">
                <a:solidFill>
                  <a:srgbClr val="FFFFFF"/>
                </a:solidFill>
              </a:rPr>
              <a:t> Understand how refineries expose data. AVEVA PI Web API documentation is freely available. OPC Foundation has learning resources.</a:t>
            </a:r>
          </a:p>
          <a:p>
            <a:pPr>
              <a:spcAft>
                <a:spcPts val="600"/>
              </a:spcAft>
              <a:defRPr sz="1800">
                <a:solidFill>
                  <a:srgbClr val="FFFFFF"/>
                </a:solidFill>
              </a:defRPr>
            </a:pPr>
            <a:r>
              <a:rPr sz="1800">
                <a:solidFill>
                  <a:srgbClr val="FFFFFF"/>
                </a:solidFill>
              </a:rPr>
              <a:t/>
            </a:r>
            <a:r>
              <a:rPr b="1" sz="1800">
                <a:solidFill>
                  <a:srgbClr val="FFFFFF"/>
                </a:solidFill>
              </a:rPr>
              <a:t>Windows COM automation (pywin32):</a:t>
            </a:r>
            <a:r>
              <a:rPr sz="1800">
                <a:solidFill>
                  <a:srgbClr val="FFFFFF"/>
                </a:solidFill>
              </a:rPr>
              <a:t> Niche but critical for LP automation. Microsoft COM documentation + pywin32 examples. Test early — this is the highest technical risk.</a:t>
            </a:r>
          </a:p>
        </p:txBody>
      </p:sp>
      <p:sp>
        <p:nvSpPr>
          <p:cNvPr id="5" name="TextBox 4"/>
          <p:cNvSpPr txBox="1"/>
          <p:nvPr/>
        </p:nvSpPr>
        <p:spPr>
          <a:xfrm>
            <a:off x="11505895" y="6492240"/>
            <a:ext cx="457200" cy="274320"/>
          </a:xfrm>
          <a:prstGeom prst="rect">
            <a:avLst/>
          </a:prstGeom>
          <a:noFill/>
        </p:spPr>
        <p:txBody>
          <a:bodyPr wrap="square" anchor="t"/>
          <a:lstStyle/>
          <a:p>
            <a:pPr algn="r">
              <a:defRPr sz="1000" b="0" i="0">
                <a:solidFill>
                  <a:srgbClr val="B0BEC5"/>
                </a:solidFill>
              </a:defRPr>
            </a:pPr>
            <a: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TextBox 1"/>
          <p:cNvSpPr txBox="1"/>
          <p:nvPr/>
        </p:nvSpPr>
        <p:spPr>
          <a:xfrm>
            <a:off x="685800" y="365760"/>
            <a:ext cx="10820095" cy="640080"/>
          </a:xfrm>
          <a:prstGeom prst="rect">
            <a:avLst/>
          </a:prstGeom>
          <a:noFill/>
        </p:spPr>
        <p:txBody>
          <a:bodyPr wrap="square" anchor="t"/>
          <a:lstStyle/>
          <a:p>
            <a:pPr algn="l">
              <a:defRPr sz="2800" b="1" i="0">
                <a:solidFill>
                  <a:srgbClr val="FFFFFF"/>
                </a:solidFill>
              </a:defRPr>
            </a:pPr>
            <a:r>
              <a:t>Complete File Index</a:t>
            </a:r>
          </a:p>
        </p:txBody>
      </p:sp>
      <p:sp>
        <p:nvSpPr>
          <p:cNvPr id="3" name="TextBox 2"/>
          <p:cNvSpPr txBox="1"/>
          <p:nvPr/>
        </p:nvSpPr>
        <p:spPr>
          <a:xfrm>
            <a:off x="685800" y="1005840"/>
            <a:ext cx="10820095" cy="457200"/>
          </a:xfrm>
          <a:prstGeom prst="rect">
            <a:avLst/>
          </a:prstGeom>
          <a:noFill/>
        </p:spPr>
        <p:txBody>
          <a:bodyPr wrap="square" anchor="t"/>
          <a:lstStyle/>
          <a:p>
            <a:pPr algn="l">
              <a:defRPr sz="2000" b="0" i="0">
                <a:solidFill>
                  <a:srgbClr val="B0BEC5"/>
                </a:solidFill>
              </a:defRPr>
            </a:pPr>
            <a:r>
              <a:t>Your map to everything we've produced — bookmark this slide</a:t>
            </a:r>
          </a:p>
        </p:txBody>
      </p:sp>
      <p:graphicFrame>
        <p:nvGraphicFramePr>
          <p:cNvPr id="4" name="Table 3"/>
          <p:cNvGraphicFramePr>
            <a:graphicFrameLocks noGrp="1"/>
          </p:cNvGraphicFramePr>
          <p:nvPr/>
        </p:nvGraphicFramePr>
        <p:xfrm>
          <a:off x="685800" y="1737360"/>
          <a:ext cx="10820095" cy="4389120.0"/>
        </p:xfrm>
        <a:graphic>
          <a:graphicData uri="http://schemas.openxmlformats.org/drawingml/2006/table">
            <a:tbl>
              <a:tblPr firstRow="1" bandRow="1">
                <a:tableStyleId>{5C22544A-7EE6-4342-B048-85BDC9FD1C3A}</a:tableStyleId>
              </a:tblPr>
              <a:tblGrid>
                <a:gridCol w="3606698"/>
                <a:gridCol w="3606698"/>
                <a:gridCol w="3606699"/>
              </a:tblGrid>
              <a:tr h="258183">
                <a:tc>
                  <a:txBody>
                    <a:bodyPr/>
                    <a:lstStyle/>
                    <a:p>
                      <a:pPr>
                        <a:defRPr sz="1400" b="1">
                          <a:solidFill>
                            <a:srgbClr val="D4A843"/>
                          </a:solidFill>
                        </a:defRPr>
                      </a:pPr>
                      <a:r>
                        <a:t>File Path</a:t>
                      </a:r>
                    </a:p>
                  </a:txBody>
                  <a:tcPr>
                    <a:solidFill>
                      <a:srgbClr val="15223A"/>
                    </a:solidFill>
                  </a:tcPr>
                </a:tc>
                <a:tc>
                  <a:txBody>
                    <a:bodyPr/>
                    <a:lstStyle/>
                    <a:p>
                      <a:pPr>
                        <a:defRPr sz="1400" b="1">
                          <a:solidFill>
                            <a:srgbClr val="D4A843"/>
                          </a:solidFill>
                        </a:defRPr>
                      </a:pPr>
                      <a:r>
                        <a:t>What It Contains</a:t>
                      </a:r>
                    </a:p>
                  </a:txBody>
                  <a:tcPr>
                    <a:solidFill>
                      <a:srgbClr val="15223A"/>
                    </a:solidFill>
                  </a:tcPr>
                </a:tc>
                <a:tc>
                  <a:txBody>
                    <a:bodyPr/>
                    <a:lstStyle/>
                    <a:p>
                      <a:pPr>
                        <a:defRPr sz="1400" b="1">
                          <a:solidFill>
                            <a:srgbClr val="D4A843"/>
                          </a:solidFill>
                        </a:defRPr>
                      </a:pPr>
                      <a:r>
                        <a:t>When To Read It</a:t>
                      </a:r>
                    </a:p>
                  </a:txBody>
                  <a:tcPr>
                    <a:solidFill>
                      <a:srgbClr val="15223A"/>
                    </a:solidFill>
                  </a:tcPr>
                </a:tc>
              </a:tr>
              <a:tr h="258183">
                <a:tc>
                  <a:txBody>
                    <a:bodyPr/>
                    <a:lstStyle/>
                    <a:p>
                      <a:pPr>
                        <a:defRPr sz="1200">
                          <a:solidFill>
                            <a:srgbClr val="FFFFFF"/>
                          </a:solidFill>
                        </a:defRPr>
                      </a:pPr>
                      <a:r>
                        <a:t>docs/product-transcript.md</a:t>
                      </a:r>
                    </a:p>
                  </a:txBody>
                  <a:tcPr>
                    <a:solidFill>
                      <a:srgbClr val="1B2A4A"/>
                    </a:solidFill>
                  </a:tcPr>
                </a:tc>
                <a:tc>
                  <a:txBody>
                    <a:bodyPr/>
                    <a:lstStyle/>
                    <a:p>
                      <a:pPr>
                        <a:defRPr sz="1200">
                          <a:solidFill>
                            <a:srgbClr val="FFFFFF"/>
                          </a:solidFill>
                        </a:defRPr>
                      </a:pPr>
                      <a:r>
                        <a:t>Original team discussion transcript — the product vision, market analysis, and founding assumptions</a:t>
                      </a:r>
                    </a:p>
                  </a:txBody>
                  <a:tcPr>
                    <a:solidFill>
                      <a:srgbClr val="1B2A4A"/>
                    </a:solidFill>
                  </a:tcPr>
                </a:tc>
                <a:tc>
                  <a:txBody>
                    <a:bodyPr/>
                    <a:lstStyle/>
                    <a:p>
                      <a:pPr>
                        <a:defRPr sz="1200">
                          <a:solidFill>
                            <a:srgbClr val="FFFFFF"/>
                          </a:solidFill>
                        </a:defRPr>
                      </a:pPr>
                      <a:r>
                        <a:t>Read first — this is where it all started</a:t>
                      </a:r>
                    </a:p>
                  </a:txBody>
                  <a:tcPr>
                    <a:solidFill>
                      <a:srgbClr val="1B2A4A"/>
                    </a:solidFill>
                  </a:tcPr>
                </a:tc>
              </a:tr>
              <a:tr h="258183">
                <a:tc>
                  <a:txBody>
                    <a:bodyPr/>
                    <a:lstStyle/>
                    <a:p>
                      <a:pPr>
                        <a:defRPr sz="1200">
                          <a:solidFill>
                            <a:srgbClr val="FFFFFF"/>
                          </a:solidFill>
                        </a:defRPr>
                      </a:pPr>
                      <a:r>
                        <a:t>research/run1/EXECUTIVE-SUMMARY.md</a:t>
                      </a:r>
                    </a:p>
                  </a:txBody>
                  <a:tcPr>
                    <a:solidFill>
                      <a:srgbClr val="223656"/>
                    </a:solidFill>
                  </a:tcPr>
                </a:tc>
                <a:tc>
                  <a:txBody>
                    <a:bodyPr/>
                    <a:lstStyle/>
                    <a:p>
                      <a:pPr>
                        <a:defRPr sz="1200">
                          <a:solidFill>
                            <a:srgbClr val="FFFFFF"/>
                          </a:solidFill>
                        </a:defRPr>
                      </a:pPr>
                      <a:r>
                        <a:t>Top 5 existential risks, top 5 easy wins, honest feasibility assessment, phased approach recommendation</a:t>
                      </a:r>
                    </a:p>
                  </a:txBody>
                  <a:tcPr>
                    <a:solidFill>
                      <a:srgbClr val="223656"/>
                    </a:solidFill>
                  </a:tcPr>
                </a:tc>
                <a:tc>
                  <a:txBody>
                    <a:bodyPr/>
                    <a:lstStyle/>
                    <a:p>
                      <a:pPr>
                        <a:defRPr sz="1200">
                          <a:solidFill>
                            <a:srgbClr val="FFFFFF"/>
                          </a:solidFill>
                        </a:defRPr>
                      </a:pPr>
                      <a:r>
                        <a:t>Read second — the reality check on our assumptions</a:t>
                      </a:r>
                    </a:p>
                  </a:txBody>
                  <a:tcPr>
                    <a:solidFill>
                      <a:srgbClr val="223656"/>
                    </a:solidFill>
                  </a:tcPr>
                </a:tc>
              </a:tr>
              <a:tr h="258183">
                <a:tc>
                  <a:txBody>
                    <a:bodyPr/>
                    <a:lstStyle/>
                    <a:p>
                      <a:pPr>
                        <a:defRPr sz="1200">
                          <a:solidFill>
                            <a:srgbClr val="FFFFFF"/>
                          </a:solidFill>
                        </a:defRPr>
                      </a:pPr>
                      <a:r>
                        <a:t>research/run1/RISK-MATRIX.md</a:t>
                      </a:r>
                    </a:p>
                  </a:txBody>
                  <a:tcPr>
                    <a:solidFill>
                      <a:srgbClr val="1B2A4A"/>
                    </a:solidFill>
                  </a:tcPr>
                </a:tc>
                <a:tc>
                  <a:txBody>
                    <a:bodyPr/>
                    <a:lstStyle/>
                    <a:p>
                      <a:pPr>
                        <a:defRPr sz="1200">
                          <a:solidFill>
                            <a:srgbClr val="FFFFFF"/>
                          </a:solidFill>
                        </a:defRPr>
                      </a:pPr>
                      <a:r>
                        <a:t>Unified risk matrix scoring all 33 identified risks by likelihood x impact</a:t>
                      </a:r>
                    </a:p>
                  </a:txBody>
                  <a:tcPr>
                    <a:solidFill>
                      <a:srgbClr val="1B2A4A"/>
                    </a:solidFill>
                  </a:tcPr>
                </a:tc>
                <a:tc>
                  <a:txBody>
                    <a:bodyPr/>
                    <a:lstStyle/>
                    <a:p>
                      <a:pPr>
                        <a:defRPr sz="1200">
                          <a:solidFill>
                            <a:srgbClr val="FFFFFF"/>
                          </a:solidFill>
                        </a:defRPr>
                      </a:pPr>
                      <a:r>
                        <a:t>When you need to understand why we made a specific design decision</a:t>
                      </a:r>
                    </a:p>
                  </a:txBody>
                  <a:tcPr>
                    <a:solidFill>
                      <a:srgbClr val="1B2A4A"/>
                    </a:solidFill>
                  </a:tcPr>
                </a:tc>
              </a:tr>
              <a:tr h="258183">
                <a:tc>
                  <a:txBody>
                    <a:bodyPr/>
                    <a:lstStyle/>
                    <a:p>
                      <a:pPr>
                        <a:defRPr sz="1200">
                          <a:solidFill>
                            <a:srgbClr val="FFFFFF"/>
                          </a:solidFill>
                        </a:defRPr>
                      </a:pPr>
                      <a:r>
                        <a:t>research/run1/technical-risks.md</a:t>
                      </a:r>
                    </a:p>
                  </a:txBody>
                  <a:tcPr>
                    <a:solidFill>
                      <a:srgbClr val="223656"/>
                    </a:solidFill>
                  </a:tcPr>
                </a:tc>
                <a:tc>
                  <a:txBody>
                    <a:bodyPr/>
                    <a:lstStyle/>
                    <a:p>
                      <a:pPr>
                        <a:defRPr sz="1200">
                          <a:solidFill>
                            <a:srgbClr val="FFFFFF"/>
                          </a:solidFill>
                        </a:defRPr>
                      </a:pPr>
                      <a:r>
                        <a:t>Deep dive on technical risks: Excel COM automation, data connectivity, LLM safety, infrastructure</a:t>
                      </a:r>
                    </a:p>
                  </a:txBody>
                  <a:tcPr>
                    <a:solidFill>
                      <a:srgbClr val="223656"/>
                    </a:solidFill>
                  </a:tcPr>
                </a:tc>
                <a:tc>
                  <a:txBody>
                    <a:bodyPr/>
                    <a:lstStyle/>
                    <a:p>
                      <a:pPr>
                        <a:defRPr sz="1200">
                          <a:solidFill>
                            <a:srgbClr val="FFFFFF"/>
                          </a:solidFill>
                        </a:defRPr>
                      </a:pPr>
                      <a:r>
                        <a:t>When working on Edge Agent, LP Orchestrator, or AI Translation</a:t>
                      </a:r>
                    </a:p>
                  </a:txBody>
                  <a:tcPr>
                    <a:solidFill>
                      <a:srgbClr val="223656"/>
                    </a:solidFill>
                  </a:tcPr>
                </a:tc>
              </a:tr>
              <a:tr h="258183">
                <a:tc>
                  <a:txBody>
                    <a:bodyPr/>
                    <a:lstStyle/>
                    <a:p>
                      <a:pPr>
                        <a:defRPr sz="1200">
                          <a:solidFill>
                            <a:srgbClr val="FFFFFF"/>
                          </a:solidFill>
                        </a:defRPr>
                      </a:pPr>
                      <a:r>
                        <a:t>research/run1/business-risks.md</a:t>
                      </a:r>
                    </a:p>
                  </a:txBody>
                  <a:tcPr>
                    <a:solidFill>
                      <a:srgbClr val="1B2A4A"/>
                    </a:solidFill>
                  </a:tcPr>
                </a:tc>
                <a:tc>
                  <a:txBody>
                    <a:bodyPr/>
                    <a:lstStyle/>
                    <a:p>
                      <a:pPr>
                        <a:defRPr sz="1200">
                          <a:solidFill>
                            <a:srgbClr val="FFFFFF"/>
                          </a:solidFill>
                        </a:defRPr>
                      </a:pPr>
                      <a:r>
                        <a:t>Market size reality, sales cycle length, competitive landscape, regulatory requirements</a:t>
                      </a:r>
                    </a:p>
                  </a:txBody>
                  <a:tcPr>
                    <a:solidFill>
                      <a:srgbClr val="1B2A4A"/>
                    </a:solidFill>
                  </a:tcPr>
                </a:tc>
                <a:tc>
                  <a:txBody>
                    <a:bodyPr/>
                    <a:lstStyle/>
                    <a:p>
                      <a:pPr>
                        <a:defRPr sz="1200">
                          <a:solidFill>
                            <a:srgbClr val="FFFFFF"/>
                          </a:solidFill>
                        </a:defRPr>
                      </a:pPr>
                      <a:r>
                        <a:t>When preparing for customer conversations or investor pitches</a:t>
                      </a:r>
                    </a:p>
                  </a:txBody>
                  <a:tcPr>
                    <a:solidFill>
                      <a:srgbClr val="1B2A4A"/>
                    </a:solidFill>
                  </a:tcPr>
                </a:tc>
              </a:tr>
              <a:tr h="258183">
                <a:tc>
                  <a:txBody>
                    <a:bodyPr/>
                    <a:lstStyle/>
                    <a:p>
                      <a:pPr>
                        <a:defRPr sz="1200">
                          <a:solidFill>
                            <a:srgbClr val="FFFFFF"/>
                          </a:solidFill>
                        </a:defRPr>
                      </a:pPr>
                      <a:r>
                        <a:t>research/run1/adoption-risks.md</a:t>
                      </a:r>
                    </a:p>
                  </a:txBody>
                  <a:tcPr>
                    <a:solidFill>
                      <a:srgbClr val="223656"/>
                    </a:solidFill>
                  </a:tcPr>
                </a:tc>
                <a:tc>
                  <a:txBody>
                    <a:bodyPr/>
                    <a:lstStyle/>
                    <a:p>
                      <a:pPr>
                        <a:defRPr sz="1200">
                          <a:solidFill>
                            <a:srgbClr val="FFFFFF"/>
                          </a:solidFill>
                        </a:defRPr>
                      </a:pPr>
                      <a:r>
                        <a:t>Operator trust, algorithm aversion, union concerns, safety culture, training requirements</a:t>
                      </a:r>
                    </a:p>
                  </a:txBody>
                  <a:tcPr>
                    <a:solidFill>
                      <a:srgbClr val="223656"/>
                    </a:solidFill>
                  </a:tcPr>
                </a:tc>
                <a:tc>
                  <a:txBody>
                    <a:bodyPr/>
                    <a:lstStyle/>
                    <a:p>
                      <a:pPr>
                        <a:defRPr sz="1200">
                          <a:solidFill>
                            <a:srgbClr val="FFFFFF"/>
                          </a:solidFill>
                        </a:defRPr>
                      </a:pPr>
                      <a:r>
                        <a:t>When designing UX, onboarding flows, or MOC documentation</a:t>
                      </a:r>
                    </a:p>
                  </a:txBody>
                  <a:tcPr>
                    <a:solidFill>
                      <a:srgbClr val="223656"/>
                    </a:solidFill>
                  </a:tcPr>
                </a:tc>
              </a:tr>
              <a:tr h="258183">
                <a:tc>
                  <a:txBody>
                    <a:bodyPr/>
                    <a:lstStyle/>
                    <a:p>
                      <a:pPr>
                        <a:defRPr sz="1200">
                          <a:solidFill>
                            <a:srgbClr val="FFFFFF"/>
                          </a:solidFill>
                        </a:defRPr>
                      </a:pPr>
                      <a:r>
                        <a:t>research/run2/cloud-platform-recommendation.md</a:t>
                      </a:r>
                    </a:p>
                  </a:txBody>
                  <a:tcPr>
                    <a:solidFill>
                      <a:srgbClr val="1B2A4A"/>
                    </a:solidFill>
                  </a:tcPr>
                </a:tc>
                <a:tc>
                  <a:txBody>
                    <a:bodyPr/>
                    <a:lstStyle/>
                    <a:p>
                      <a:pPr>
                        <a:defRPr sz="1200">
                          <a:solidFill>
                            <a:srgbClr val="FFFFFF"/>
                          </a:solidFill>
                        </a:defRPr>
                      </a:pPr>
                      <a:r>
                        <a:t>Why Azure wins (IoT Edge, PI Integrator, Teams, student credits), cost comparison across AWS/Azure/GCP</a:t>
                      </a:r>
                    </a:p>
                  </a:txBody>
                  <a:tcPr>
                    <a:solidFill>
                      <a:srgbClr val="1B2A4A"/>
                    </a:solidFill>
                  </a:tcPr>
                </a:tc>
                <a:tc>
                  <a:txBody>
                    <a:bodyPr/>
                    <a:lstStyle/>
                    <a:p>
                      <a:pPr>
                        <a:defRPr sz="1200">
                          <a:solidFill>
                            <a:srgbClr val="FFFFFF"/>
                          </a:solidFill>
                        </a:defRPr>
                      </a:pPr>
                      <a:r>
                        <a:t>When setting up cloud infrastructure or evaluating platform decisions</a:t>
                      </a:r>
                    </a:p>
                  </a:txBody>
                  <a:tcPr>
                    <a:solidFill>
                      <a:srgbClr val="1B2A4A"/>
                    </a:solidFill>
                  </a:tcPr>
                </a:tc>
              </a:tr>
              <a:tr h="258183">
                <a:tc>
                  <a:txBody>
                    <a:bodyPr/>
                    <a:lstStyle/>
                    <a:p>
                      <a:pPr>
                        <a:defRPr sz="1200">
                          <a:solidFill>
                            <a:srgbClr val="FFFFFF"/>
                          </a:solidFill>
                        </a:defRPr>
                      </a:pPr>
                      <a:r>
                        <a:t>research/run2/data-architecture.md</a:t>
                      </a:r>
                    </a:p>
                  </a:txBody>
                  <a:tcPr>
                    <a:solidFill>
                      <a:srgbClr val="223656"/>
                    </a:solidFill>
                  </a:tcPr>
                </a:tc>
                <a:tc>
                  <a:txBody>
                    <a:bodyPr/>
                    <a:lstStyle/>
                    <a:p>
                      <a:pPr>
                        <a:defRPr sz="1200">
                          <a:solidFill>
                            <a:srgbClr val="FFFFFF"/>
                          </a:solidFill>
                        </a:defRPr>
                      </a:pPr>
                      <a:r>
                        <a:t>TimescaleDB schema, data flow from historian to dashboard, Edge Agent design, data quality gateway</a:t>
                      </a:r>
                    </a:p>
                  </a:txBody>
                  <a:tcPr>
                    <a:solidFill>
                      <a:srgbClr val="223656"/>
                    </a:solidFill>
                  </a:tcPr>
                </a:tc>
                <a:tc>
                  <a:txBody>
                    <a:bodyPr/>
                    <a:lstStyle/>
                    <a:p>
                      <a:pPr>
                        <a:defRPr sz="1200">
                          <a:solidFill>
                            <a:srgbClr val="FFFFFF"/>
                          </a:solidFill>
                        </a:defRPr>
                      </a:pPr>
                      <a:r>
                        <a:t>When building the data pipeline or Edge Agent</a:t>
                      </a:r>
                    </a:p>
                  </a:txBody>
                  <a:tcPr>
                    <a:solidFill>
                      <a:srgbClr val="223656"/>
                    </a:solidFill>
                  </a:tcPr>
                </a:tc>
              </a:tr>
              <a:tr h="258183">
                <a:tc>
                  <a:txBody>
                    <a:bodyPr/>
                    <a:lstStyle/>
                    <a:p>
                      <a:pPr>
                        <a:defRPr sz="1200">
                          <a:solidFill>
                            <a:srgbClr val="FFFFFF"/>
                          </a:solidFill>
                        </a:defRPr>
                      </a:pPr>
                      <a:r>
                        <a:t>research/run2/api-backend-architecture.md</a:t>
                      </a:r>
                    </a:p>
                  </a:txBody>
                  <a:tcPr>
                    <a:solidFill>
                      <a:srgbClr val="1B2A4A"/>
                    </a:solidFill>
                  </a:tcPr>
                </a:tc>
                <a:tc>
                  <a:txBody>
                    <a:bodyPr/>
                    <a:lstStyle/>
                    <a:p>
                      <a:pPr>
                        <a:defRPr sz="1200">
                          <a:solidFill>
                            <a:srgbClr val="FFFFFF"/>
                          </a:solidFill>
                        </a:defRPr>
                      </a:pPr>
                      <a:r>
                        <a:t>FastAPI modular monolith design, API endpoints, Celery task queue, auth/RBAC, inter-service patterns</a:t>
                      </a:r>
                    </a:p>
                  </a:txBody>
                  <a:tcPr>
                    <a:solidFill>
                      <a:srgbClr val="1B2A4A"/>
                    </a:solidFill>
                  </a:tcPr>
                </a:tc>
                <a:tc>
                  <a:txBody>
                    <a:bodyPr/>
                    <a:lstStyle/>
                    <a:p>
                      <a:pPr>
                        <a:defRPr sz="1200">
                          <a:solidFill>
                            <a:srgbClr val="FFFFFF"/>
                          </a:solidFill>
                        </a:defRPr>
                      </a:pPr>
                      <a:r>
                        <a:t>When building backend services or API contracts</a:t>
                      </a:r>
                    </a:p>
                  </a:txBody>
                  <a:tcPr>
                    <a:solidFill>
                      <a:srgbClr val="1B2A4A"/>
                    </a:solidFill>
                  </a:tcPr>
                </a:tc>
              </a:tr>
              <a:tr h="258183">
                <a:tc>
                  <a:txBody>
                    <a:bodyPr/>
                    <a:lstStyle/>
                    <a:p>
                      <a:pPr>
                        <a:defRPr sz="1200">
                          <a:solidFill>
                            <a:srgbClr val="FFFFFF"/>
                          </a:solidFill>
                        </a:defRPr>
                      </a:pPr>
                      <a:r>
                        <a:t>research/run2/frontend-ux-architecture.md</a:t>
                      </a:r>
                    </a:p>
                  </a:txBody>
                  <a:tcPr>
                    <a:solidFill>
                      <a:srgbClr val="223656"/>
                    </a:solidFill>
                  </a:tcPr>
                </a:tc>
                <a:tc>
                  <a:txBody>
                    <a:bodyPr/>
                    <a:lstStyle/>
                    <a:p>
                      <a:pPr>
                        <a:defRPr sz="1200">
                          <a:solidFill>
                            <a:srgbClr val="FFFFFF"/>
                          </a:solidFill>
                        </a:defRPr>
                      </a:pPr>
                      <a:r>
                        <a:t>ISA-101 HMI design, component hierarchy, dashboard specs, shadow mode UX, Slack/Teams bot design</a:t>
                      </a:r>
                    </a:p>
                  </a:txBody>
                  <a:tcPr>
                    <a:solidFill>
                      <a:srgbClr val="223656"/>
                    </a:solidFill>
                  </a:tcPr>
                </a:tc>
                <a:tc>
                  <a:txBody>
                    <a:bodyPr/>
                    <a:lstStyle/>
                    <a:p>
                      <a:pPr>
                        <a:defRPr sz="1200">
                          <a:solidFill>
                            <a:srgbClr val="FFFFFF"/>
                          </a:solidFill>
                        </a:defRPr>
                      </a:pPr>
                      <a:r>
                        <a:t>When building the frontend or messaging integrations</a:t>
                      </a:r>
                    </a:p>
                  </a:txBody>
                  <a:tcPr>
                    <a:solidFill>
                      <a:srgbClr val="223656"/>
                    </a:solidFill>
                  </a:tcPr>
                </a:tc>
              </a:tr>
              <a:tr h="258183">
                <a:tc>
                  <a:txBody>
                    <a:bodyPr/>
                    <a:lstStyle/>
                    <a:p>
                      <a:pPr>
                        <a:defRPr sz="1200">
                          <a:solidFill>
                            <a:srgbClr val="FFFFFF"/>
                          </a:solidFill>
                        </a:defRPr>
                      </a:pPr>
                      <a:r>
                        <a:t>docs/api-contract.md</a:t>
                      </a:r>
                    </a:p>
                  </a:txBody>
                  <a:tcPr>
                    <a:solidFill>
                      <a:srgbClr val="1B2A4A"/>
                    </a:solidFill>
                  </a:tcPr>
                </a:tc>
                <a:tc>
                  <a:txBody>
                    <a:bodyPr/>
                    <a:lstStyle/>
                    <a:p>
                      <a:pPr>
                        <a:defRPr sz="1200">
                          <a:solidFill>
                            <a:srgbClr val="FFFFFF"/>
                          </a:solidFill>
                        </a:defRPr>
                      </a:pPr>
                      <a:r>
                        <a:t>Complete API endpoint specifications with request/response schemas</a:t>
                      </a:r>
                    </a:p>
                  </a:txBody>
                  <a:tcPr>
                    <a:solidFill>
                      <a:srgbClr val="1B2A4A"/>
                    </a:solidFill>
                  </a:tcPr>
                </a:tc>
                <a:tc>
                  <a:txBody>
                    <a:bodyPr/>
                    <a:lstStyle/>
                    <a:p>
                      <a:pPr>
                        <a:defRPr sz="1200">
                          <a:solidFill>
                            <a:srgbClr val="FFFFFF"/>
                          </a:solidFill>
                        </a:defRPr>
                      </a:pPr>
                      <a:r>
                        <a:t>When implementing or consuming API endpoints</a:t>
                      </a:r>
                    </a:p>
                  </a:txBody>
                  <a:tcPr>
                    <a:solidFill>
                      <a:srgbClr val="1B2A4A"/>
                    </a:solidFill>
                  </a:tcPr>
                </a:tc>
              </a:tr>
              <a:tr h="258183">
                <a:tc>
                  <a:txBody>
                    <a:bodyPr/>
                    <a:lstStyle/>
                    <a:p>
                      <a:pPr>
                        <a:defRPr sz="1200">
                          <a:solidFill>
                            <a:srgbClr val="FFFFFF"/>
                          </a:solidFill>
                        </a:defRPr>
                      </a:pPr>
                      <a:r>
                        <a:t>docs/architecture-diagrams.md</a:t>
                      </a:r>
                    </a:p>
                  </a:txBody>
                  <a:tcPr>
                    <a:solidFill>
                      <a:srgbClr val="223656"/>
                    </a:solidFill>
                  </a:tcPr>
                </a:tc>
                <a:tc>
                  <a:txBody>
                    <a:bodyPr/>
                    <a:lstStyle/>
                    <a:p>
                      <a:pPr>
                        <a:defRPr sz="1200">
                          <a:solidFill>
                            <a:srgbClr val="FFFFFF"/>
                          </a:solidFill>
                        </a:defRPr>
                      </a:pPr>
                      <a:r>
                        <a:t>Mermaid diagrams: system context, container, data flow, deployment, operating mode state machine</a:t>
                      </a:r>
                    </a:p>
                  </a:txBody>
                  <a:tcPr>
                    <a:solidFill>
                      <a:srgbClr val="223656"/>
                    </a:solidFill>
                  </a:tcPr>
                </a:tc>
                <a:tc>
                  <a:txBody>
                    <a:bodyPr/>
                    <a:lstStyle/>
                    <a:p>
                      <a:pPr>
                        <a:defRPr sz="1200">
                          <a:solidFill>
                            <a:srgbClr val="FFFFFF"/>
                          </a:solidFill>
                        </a:defRPr>
                      </a:pPr>
                      <a:r>
                        <a:t>When you need a visual understanding of system architecture</a:t>
                      </a:r>
                    </a:p>
                  </a:txBody>
                  <a:tcPr>
                    <a:solidFill>
                      <a:srgbClr val="223656"/>
                    </a:solidFill>
                  </a:tcPr>
                </a:tc>
              </a:tr>
              <a:tr h="258183">
                <a:tc>
                  <a:txBody>
                    <a:bodyPr/>
                    <a:lstStyle/>
                    <a:p>
                      <a:pPr>
                        <a:defRPr sz="1200">
                          <a:solidFill>
                            <a:srgbClr val="FFFFFF"/>
                          </a:solidFill>
                        </a:defRPr>
                      </a:pPr>
                      <a:r>
                        <a:t>docs/design/claude-translation-service.md</a:t>
                      </a:r>
                    </a:p>
                  </a:txBody>
                  <a:tcPr>
                    <a:solidFill>
                      <a:srgbClr val="1B2A4A"/>
                    </a:solidFill>
                  </a:tcPr>
                </a:tc>
                <a:tc>
                  <a:txBody>
                    <a:bodyPr/>
                    <a:lstStyle/>
                    <a:p>
                      <a:pPr>
                        <a:defRPr sz="1200">
                          <a:solidFill>
                            <a:srgbClr val="FFFFFF"/>
                          </a:solidFill>
                        </a:defRPr>
                      </a:pPr>
                      <a:r>
                        <a:t>Claude API integration design: prompt templates, number decoupling, cross-validation, template fallback</a:t>
                      </a:r>
                    </a:p>
                  </a:txBody>
                  <a:tcPr>
                    <a:solidFill>
                      <a:srgbClr val="1B2A4A"/>
                    </a:solidFill>
                  </a:tcPr>
                </a:tc>
                <a:tc>
                  <a:txBody>
                    <a:bodyPr/>
                    <a:lstStyle/>
                    <a:p>
                      <a:pPr>
                        <a:defRPr sz="1200">
                          <a:solidFill>
                            <a:srgbClr val="FFFFFF"/>
                          </a:solidFill>
                        </a:defRPr>
                      </a:pPr>
                      <a:r>
                        <a:t>When building the AI translation layer</a:t>
                      </a:r>
                    </a:p>
                  </a:txBody>
                  <a:tcPr>
                    <a:solidFill>
                      <a:srgbClr val="1B2A4A"/>
                    </a:solidFill>
                  </a:tcPr>
                </a:tc>
              </a:tr>
              <a:tr h="258183">
                <a:tc>
                  <a:txBody>
                    <a:bodyPr/>
                    <a:lstStyle/>
                    <a:p>
                      <a:pPr>
                        <a:defRPr sz="1200">
                          <a:solidFill>
                            <a:srgbClr val="FFFFFF"/>
                          </a:solidFill>
                        </a:defRPr>
                      </a:pPr>
                      <a:r>
                        <a:t>docs/design/auth-multitenancy.md</a:t>
                      </a:r>
                    </a:p>
                  </a:txBody>
                  <a:tcPr>
                    <a:solidFill>
                      <a:srgbClr val="223656"/>
                    </a:solidFill>
                  </a:tcPr>
                </a:tc>
                <a:tc>
                  <a:txBody>
                    <a:bodyPr/>
                    <a:lstStyle/>
                    <a:p>
                      <a:pPr>
                        <a:defRPr sz="1200">
                          <a:solidFill>
                            <a:srgbClr val="FFFFFF"/>
                          </a:solidFill>
                        </a:defRPr>
                      </a:pPr>
                      <a:r>
                        <a:t>JWT auth, RBAC roles, PostgreSQL RLS multi-tenancy, API key management for Edge Agents</a:t>
                      </a:r>
                    </a:p>
                  </a:txBody>
                  <a:tcPr>
                    <a:solidFill>
                      <a:srgbClr val="223656"/>
                    </a:solidFill>
                  </a:tcPr>
                </a:tc>
                <a:tc>
                  <a:txBody>
                    <a:bodyPr/>
                    <a:lstStyle/>
                    <a:p>
                      <a:pPr>
                        <a:defRPr sz="1200">
                          <a:solidFill>
                            <a:srgbClr val="FFFFFF"/>
                          </a:solidFill>
                        </a:defRPr>
                      </a:pPr>
                      <a:r>
                        <a:t>When implementing authentication or multi-tenant isolation</a:t>
                      </a:r>
                    </a:p>
                  </a:txBody>
                  <a:tcPr>
                    <a:solidFill>
                      <a:srgbClr val="223656"/>
                    </a:solidFill>
                  </a:tcPr>
                </a:tc>
              </a:tr>
              <a:tr h="258183">
                <a:tc>
                  <a:txBody>
                    <a:bodyPr/>
                    <a:lstStyle/>
                    <a:p>
                      <a:pPr>
                        <a:defRPr sz="1200">
                          <a:solidFill>
                            <a:srgbClr val="FFFFFF"/>
                          </a:solidFill>
                        </a:defRPr>
                      </a:pPr>
                      <a:r>
                        <a:t>ENGINEERING-SPEC.md</a:t>
                      </a:r>
                    </a:p>
                  </a:txBody>
                  <a:tcPr>
                    <a:solidFill>
                      <a:srgbClr val="1B2A4A"/>
                    </a:solidFill>
                  </a:tcPr>
                </a:tc>
                <a:tc>
                  <a:txBody>
                    <a:bodyPr/>
                    <a:lstStyle/>
                    <a:p>
                      <a:pPr>
                        <a:defRPr sz="1200">
                          <a:solidFill>
                            <a:srgbClr val="FFFFFF"/>
                          </a:solidFill>
                        </a:defRPr>
                      </a:pPr>
                      <a:r>
                        <a:t>The master document — synthesizes all research into a single buildable specification with implementation roadmap</a:t>
                      </a:r>
                    </a:p>
                  </a:txBody>
                  <a:tcPr>
                    <a:solidFill>
                      <a:srgbClr val="1B2A4A"/>
                    </a:solidFill>
                  </a:tcPr>
                </a:tc>
                <a:tc>
                  <a:txBody>
                    <a:bodyPr/>
                    <a:lstStyle/>
                    <a:p>
                      <a:pPr>
                        <a:defRPr sz="1200">
                          <a:solidFill>
                            <a:srgbClr val="FFFFFF"/>
                          </a:solidFill>
                        </a:defRPr>
                      </a:pPr>
                      <a:r>
                        <a:t>The reference you'll return to most often — read after the research docs</a:t>
                      </a:r>
                    </a:p>
                  </a:txBody>
                  <a:tcPr>
                    <a:solidFill>
                      <a:srgbClr val="1B2A4A"/>
                    </a:solidFill>
                  </a:tcPr>
                </a:tc>
              </a:tr>
              <a:tr h="258192">
                <a:tc>
                  <a:txBody>
                    <a:bodyPr/>
                    <a:lstStyle/>
                    <a:p>
                      <a:pPr>
                        <a:defRPr sz="1200">
                          <a:solidFill>
                            <a:srgbClr val="FFFFFF"/>
                          </a:solidFill>
                        </a:defRPr>
                      </a:pPr>
                      <a:r>
                        <a:t>agent-orchestration.md</a:t>
                      </a:r>
                    </a:p>
                  </a:txBody>
                  <a:tcPr>
                    <a:solidFill>
                      <a:srgbClr val="223656"/>
                    </a:solidFill>
                  </a:tcPr>
                </a:tc>
                <a:tc>
                  <a:txBody>
                    <a:bodyPr/>
                    <a:lstStyle/>
                    <a:p>
                      <a:pPr>
                        <a:defRPr sz="1200">
                          <a:solidFill>
                            <a:srgbClr val="FFFFFF"/>
                          </a:solidFill>
                        </a:defRPr>
                      </a:pPr>
                      <a:r>
                        <a:t>How the research agents were orchestrated to produce these documents</a:t>
                      </a:r>
                    </a:p>
                  </a:txBody>
                  <a:tcPr>
                    <a:solidFill>
                      <a:srgbClr val="223656"/>
                    </a:solidFill>
                  </a:tcPr>
                </a:tc>
                <a:tc>
                  <a:txBody>
                    <a:bodyPr/>
                    <a:lstStyle/>
                    <a:p>
                      <a:pPr>
                        <a:defRPr sz="1200">
                          <a:solidFill>
                            <a:srgbClr val="FFFFFF"/>
                          </a:solidFill>
                        </a:defRPr>
                      </a:pPr>
                      <a:r>
                        <a:t>If you're curious about the research process itself</a:t>
                      </a:r>
                    </a:p>
                  </a:txBody>
                  <a:tcPr>
                    <a:solidFill>
                      <a:srgbClr val="223656"/>
                    </a:solidFill>
                  </a:tcPr>
                </a:tc>
              </a:tr>
            </a:tbl>
          </a:graphicData>
        </a:graphic>
      </p:graphicFrame>
      <p:sp>
        <p:nvSpPr>
          <p:cNvPr id="5" name="TextBox 4"/>
          <p:cNvSpPr txBox="1"/>
          <p:nvPr/>
        </p:nvSpPr>
        <p:spPr>
          <a:xfrm>
            <a:off x="11505895" y="6492240"/>
            <a:ext cx="457200" cy="274320"/>
          </a:xfrm>
          <a:prstGeom prst="rect">
            <a:avLst/>
          </a:prstGeom>
          <a:noFill/>
        </p:spPr>
        <p:txBody>
          <a:bodyPr wrap="square" anchor="t"/>
          <a:lstStyle/>
          <a:p>
            <a:pPr algn="r">
              <a:defRPr sz="1000" b="0" i="0">
                <a:solidFill>
                  <a:srgbClr val="B0BEC5"/>
                </a:solidFill>
              </a:defRPr>
            </a:pPr>
            <a:r>
              <a:t>55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